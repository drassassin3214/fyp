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44626a-3d15-2c2a-d78a-8bf14d6cf1c8}">
          <p14:sldIdLst>
            <p14:sldId id="256"/>
            <p14:sldId id="257"/>
          </p14:sldIdLst>
        </p14:section>
        <p14:section name="Why a risk framework" id="{b00befce-4727-cb4d-9d51-16c4eeb89478}">
          <p14:sldIdLst>
            <p14:sldId id="258"/>
            <p14:sldId id="259"/>
            <p14:sldId id="260"/>
            <p14:sldId id="261"/>
            <p14:sldId id="262"/>
          </p14:sldIdLst>
        </p14:section>
        <p14:section name="Method and basics" id="{3c795a74-a4fd-a5ec-2532-395f02f01706}">
          <p14:sldIdLst>
            <p14:sldId id="263"/>
            <p14:sldId id="264"/>
            <p14:sldId id="265"/>
          </p14:sldIdLst>
        </p14:section>
        <p14:section name="Worked calculations" id="{14e16d6d-8e94-12e8-e410-21fc07c852a6}">
          <p14:sldIdLst>
            <p14:sldId id="266"/>
            <p14:sldId id="267"/>
            <p14:sldId id="268"/>
            <p14:sldId id="269"/>
            <p14:sldId id="270"/>
            <p14:sldId id="271"/>
            <p14:sldId id="272"/>
            <p14:sldId id="273"/>
            <p14:sldId id="274"/>
            <p14:sldId id="275"/>
          </p14:sldIdLst>
        </p14:section>
        <p14:section name="How it was built" id="{a47fd828-09fc-a780-cb75-6b88f06f9df1}">
          <p14:sldIdLst>
            <p14:sldId id="276"/>
            <p14:sldId id="277"/>
            <p14:sldId id="278"/>
            <p14:sldId id="279"/>
          </p14:sldIdLst>
        </p14:section>
        <p14:section name="Checked and audited" id="{c8637242-630a-3ada-0d8f-402147245511}">
          <p14:sldIdLst>
            <p14:sldId id="280"/>
            <p14:sldId id="281"/>
          </p14:sldIdLst>
        </p14:section>
        <p14:section name="Demo and next step" id="{4888eb47-e845-cbe9-fc8e-b04829316d92}">
          <p14:sldIdLst>
            <p14:sldId id="282"/>
            <p14:sldId id="283"/>
            <p14:sldId id="284"/>
            <p14:sldId id="285"/>
            <p14:sldId id="286"/>
          </p14:sldIdLst>
        </p14:section>
        <p14:section name="References" id="{b47dbd66-a6f4-8ee5-9978-a570218de7bd}">
          <p14:sldIdLst>
            <p14:sldId id="287"/>
            <p14:sldId id="288"/>
          </p14:sldIdLst>
        </p14:section>
        <p14:section name="Close" id="{1b71fa46-8e81-d025-4622-ae4f75aaffa0}">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33B"/>
                </a:solidFill>
                <a:latin typeface="Calibri"/>
              </a:defRPr>
            </a:pPr>
            <a:r>
              <a:rPr sz="1400" b="0" i="0" u="none" strike="noStrike">
                <a:solidFill>
                  <a:srgbClr val="12233B"/>
                </a:solidFill>
                <a:latin typeface="Calibri"/>
              </a:rPr>
              <a:t>Survey rows per study</a:t>
            </a:r>
          </a:p>
        </c:rich>
      </c:tx>
      <c:layout/>
      <c:overlay val="0"/>
    </c:title>
    <c:autoTitleDeleted val="0"/>
    <c:plotArea>
      <c:layout/>
      <c:barChart>
        <c:barDir val="col"/>
        <c:grouping val="clustered"/>
        <c:varyColors val="0"/>
        <c:ser>
          <c:idx val="0"/>
          <c:order val="0"/>
          <c:tx>
            <c:strRef>
              <c:f>Sheet1!$B$1</c:f>
              <c:strCache>
                <c:ptCount val="1"/>
                <c:pt idx="0">
                  <c:v>Rows</c:v>
                </c:pt>
              </c:strCache>
            </c:strRef>
          </c:tx>
          <c:spPr>
            <a:solidFill>
              <a:srgbClr val="2F6C9A"/>
            </a:solidFill>
            <a:effectLst/>
          </c:spPr>
          <c:invertIfNegative val="0"/>
          <c:dLbls>
            <c:numFmt formatCode="#,##0" sourceLinked="0"/>
            <c:txPr>
              <a:bodyPr/>
              <a:lstStyle/>
              <a:p>
                <a:pPr>
                  <a:defRPr b="0" i="0" strike="noStrike" sz="1300" u="none">
                    <a:solidFill>
                      <a:srgbClr val="12233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6C9A"/>
              </a:solidFill>
              <a:effectLst/>
            </c:spPr>
          </c:dPt>
          <c:dPt>
            <c:idx val="1"/>
            <c:invertIfNegative val="0"/>
            <c:bubble3D val="0"/>
            <c:spPr>
              <a:solidFill>
                <a:srgbClr val="5FA8D3"/>
              </a:solidFill>
              <a:effectLst/>
            </c:spPr>
          </c:dPt>
          <c:dPt>
            <c:idx val="2"/>
            <c:invertIfNegative val="0"/>
            <c:bubble3D val="0"/>
            <c:spPr>
              <a:solidFill>
                <a:srgbClr val="2F6C9A"/>
              </a:solidFill>
              <a:effectLst/>
            </c:spPr>
          </c:dPt>
          <c:dPt>
            <c:idx val="3"/>
            <c:invertIfNegative val="0"/>
            <c:bubble3D val="0"/>
            <c:spPr>
              <a:solidFill>
                <a:srgbClr val="5FA8D3"/>
              </a:solidFill>
              <a:effectLst/>
            </c:spPr>
          </c:dPt>
          <c:dPt>
            <c:idx val="4"/>
            <c:invertIfNegative val="0"/>
            <c:bubble3D val="0"/>
            <c:spPr>
              <a:solidFill>
                <a:srgbClr val="5FA8D3"/>
              </a:solidFill>
              <a:effectLst/>
            </c:spPr>
          </c:dPt>
          <c:dPt>
            <c:idx val="5"/>
            <c:invertIfNegative val="0"/>
            <c:bubble3D val="0"/>
            <c:spPr>
              <a:solidFill>
                <a:srgbClr val="2F6C9A"/>
              </a:solidFill>
              <a:effectLst/>
            </c:spPr>
          </c:dPt>
          <c:dPt>
            <c:idx val="6"/>
            <c:invertIfNegative val="0"/>
            <c:bubble3D val="0"/>
            <c:spPr>
              <a:solidFill>
                <a:srgbClr val="5FA8D3"/>
              </a:solidFill>
              <a:effectLst/>
            </c:spPr>
          </c:dPt>
          <c:dPt>
            <c:idx val="7"/>
            <c:invertIfNegative val="0"/>
            <c:bubble3D val="0"/>
            <c:spPr>
              <a:solidFill>
                <a:srgbClr val="2F6C9A"/>
              </a:solidFill>
              <a:effectLst/>
            </c:spPr>
          </c:dPt>
          <c:dPt>
            <c:idx val="8"/>
            <c:invertIfNegative val="0"/>
            <c:bubble3D val="0"/>
            <c:spPr>
              <a:solidFill>
                <a:srgbClr val="2F6C9A"/>
              </a:solidFill>
              <a:effectLst/>
            </c:spPr>
          </c:dPt>
          <c:dPt>
            <c:idx val="9"/>
            <c:invertIfNegative val="0"/>
            <c:bubble3D val="0"/>
            <c:spPr>
              <a:solidFill>
                <a:srgbClr val="5FA8D3"/>
              </a:solidFill>
              <a:effectLst/>
            </c:spPr>
          </c:dPt>
          <c:dPt>
            <c:idx val="10"/>
            <c:invertIfNegative val="0"/>
            <c:bubble3D val="0"/>
            <c:spPr>
              <a:solidFill>
                <a:srgbClr val="5FA8D3"/>
              </a:solidFill>
              <a:effectLst/>
            </c:spPr>
          </c:dPt>
          <c:cat>
            <c:multiLvlStrRef>
              <c:f>Sheet1!$A$2:$A$12</c:f>
              <c:multiLvlStrCache>
                <c:ptCount val="11"/>
                <c:lvl>
                  <c:pt idx="0">
                    <c:v>M06</c:v>
                  </c:pt>
                  <c:pt idx="1">
                    <c:v>M10</c:v>
                  </c:pt>
                  <c:pt idx="2">
                    <c:v>M01</c:v>
                  </c:pt>
                  <c:pt idx="3">
                    <c:v>M15</c:v>
                  </c:pt>
                  <c:pt idx="4">
                    <c:v>M14</c:v>
                  </c:pt>
                  <c:pt idx="5">
                    <c:v>A02</c:v>
                  </c:pt>
                  <c:pt idx="6">
                    <c:v>A10</c:v>
                  </c:pt>
                  <c:pt idx="7">
                    <c:v>A14</c:v>
                  </c:pt>
                  <c:pt idx="8">
                    <c:v>A15</c:v>
                  </c:pt>
                  <c:pt idx="9">
                    <c:v>A21</c:v>
                  </c:pt>
                  <c:pt idx="10">
                    <c:v>HAS25</c:v>
                  </c:pt>
                </c:lvl>
              </c:multiLvlStrCache>
            </c:multiLvlStrRef>
          </c:cat>
          <c:val>
            <c:numRef>
              <c:f>Sheet1!$B$2:$B$12</c:f>
              <c:numCache>
                <c:formatCode>General</c:formatCode>
                <c:ptCount val="11"/>
                <c:pt idx="0">
                  <c:v>40</c:v>
                </c:pt>
                <c:pt idx="1">
                  <c:v>33</c:v>
                </c:pt>
                <c:pt idx="2">
                  <c:v>28</c:v>
                </c:pt>
                <c:pt idx="3">
                  <c:v>24</c:v>
                </c:pt>
                <c:pt idx="4">
                  <c:v>23</c:v>
                </c:pt>
                <c:pt idx="5">
                  <c:v>14</c:v>
                </c:pt>
                <c:pt idx="6">
                  <c:v>6</c:v>
                </c:pt>
                <c:pt idx="7">
                  <c:v>5</c:v>
                </c:pt>
                <c:pt idx="8">
                  <c:v>5</c:v>
                </c:pt>
                <c:pt idx="9">
                  <c:v>2</c:v>
                </c:pt>
                <c:pt idx="10">
                  <c:v>2</c:v>
                </c:pt>
              </c:numCache>
            </c:numRef>
          </c:val>
        </c:ser>
        <c:dLbls>
          <c:numFmt formatCode="#,##0" sourceLinked="0"/>
          <c:txPr>
            <a:bodyPr/>
            <a:lstStyle/>
            <a:p>
              <a:pPr>
                <a:defRPr b="0" i="0" strike="noStrike" sz="1300" u="none">
                  <a:solidFill>
                    <a:srgbClr val="12233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2233B"/>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708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233B"/>
                </a:solidFill>
                <a:latin typeface="Calibri"/>
              </a:defRPr>
            </a:pPr>
            <a:r>
              <a:rPr sz="1200" b="0" i="0" u="none" strike="noStrike">
                <a:solidFill>
                  <a:srgbClr val="12233B"/>
                </a:solidFill>
                <a:latin typeface="Calibri"/>
              </a:rPr>
              <a:t>Ratings given (n = 44)</a:t>
            </a:r>
          </a:p>
        </c:rich>
      </c:tx>
      <c:layout/>
      <c:overlay val="0"/>
    </c:title>
    <c:autoTitleDeleted val="0"/>
    <c:plotArea>
      <c:layout/>
      <c:barChart>
        <c:barDir val="col"/>
        <c:grouping val="clustered"/>
        <c:varyColors val="0"/>
        <c:ser>
          <c:idx val="0"/>
          <c:order val="0"/>
          <c:tx>
            <c:strRef>
              <c:f>Sheet1!$B$1</c:f>
              <c:strCache>
                <c:ptCount val="1"/>
                <c:pt idx="0">
                  <c:v>Respondents</c:v>
                </c:pt>
              </c:strCache>
            </c:strRef>
          </c:tx>
          <c:spPr>
            <a:solidFill>
              <a:srgbClr val="2F6C9A"/>
            </a:solidFill>
            <a:effectLst/>
          </c:spPr>
          <c:invertIfNegative val="0"/>
          <c:dLbls>
            <c:numFmt formatCode="#,##0" sourceLinked="0"/>
            <c:txPr>
              <a:bodyPr/>
              <a:lstStyle/>
              <a:p>
                <a:pPr>
                  <a:defRPr b="0" i="0" strike="noStrike" sz="1200" u="none">
                    <a:solidFill>
                      <a:srgbClr val="12233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c:v>
                  </c:pt>
                  <c:pt idx="1">
                    <c:v>2</c:v>
                  </c:pt>
                  <c:pt idx="2">
                    <c:v>3</c:v>
                  </c:pt>
                  <c:pt idx="3">
                    <c:v>4</c:v>
                  </c:pt>
                  <c:pt idx="4">
                    <c:v>5</c:v>
                  </c:pt>
                </c:lvl>
              </c:multiLvlStrCache>
            </c:multiLvlStrRef>
          </c:cat>
          <c:val>
            <c:numRef>
              <c:f>Sheet1!$B$2:$B$6</c:f>
              <c:numCache>
                <c:formatCode>General</c:formatCode>
                <c:ptCount val="5"/>
                <c:pt idx="0">
                  <c:v>1</c:v>
                </c:pt>
                <c:pt idx="1">
                  <c:v>5</c:v>
                </c:pt>
                <c:pt idx="2">
                  <c:v>5</c:v>
                </c:pt>
                <c:pt idx="3">
                  <c:v>27</c:v>
                </c:pt>
                <c:pt idx="4">
                  <c:v>6</c:v>
                </c:pt>
              </c:numCache>
            </c:numRef>
          </c:val>
        </c:ser>
        <c:dLbls>
          <c:numFmt formatCode="#,##0" sourceLinked="0"/>
          <c:txPr>
            <a:bodyPr/>
            <a:lstStyle/>
            <a:p>
              <a:pPr>
                <a:defRPr b="0" i="0" strike="noStrike" sz="1200" u="none">
                  <a:solidFill>
                    <a:srgbClr val="12233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33B"/>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708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33B"/>
                </a:solidFill>
                <a:latin typeface="Calibri"/>
              </a:defRPr>
            </a:pPr>
            <a:r>
              <a:rPr sz="1400" b="0" i="0" u="none" strike="noStrike">
                <a:solidFill>
                  <a:srgbClr val="12233B"/>
                </a:solidFill>
                <a:latin typeface="Calibri"/>
              </a:rPr>
              <a:t>Library risks per category (n = 46)</a:t>
            </a:r>
          </a:p>
        </c:rich>
      </c:tx>
      <c:layout/>
      <c:overlay val="0"/>
    </c:title>
    <c:autoTitleDeleted val="0"/>
    <c:plotArea>
      <c:layout/>
      <c:barChart>
        <c:barDir val="bar"/>
        <c:grouping val="clustered"/>
        <c:varyColors val="0"/>
        <c:ser>
          <c:idx val="0"/>
          <c:order val="0"/>
          <c:tx>
            <c:strRef>
              <c:f>Sheet1!$B$1</c:f>
              <c:strCache>
                <c:ptCount val="1"/>
                <c:pt idx="0">
                  <c:v>Risks</c:v>
                </c:pt>
              </c:strCache>
            </c:strRef>
          </c:tx>
          <c:spPr>
            <a:solidFill>
              <a:srgbClr val="173F6B"/>
            </a:solidFill>
            <a:effectLst/>
          </c:spPr>
          <c:invertIfNegative val="0"/>
          <c:dLbls>
            <c:numFmt formatCode="#,##0" sourceLinked="0"/>
            <c:txPr>
              <a:bodyPr/>
              <a:lstStyle/>
              <a:p>
                <a:pPr>
                  <a:defRPr b="0" i="0" strike="noStrike" sz="1300" u="none">
                    <a:solidFill>
                      <a:srgbClr val="12233B"/>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Labour</c:v>
                  </c:pt>
                  <c:pt idx="1">
                    <c:v>Material</c:v>
                  </c:pt>
                  <c:pt idx="2">
                    <c:v>Management</c:v>
                  </c:pt>
                  <c:pt idx="3">
                    <c:v>Design</c:v>
                  </c:pt>
                  <c:pt idx="4">
                    <c:v>Equipment</c:v>
                  </c:pt>
                  <c:pt idx="5">
                    <c:v>Financial</c:v>
                  </c:pt>
                  <c:pt idx="6">
                    <c:v>External</c:v>
                  </c:pt>
                  <c:pt idx="7">
                    <c:v>Safety</c:v>
                  </c:pt>
                  <c:pt idx="8">
                    <c:v>Weather</c:v>
                  </c:pt>
                  <c:pt idx="9">
                    <c:v>Quality</c:v>
                  </c:pt>
                  <c:pt idx="10">
                    <c:v>Site</c:v>
                  </c:pt>
                </c:lvl>
              </c:multiLvlStrCache>
            </c:multiLvlStrRef>
          </c:cat>
          <c:val>
            <c:numRef>
              <c:f>Sheet1!$B$2:$B$12</c:f>
              <c:numCache>
                <c:formatCode>General</c:formatCode>
                <c:ptCount val="11"/>
                <c:pt idx="0">
                  <c:v>13</c:v>
                </c:pt>
                <c:pt idx="1">
                  <c:v>6</c:v>
                </c:pt>
                <c:pt idx="2">
                  <c:v>6</c:v>
                </c:pt>
                <c:pt idx="3">
                  <c:v>4</c:v>
                </c:pt>
                <c:pt idx="4">
                  <c:v>3</c:v>
                </c:pt>
                <c:pt idx="5">
                  <c:v>3</c:v>
                </c:pt>
                <c:pt idx="6">
                  <c:v>3</c:v>
                </c:pt>
                <c:pt idx="7">
                  <c:v>2</c:v>
                </c:pt>
                <c:pt idx="8">
                  <c:v>2</c:v>
                </c:pt>
                <c:pt idx="9">
                  <c:v>2</c:v>
                </c:pt>
                <c:pt idx="10">
                  <c:v>2</c:v>
                </c:pt>
              </c:numCache>
            </c:numRef>
          </c:val>
        </c:ser>
        <c:dLbls>
          <c:numFmt formatCode="#,##0" sourceLinked="0"/>
          <c:txPr>
            <a:bodyPr/>
            <a:lstStyle/>
            <a:p>
              <a:pPr>
                <a:defRPr b="0" i="0" strike="noStrike" sz="1300" u="none">
                  <a:solidFill>
                    <a:srgbClr val="12233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2233B"/>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5708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33B"/>
                </a:solidFill>
                <a:latin typeface="Calibri"/>
              </a:defRPr>
            </a:pPr>
            <a:r>
              <a:rPr sz="1300" b="0" i="0" u="none" strike="noStrike">
                <a:solidFill>
                  <a:srgbClr val="12233B"/>
                </a:solidFill>
                <a:latin typeface="Calibri"/>
              </a:rPr>
              <a:t>p-values: raw versus Holm-adjusted (level 0.05)</a:t>
            </a:r>
          </a:p>
        </c:rich>
      </c:tx>
      <c:layout/>
      <c:overlay val="0"/>
    </c:title>
    <c:autoTitleDeleted val="0"/>
    <c:plotArea>
      <c:layout/>
      <c:barChart>
        <c:barDir val="col"/>
        <c:grouping val="clustered"/>
        <c:varyColors val="0"/>
        <c:ser>
          <c:idx val="0"/>
          <c:order val="0"/>
          <c:tx>
            <c:strRef>
              <c:f>Sheet1!$B$1</c:f>
              <c:strCache>
                <c:ptCount val="1"/>
                <c:pt idx="0">
                  <c:v>Raw p</c:v>
                </c:pt>
              </c:strCache>
            </c:strRef>
          </c:tx>
          <c:spPr>
            <a:solidFill>
              <a:srgbClr val="5FA8D3"/>
            </a:solidFill>
            <a:effectLst/>
          </c:spPr>
          <c:invertIfNegative val="0"/>
          <c:dLbls>
            <c:numFmt formatCode="0.00" sourceLinked="0"/>
            <c:txPr>
              <a:bodyPr/>
              <a:lstStyle/>
              <a:p>
                <a:pPr>
                  <a:defRPr b="0" i="0" strike="noStrike" sz="1100" u="none">
                    <a:solidFill>
                      <a:srgbClr val="12233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M15</c:v>
                  </c:pt>
                  <c:pt idx="1">
                    <c:v>M10</c:v>
                  </c:pt>
                  <c:pt idx="2">
                    <c:v>M14</c:v>
                  </c:pt>
                </c:lvl>
              </c:multiLvlStrCache>
            </c:multiLvlStrRef>
          </c:cat>
          <c:val>
            <c:numRef>
              <c:f>Sheet1!$B$2:$B$4</c:f>
              <c:numCache>
                <c:formatCode>General</c:formatCode>
                <c:ptCount val="3"/>
                <c:pt idx="0">
                  <c:v>0.04465</c:v>
                </c:pt>
                <c:pt idx="1">
                  <c:v>0.24035</c:v>
                </c:pt>
                <c:pt idx="2">
                  <c:v>0.55305</c:v>
                </c:pt>
              </c:numCache>
            </c:numRef>
          </c:val>
        </c:ser>
        <c:ser>
          <c:idx val="1"/>
          <c:order val="1"/>
          <c:tx>
            <c:strRef>
              <c:f>Sheet1!$C$1</c:f>
              <c:strCache>
                <c:ptCount val="1"/>
                <c:pt idx="0">
                  <c:v>Holm p</c:v>
                </c:pt>
              </c:strCache>
            </c:strRef>
          </c:tx>
          <c:spPr>
            <a:solidFill>
              <a:srgbClr val="173F6B"/>
            </a:solidFill>
            <a:effectLst/>
          </c:spPr>
          <c:invertIfNegative val="0"/>
          <c:dLbls>
            <c:numFmt formatCode="0.00" sourceLinked="0"/>
            <c:txPr>
              <a:bodyPr/>
              <a:lstStyle/>
              <a:p>
                <a:pPr>
                  <a:defRPr b="0" i="0" strike="noStrike" sz="1100" u="none">
                    <a:solidFill>
                      <a:srgbClr val="12233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M15</c:v>
                  </c:pt>
                  <c:pt idx="1">
                    <c:v>M10</c:v>
                  </c:pt>
                  <c:pt idx="2">
                    <c:v>M14</c:v>
                  </c:pt>
                </c:lvl>
              </c:multiLvlStrCache>
            </c:multiLvlStrRef>
          </c:cat>
          <c:val>
            <c:numRef>
              <c:f>Sheet1!$C$2:$C$4</c:f>
              <c:numCache>
                <c:formatCode>General</c:formatCode>
                <c:ptCount val="3"/>
                <c:pt idx="0">
                  <c:v>0.134</c:v>
                </c:pt>
                <c:pt idx="1">
                  <c:v>0.481</c:v>
                </c:pt>
                <c:pt idx="2">
                  <c:v>0.553</c:v>
                </c:pt>
              </c:numCache>
            </c:numRef>
          </c:val>
        </c:ser>
        <c:dLbls>
          <c:numFmt formatCode="0.00" sourceLinked="0"/>
          <c:txPr>
            <a:bodyPr/>
            <a:lstStyle/>
            <a:p>
              <a:pPr>
                <a:defRPr b="0" i="0" strike="noStrike" sz="1100" u="none">
                  <a:solidFill>
                    <a:srgbClr val="12233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2233B"/>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708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233B"/>
                </a:solidFill>
                <a:latin typeface="Calibri"/>
              </a:defRPr>
            </a:pPr>
            <a:r>
              <a:rPr sz="1200" b="0" i="0" u="none" strike="noStrike">
                <a:solidFill>
                  <a:srgbClr val="12233B"/>
                </a:solidFill>
                <a:latin typeface="Calibri"/>
              </a:rPr>
              <a:t>Simulated activity duration, days (planned 16)</a:t>
            </a:r>
          </a:p>
        </c:rich>
      </c:tx>
      <c:layout/>
      <c:overlay val="0"/>
    </c:title>
    <c:autoTitleDeleted val="0"/>
    <c:plotArea>
      <c:layout/>
      <c:barChart>
        <c:barDir val="col"/>
        <c:grouping val="clustered"/>
        <c:varyColors val="0"/>
        <c:ser>
          <c:idx val="0"/>
          <c:order val="0"/>
          <c:tx>
            <c:strRef>
              <c:f>Sheet1!$B$1</c:f>
              <c:strCache>
                <c:ptCount val="1"/>
                <c:pt idx="0">
                  <c:v>Duration (days)</c:v>
                </c:pt>
              </c:strCache>
            </c:strRef>
          </c:tx>
          <c:spPr>
            <a:solidFill>
              <a:srgbClr val="2F6C9A"/>
            </a:solidFill>
            <a:effectLst/>
          </c:spPr>
          <c:invertIfNegative val="0"/>
          <c:dLbls>
            <c:numFmt formatCode="0.0" sourceLinked="0"/>
            <c:txPr>
              <a:bodyPr/>
              <a:lstStyle/>
              <a:p>
                <a:pPr>
                  <a:defRPr b="0" i="0" strike="noStrike" sz="1200" u="none">
                    <a:solidFill>
                      <a:srgbClr val="12233B"/>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P10</c:v>
                  </c:pt>
                  <c:pt idx="1">
                    <c:v>P50</c:v>
                  </c:pt>
                  <c:pt idx="2">
                    <c:v>P80</c:v>
                  </c:pt>
                  <c:pt idx="3">
                    <c:v>P85</c:v>
                  </c:pt>
                  <c:pt idx="4">
                    <c:v>P90</c:v>
                  </c:pt>
                  <c:pt idx="5">
                    <c:v>P95</c:v>
                  </c:pt>
                </c:lvl>
              </c:multiLvlStrCache>
            </c:multiLvlStrRef>
          </c:cat>
          <c:val>
            <c:numRef>
              <c:f>Sheet1!$B$2:$B$7</c:f>
              <c:numCache>
                <c:formatCode>General</c:formatCode>
                <c:ptCount val="6"/>
                <c:pt idx="0">
                  <c:v>16</c:v>
                </c:pt>
                <c:pt idx="1">
                  <c:v>20.9</c:v>
                </c:pt>
                <c:pt idx="2">
                  <c:v>23.9</c:v>
                </c:pt>
                <c:pt idx="3">
                  <c:v>24.6</c:v>
                </c:pt>
                <c:pt idx="4">
                  <c:v>25.6</c:v>
                </c:pt>
                <c:pt idx="5">
                  <c:v>27</c:v>
                </c:pt>
              </c:numCache>
            </c:numRef>
          </c:val>
        </c:ser>
        <c:dLbls>
          <c:numFmt formatCode="0.0" sourceLinked="0"/>
          <c:txPr>
            <a:bodyPr/>
            <a:lstStyle/>
            <a:p>
              <a:pPr>
                <a:defRPr b="0" i="0" strike="noStrike" sz="1200" u="none">
                  <a:solidFill>
                    <a:srgbClr val="12233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2233B"/>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708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33B"/>
                </a:solidFill>
                <a:latin typeface="Calibri"/>
              </a:defRPr>
            </a:pPr>
            <a:r>
              <a:rPr sz="1400" b="0" i="0" u="none" strike="noStrike">
                <a:solidFill>
                  <a:srgbClr val="12233B"/>
                </a:solidFill>
                <a:latin typeface="Calibri"/>
              </a:rPr>
              <a:t>Findings by area (total 140)</a:t>
            </a:r>
          </a:p>
        </c:rich>
      </c:tx>
      <c:layout/>
      <c:overlay val="0"/>
    </c:title>
    <c:autoTitleDeleted val="0"/>
    <c:plotArea>
      <c:layout/>
      <c:barChart>
        <c:barDir val="bar"/>
        <c:grouping val="clustered"/>
        <c:varyColors val="0"/>
        <c:ser>
          <c:idx val="0"/>
          <c:order val="0"/>
          <c:tx>
            <c:strRef>
              <c:f>Sheet1!$B$1</c:f>
              <c:strCache>
                <c:ptCount val="1"/>
                <c:pt idx="0">
                  <c:v>Findings</c:v>
                </c:pt>
              </c:strCache>
            </c:strRef>
          </c:tx>
          <c:spPr>
            <a:solidFill>
              <a:srgbClr val="2F6C9A"/>
            </a:solidFill>
            <a:effectLst/>
          </c:spPr>
          <c:invertIfNegative val="0"/>
          <c:dLbls>
            <c:numFmt formatCode="#,##0" sourceLinked="0"/>
            <c:txPr>
              <a:bodyPr/>
              <a:lstStyle/>
              <a:p>
                <a:pPr>
                  <a:defRPr b="0" i="0" strike="noStrike" sz="1400" u="none">
                    <a:solidFill>
                      <a:srgbClr val="12233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GUI and usability</c:v>
                  </c:pt>
                  <c:pt idx="1">
                    <c:v>Engine, API, tests</c:v>
                  </c:pt>
                  <c:pt idx="2">
                    <c:v>Research data, scripts</c:v>
                  </c:pt>
                  <c:pt idx="3">
                    <c:v>Documents, numbers</c:v>
                  </c:pt>
                </c:lvl>
              </c:multiLvlStrCache>
            </c:multiLvlStrRef>
          </c:cat>
          <c:val>
            <c:numRef>
              <c:f>Sheet1!$B$2:$B$5</c:f>
              <c:numCache>
                <c:formatCode>General</c:formatCode>
                <c:ptCount val="4"/>
                <c:pt idx="0">
                  <c:v>48</c:v>
                </c:pt>
                <c:pt idx="1">
                  <c:v>35</c:v>
                </c:pt>
                <c:pt idx="2">
                  <c:v>31</c:v>
                </c:pt>
                <c:pt idx="3">
                  <c:v>26</c:v>
                </c:pt>
              </c:numCache>
            </c:numRef>
          </c:val>
        </c:ser>
        <c:dLbls>
          <c:numFmt formatCode="#,##0" sourceLinked="0"/>
          <c:txPr>
            <a:bodyPr/>
            <a:lstStyle/>
            <a:p>
              <a:pPr>
                <a:defRPr b="0" i="0" strike="noStrike" sz="1400" u="none">
                  <a:solidFill>
                    <a:srgbClr val="12233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2233B"/>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5708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Bricks-ly helps a site engineer list, rank and review the delay risks of one brick-masonry activity. Today: why we moved from a prediction model to a risk-based framework, the method and basics, a worked calculation for every step, how the tool was coded, how we checked it, a demo, and the next test against real site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blocks. The worked calculations block is the core: every formula the tool uses is shown with the real numbers from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practical: many things can delay a masonry activity and the published evidence ranks causes by importance, not by likelihood or days. We do not quote any national delay statistic here because none is part of our verified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registered title talks about labour-productivity and delay-risk prediction. On 2026-09-28 the scope was revised to identification, register and matrix. The retitle or scope-revision table is the supervisor's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documented reasons. The cross-prediction figures come from the project's own statistics: rho 0.09 to 0.64, none significant. These are the reasons the words predicts and validated were withdrawn.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verbs are the usual risk-management cycle. The three principles are the rules the code enforces and the tests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are from the project charter. Status is stated as it is: the second-coder agreement, the expert survey and the usability session are not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1 to 6 are built; stage 7 is planned. Each stage writes a file so the next stage reads data, not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ideas the whole tool rests on. Each one returns later as a worked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per study from the seed file. Five studies are the seed (used to build the starting ranking); six are held out and used only to test it. Half of the seeded risks rest on a single study, which is a limit we state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from the real data. Study M01, Table 3, factor Bad leadership skill. 44 respondents, five rating levels. The counts are in the seed notes. Our recomputation gives 164 and 0.745; the paper prints 165 and 0.750. We kept the printed value in the data and recorded the discrepancy: this is why every row has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R-MAT, brick/block/mortar material shortage. Three seed studies give direct factors. Average within each study first so a study counts once, then average across studies: 0.7889. Among the 30 seeded risks this is rank 1. With 30 risks in 5 bands of 6, ranks 1 to 6 are tier 5. The same tier is used for both axes, which is an Assumption of the tool. Boundary note: ranks 12 and 13 differ by only 0.0008 RII yet fall in different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library is what the tool offers the engineer. 38 risks are activity-level and 8 are project-level. 30 have a survey-based starting tier; 16 have none and need entered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RL-LAB: required workers greater than workers available flags labour absenteeism or shortage as elevated. In the example case 6 required against 5 available fires the rule. For a seeded risk the flag raises the probability class by one, capped at 5. The raise is an unsourced Assumption of the tool and is listed as an open decision, which we say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example case, risk R-MAT: minimum 1 day, most likely 3 days, maximum 8 days, probability 0.5, all labelled Assumption and ILLUSTRATIVE. PERT expected value is (a + 4m + b) / 6 = 21 / 6 = 3.5 days. The number line puts the four values in position: the mean lies right of the mode because the maximum is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R-MAT risk. Probability 0.5 reaches the first two edges, so class 3. Impact is the expected delay as a fraction of the planned duration: 3.5 over 16 is 0.21875, which reaches all four edges, so class 5. Score 3 x 5 = 15, which falls in High because thresholds 5, 10, 15 give Low up to 5, Moderate 6 to 10, High 11 to 15, Extreme from 16. A value exactly on an edge goes to the higher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matrix the tool draws for the ILLUSTRATIVE example: R-MAT is High; five risks are Moderate in p class 2 x impact class 4; R-PLAN is Low. The colours are a cool scale here; the tool also prints the level word in every cell, so colour is never the only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Spearman rank correlation between study M01 and study M06 on the 7 risks both cover with a direct factor. Ranks are by RII, highest rank 1. d is the difference of ranks; the sum of d squared is 50. rho = 1 minus 6 times 50 over 7 times 48, which is 0.107; the p-value is 0.82. The two surveys barely agree on how to order these seven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held-out surveys with enough shared risks were tested. Raw permutation p-values: 0.04465, 0.24035, 0.55305. Holm: sort ascending, multiply the smallest by 3, the next by 2, the largest by 1, keep the sequence non-decreasing. Adjusted: 0.134, 0.481, 0.553. None is below 0.05, so no single held-out agreement survives correction. M15 looked significant alone (p 0.045) and does not after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optional cost and decision layer, fed only by entered numbers. ILLUSTRATIVE example: probability 0.5, expected delay 3.5 days, delay cost 8,000 per day, which is an Assumption. Event EMV is 0.5 times 3.5 times 8,000, which is 14,000. The Monte Carlo summary uses 10,000 draws with a fixed seed so it repeats exactly. Whether this layer stays in scope is the supervisor's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offline on one laptop. The front end is plain JavaScript modules with no framework. Python does all calculation; the GUI only displays what the service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rule is one-way: the GUI never computes a level or a class; it asks the service. Validation names the failing field. The same classify function serves the GUI, the command line and every export, so they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from app/engine/matrix.py. probability_class counts how many class edges the value has reached and adds one. Lower-edge-inclusive: a value exactly on an edge goes up. isclose handles float noise. matrix_level maps the score to a word using bisect. In the audit we added guards so true/false, NaN and unsorted edges raise an error instead of returning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layer may only suggest risk names and cite evidence. Rules G1 to G9 are enforced in code and tested. Example from the test suite: a model reply that includes probability 0.4 has that field stripped and logged. This is how we prevent the tool from hallucinating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measured by commands this week. 553 tests before the audit round, 600 now (3 skipped without the local data). Output is byte-identical across three Python hash seeds. The data check covers every id and value. At phone width the page overflowed by 509 pixels and now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reviews of the engine, error paths, GUI, research data and documents. Each finding was fixed with a test, left for the owner, deferred to the local data, or rejected with a reason. Agent output was treated as a claim until a command confirmed it. The clean-up removed code that nothing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runs on the presenter's laptop. There is no public website: the link below is the local address that appears after python -m gui. The repository link is public to the team. Fallback if the laptop fails: the exported report.html and screenshots placed in the image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these before anyone asks. Left column is what the tool supports today. Right column is what we deliberately do not say,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planned and not started. We will compare the tool with a proper industrial baseline: the schedule of one site exported from MS Project or Primavera P6. We need the planned and actual dates and, importantly, the reason each slip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each with a method and a way of reporting. The statistical method is proposed and follows what the literature check already uses; the supervisor should confirm it. We will not tune the tool on the baseline site and then report on the same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choices that change the plan most. Scope and site access come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as recorded in data/literature_seed.json.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references are standard sources; study references are exactly as recorded in the seed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 Demo link and repository are on the previous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rtlCol="0"/>
          <a:lstStyle>
            <a:lvl1pPr algn="l" indent="0" marL="0">
              <a:buNone/>
              <a:defRPr lang="en-US" sz="3200" b="1" dirty="0">
                <a:solidFill>
                  <a:srgbClr val="12233B"/>
                </a:solidFill>
                <a:latin typeface="Times New Roman" pitchFamily="34" charset="0"/>
                <a:ea typeface="Times New Roman" pitchFamily="34" charset="-122"/>
                <a:cs typeface="Times New Roman" pitchFamily="34" charset="-120"/>
              </a:defRPr>
            </a:lvl1pPr>
          </a:lstStyle>
          <a:p>
            <a:pPr algn="l" indent="0" marL="0">
              <a:buNone/>
            </a:pPr>
            <a:endParaRPr lang="en-US" sz="3200" dirty="0"/>
          </a:p>
        </p:txBody>
      </p:sp>
      <p:sp>
        <p:nvSpPr>
          <p:cNvPr id="3" name="Text 0"/>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5708A"/>
                </a:solidFill>
                <a:latin typeface="Calibri" pitchFamily="34" charset="0"/>
                <a:ea typeface="Calibri" pitchFamily="34" charset="-122"/>
                <a:cs typeface="Calibri" pitchFamily="34" charset="-120"/>
              </a:rPr>
              <a:t>Bricks-ly  |  Progress presentation  |  14 October 2026</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PLIT">
    <p:bg>
      <p:bgPr>
        <a:solidFill>
          <a:srgbClr val="EFF5FA"/>
        </a:solidFill>
      </p:bgPr>
    </p:bg>
    <p:spTree>
      <p:nvGrpSpPr>
        <p:cNvPr id="1" name=""/>
        <p:cNvGrpSpPr/>
        <p:nvPr/>
      </p:nvGrpSpPr>
      <p:grpSpPr>
        <a:xfrm>
          <a:off x="0" y="0"/>
          <a:ext cx="0" cy="0"/>
          <a:chOff x="0" y="0"/>
          <a:chExt cx="0" cy="0"/>
        </a:xfrm>
      </p:grpSpPr>
      <p:sp>
        <p:nvSpPr>
          <p:cNvPr id="2" name="Shape 0"/>
          <p:cNvSpPr/>
          <p:nvPr/>
        </p:nvSpPr>
        <p:spPr>
          <a:xfrm>
            <a:off x="0" y="0"/>
            <a:ext cx="3977640" cy="6858000"/>
          </a:xfrm>
          <a:prstGeom prst="rect">
            <a:avLst/>
          </a:prstGeom>
          <a:solidFill>
            <a:srgbClr val="0A1F3C"/>
          </a:solidFill>
          <a:ln/>
        </p:spPr>
      </p:sp>
      <p:sp>
        <p:nvSpPr>
          <p:cNvPr id="3" name="Text 1"/>
          <p:cNvSpPr/>
          <p:nvPr>
            <p:ph idx="101" type="title" hasCustomPrompt="1"/>
          </p:nvPr>
        </p:nvSpPr>
        <p:spPr>
          <a:xfrm>
            <a:off x="457200" y="640080"/>
            <a:ext cx="3154680" cy="2743200"/>
          </a:xfrm>
          <a:prstGeom prst="rect">
            <a:avLst/>
          </a:prstGeom>
          <a:noFill/>
          <a:ln/>
        </p:spPr>
        <p:txBody>
          <a:bodyPr wrap="square" rtlCol="0"/>
          <a:lstStyle>
            <a:lvl1pPr algn="l" indent="0" marL="0">
              <a:buNone/>
              <a:defRPr lang="en-US" sz="3200" b="1" dirty="0">
                <a:solidFill>
                  <a:srgbClr val="FFFFFF"/>
                </a:solidFill>
                <a:latin typeface="Times New Roman" pitchFamily="34" charset="0"/>
                <a:ea typeface="Times New Roman" pitchFamily="34" charset="-122"/>
                <a:cs typeface="Times New Roman" pitchFamily="34" charset="-120"/>
              </a:defRPr>
            </a:lvl1pPr>
          </a:lstStyle>
          <a:p>
            <a:pPr algn="l" indent="0" marL="0">
              <a:buNone/>
            </a:pPr>
            <a:endParaRPr lang="en-US" sz="3200" dirty="0"/>
          </a:p>
        </p:txBody>
      </p:sp>
      <p:sp>
        <p:nvSpPr>
          <p:cNvPr id="4" name="Text 1"/>
          <p:cNvSpPr/>
          <p:nvPr/>
        </p:nvSpPr>
        <p:spPr>
          <a:xfrm>
            <a:off x="457200" y="6473952"/>
            <a:ext cx="3200400" cy="256032"/>
          </a:xfrm>
          <a:prstGeom prst="rect">
            <a:avLst/>
          </a:prstGeom>
          <a:noFill/>
          <a:ln/>
        </p:spPr>
        <p:txBody>
          <a:bodyPr wrap="square" lIns="0" tIns="0" rIns="0" bIns="0" rtlCol="0" anchor="ctr"/>
          <a:lstStyle/>
          <a:p>
            <a:pPr indent="0" marL="0">
              <a:buNone/>
            </a:pPr>
            <a:r>
              <a:rPr lang="en-US" sz="1000" dirty="0">
                <a:solidFill>
                  <a:srgbClr val="A9C7E0"/>
                </a:solidFill>
                <a:latin typeface="Calibri" pitchFamily="34" charset="0"/>
                <a:ea typeface="Calibri" pitchFamily="34" charset="-122"/>
                <a:cs typeface="Calibri" pitchFamily="34" charset="-120"/>
              </a:rPr>
              <a:t>Bricks-ly  |  14 October 2026</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A1F3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rtlCol="0"/>
          <a:lstStyle>
            <a:lvl1pPr algn="l" indent="0" marL="0">
              <a:buNone/>
              <a:defRPr lang="en-US" sz="3200" b="1" dirty="0">
                <a:solidFill>
                  <a:srgbClr val="FFFFFF"/>
                </a:solidFill>
                <a:latin typeface="Times New Roman" pitchFamily="34" charset="0"/>
                <a:ea typeface="Times New Roman" pitchFamily="34" charset="-122"/>
                <a:cs typeface="Times New Roman" pitchFamily="34" charset="-120"/>
              </a:defRPr>
            </a:lvl1pPr>
          </a:lstStyle>
          <a:p>
            <a:pPr algn="l" indent="0" marL="0">
              <a:buNone/>
            </a:pPr>
            <a:endParaRPr lang="en-US" sz="3200" dirty="0"/>
          </a:p>
        </p:txBody>
      </p:sp>
      <p:sp>
        <p:nvSpPr>
          <p:cNvPr id="3" name="Text 0"/>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A9C7E0"/>
                </a:solidFill>
                <a:latin typeface="Calibri" pitchFamily="34" charset="0"/>
                <a:ea typeface="Calibri" pitchFamily="34" charset="-122"/>
                <a:cs typeface="Calibri" pitchFamily="34" charset="-120"/>
              </a:rPr>
              <a:t>Bricks-ly  |  Progress presentation  |  14 October 2026</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E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RE_DARK">
    <p:bg>
      <p:bgPr>
        <a:solidFill>
          <a:srgbClr val="0A1F3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127.0.0.1:8765" TargetMode="External"/><Relationship Id="rId2" Type="http://schemas.openxmlformats.org/officeDocument/2006/relationships/hyperlink" Target="https://github.com/DrAssassin3214/FYP" TargetMode="External"/><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github.com/DrAssassin3214/FYP" TargetMode="External"/><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1554480"/>
            <a:ext cx="6400800" cy="1188720"/>
          </a:xfrm>
          <a:prstGeom prst="rect">
            <a:avLst/>
          </a:prstGeom>
          <a:noFill/>
          <a:ln/>
        </p:spPr>
        <p:txBody>
          <a:bodyPr wrap="square" lIns="0" tIns="0" rIns="0" bIns="0" rtlCol="0" anchor="t"/>
          <a:lstStyle/>
          <a:p>
            <a:pPr indent="0" marL="0">
              <a:buNone/>
            </a:pPr>
            <a:r>
              <a:rPr lang="en-US" sz="7200" b="1" dirty="0">
                <a:solidFill>
                  <a:srgbClr val="FFFFFF"/>
                </a:solidFill>
                <a:latin typeface="Times New Roman" pitchFamily="34" charset="0"/>
                <a:ea typeface="Times New Roman" pitchFamily="34" charset="-122"/>
                <a:cs typeface="Times New Roman" pitchFamily="34" charset="-120"/>
              </a:rPr>
              <a:t>Bricks-ly</a:t>
            </a:r>
            <a:endParaRPr lang="en-US" sz="7200" dirty="0"/>
          </a:p>
        </p:txBody>
      </p:sp>
      <p:sp>
        <p:nvSpPr>
          <p:cNvPr id="4" name="Text 1"/>
          <p:cNvSpPr txBox="1"/>
          <p:nvPr/>
        </p:nvSpPr>
        <p:spPr>
          <a:xfrm>
            <a:off x="548640" y="2880360"/>
            <a:ext cx="6035040" cy="1188720"/>
          </a:xfrm>
          <a:prstGeom prst="rect">
            <a:avLst/>
          </a:prstGeom>
          <a:noFill/>
          <a:ln/>
        </p:spPr>
        <p:txBody>
          <a:bodyPr wrap="square" lIns="0" tIns="0" rIns="0" bIns="0" rtlCol="0" anchor="t"/>
          <a:lstStyle/>
          <a:p>
            <a:pPr indent="0" marL="0">
              <a:buNone/>
            </a:pPr>
            <a:r>
              <a:rPr lang="en-US" sz="2600" i="1" dirty="0">
                <a:solidFill>
                  <a:srgbClr val="DCEAF6"/>
                </a:solidFill>
                <a:latin typeface="Times New Roman" pitchFamily="34" charset="0"/>
                <a:ea typeface="Times New Roman" pitchFamily="34" charset="-122"/>
                <a:cs typeface="Times New Roman" pitchFamily="34" charset="-120"/>
              </a:rPr>
              <a:t>From a prediction model to a risk-based framework for delay in brick masonry</a:t>
            </a:r>
            <a:endParaRPr lang="en-US" sz="2600" dirty="0"/>
          </a:p>
        </p:txBody>
      </p:sp>
      <p:sp>
        <p:nvSpPr>
          <p:cNvPr id="5" name="Text 2"/>
          <p:cNvSpPr txBox="1"/>
          <p:nvPr/>
        </p:nvSpPr>
        <p:spPr>
          <a:xfrm>
            <a:off x="548640" y="4754880"/>
            <a:ext cx="6400800" cy="731520"/>
          </a:xfrm>
          <a:prstGeom prst="rect">
            <a:avLst/>
          </a:prstGeom>
          <a:noFill/>
          <a:ln/>
        </p:spPr>
        <p:txBody>
          <a:bodyPr wrap="square" lIns="0" tIns="0" rIns="0" bIns="0" rtlCol="0" anchor="t"/>
          <a:lstStyle/>
          <a:p>
            <a:pPr indent="0" marL="0">
              <a:buNone/>
            </a:pPr>
            <a:r>
              <a:rPr lang="en-US" sz="1600" b="1" dirty="0">
                <a:solidFill>
                  <a:srgbClr val="A9C7E0"/>
                </a:solidFill>
                <a:latin typeface="Calibri" pitchFamily="34" charset="0"/>
                <a:ea typeface="Calibri" pitchFamily="34" charset="-122"/>
                <a:cs typeface="Calibri" pitchFamily="34" charset="-120"/>
              </a:rPr>
              <a:t>Progress presentation  |  14 October 2026</a:t>
            </a:r>
            <a:endParaRPr lang="en-US" sz="1600" dirty="0"/>
          </a:p>
          <a:p>
            <a:pPr indent="0" marL="0">
              <a:buNone/>
            </a:pPr>
            <a:r>
              <a:rPr lang="en-US" sz="1600" dirty="0">
                <a:solidFill>
                  <a:srgbClr val="A9C7E0"/>
                </a:solidFill>
                <a:latin typeface="Calibri" pitchFamily="34" charset="0"/>
                <a:ea typeface="Calibri" pitchFamily="34" charset="-122"/>
                <a:cs typeface="Calibri" pitchFamily="34" charset="-120"/>
              </a:rPr>
              <a:t>NICMAR University Pune  |  B.Tech civil engineering final-year project</a:t>
            </a:r>
            <a:endParaRPr lang="en-US" sz="1600" dirty="0"/>
          </a:p>
        </p:txBody>
      </p:sp>
      <p:sp>
        <p:nvSpPr>
          <p:cNvPr id="6" name="a1_cell00"/>
          <p:cNvSpPr/>
          <p:nvPr/>
        </p:nvSpPr>
        <p:spPr>
          <a:xfrm>
            <a:off x="7315200" y="1234440"/>
            <a:ext cx="804672" cy="804672"/>
          </a:xfrm>
          <a:prstGeom prst="rect">
            <a:avLst/>
          </a:prstGeom>
          <a:solidFill>
            <a:srgbClr val="CFE6F3"/>
          </a:solidFill>
          <a:ln w="12700">
            <a:solidFill>
              <a:srgbClr val="CFE6F3"/>
            </a:solidFill>
            <a:prstDash val="solid"/>
          </a:ln>
        </p:spPr>
      </p:sp>
      <p:sp>
        <p:nvSpPr>
          <p:cNvPr id="7" name="a1_cell01"/>
          <p:cNvSpPr/>
          <p:nvPr/>
        </p:nvSpPr>
        <p:spPr>
          <a:xfrm>
            <a:off x="8174736" y="1234440"/>
            <a:ext cx="804672" cy="804672"/>
          </a:xfrm>
          <a:prstGeom prst="rect">
            <a:avLst/>
          </a:prstGeom>
          <a:solidFill>
            <a:srgbClr val="7FB5D9"/>
          </a:solidFill>
          <a:ln w="12700">
            <a:solidFill>
              <a:srgbClr val="7FB5D9"/>
            </a:solidFill>
            <a:prstDash val="solid"/>
          </a:ln>
        </p:spPr>
      </p:sp>
      <p:sp>
        <p:nvSpPr>
          <p:cNvPr id="8" name="a1_cell02"/>
          <p:cNvSpPr/>
          <p:nvPr/>
        </p:nvSpPr>
        <p:spPr>
          <a:xfrm>
            <a:off x="9034272" y="1234440"/>
            <a:ext cx="804672" cy="804672"/>
          </a:xfrm>
          <a:prstGeom prst="rect">
            <a:avLst/>
          </a:prstGeom>
          <a:solidFill>
            <a:srgbClr val="3E73B5"/>
          </a:solidFill>
          <a:ln w="12700">
            <a:solidFill>
              <a:srgbClr val="3E73B5"/>
            </a:solidFill>
            <a:prstDash val="solid"/>
          </a:ln>
        </p:spPr>
      </p:sp>
      <p:sp>
        <p:nvSpPr>
          <p:cNvPr id="9" name="a1_cell03"/>
          <p:cNvSpPr/>
          <p:nvPr/>
        </p:nvSpPr>
        <p:spPr>
          <a:xfrm>
            <a:off x="9893808" y="1234440"/>
            <a:ext cx="804672" cy="804672"/>
          </a:xfrm>
          <a:prstGeom prst="rect">
            <a:avLst/>
          </a:prstGeom>
          <a:solidFill>
            <a:srgbClr val="1B2D78"/>
          </a:solidFill>
          <a:ln w="12700">
            <a:solidFill>
              <a:srgbClr val="1B2D78"/>
            </a:solidFill>
            <a:prstDash val="solid"/>
          </a:ln>
        </p:spPr>
      </p:sp>
      <p:sp>
        <p:nvSpPr>
          <p:cNvPr id="10" name="a1_cell04"/>
          <p:cNvSpPr/>
          <p:nvPr/>
        </p:nvSpPr>
        <p:spPr>
          <a:xfrm>
            <a:off x="10753344" y="1234440"/>
            <a:ext cx="804672" cy="804672"/>
          </a:xfrm>
          <a:prstGeom prst="rect">
            <a:avLst/>
          </a:prstGeom>
          <a:solidFill>
            <a:srgbClr val="1B2D78"/>
          </a:solidFill>
          <a:ln w="12700">
            <a:solidFill>
              <a:srgbClr val="1B2D78"/>
            </a:solidFill>
            <a:prstDash val="solid"/>
          </a:ln>
        </p:spPr>
      </p:sp>
      <p:sp>
        <p:nvSpPr>
          <p:cNvPr id="11" name="a2_cell10"/>
          <p:cNvSpPr/>
          <p:nvPr/>
        </p:nvSpPr>
        <p:spPr>
          <a:xfrm>
            <a:off x="7315200" y="2093976"/>
            <a:ext cx="804672" cy="804672"/>
          </a:xfrm>
          <a:prstGeom prst="rect">
            <a:avLst/>
          </a:prstGeom>
          <a:solidFill>
            <a:srgbClr val="CFE6F3"/>
          </a:solidFill>
          <a:ln w="12700">
            <a:solidFill>
              <a:srgbClr val="CFE6F3"/>
            </a:solidFill>
            <a:prstDash val="solid"/>
          </a:ln>
        </p:spPr>
      </p:sp>
      <p:sp>
        <p:nvSpPr>
          <p:cNvPr id="12" name="a2_cell11"/>
          <p:cNvSpPr/>
          <p:nvPr/>
        </p:nvSpPr>
        <p:spPr>
          <a:xfrm>
            <a:off x="8174736" y="2093976"/>
            <a:ext cx="804672" cy="804672"/>
          </a:xfrm>
          <a:prstGeom prst="rect">
            <a:avLst/>
          </a:prstGeom>
          <a:solidFill>
            <a:srgbClr val="7FB5D9"/>
          </a:solidFill>
          <a:ln w="12700">
            <a:solidFill>
              <a:srgbClr val="7FB5D9"/>
            </a:solidFill>
            <a:prstDash val="solid"/>
          </a:ln>
        </p:spPr>
      </p:sp>
      <p:sp>
        <p:nvSpPr>
          <p:cNvPr id="13" name="a2_cell12"/>
          <p:cNvSpPr/>
          <p:nvPr/>
        </p:nvSpPr>
        <p:spPr>
          <a:xfrm>
            <a:off x="9034272" y="2093976"/>
            <a:ext cx="804672" cy="804672"/>
          </a:xfrm>
          <a:prstGeom prst="rect">
            <a:avLst/>
          </a:prstGeom>
          <a:solidFill>
            <a:srgbClr val="3E73B5"/>
          </a:solidFill>
          <a:ln w="12700">
            <a:solidFill>
              <a:srgbClr val="3E73B5"/>
            </a:solidFill>
            <a:prstDash val="solid"/>
          </a:ln>
        </p:spPr>
      </p:sp>
      <p:sp>
        <p:nvSpPr>
          <p:cNvPr id="14" name="a2_cell13"/>
          <p:cNvSpPr/>
          <p:nvPr/>
        </p:nvSpPr>
        <p:spPr>
          <a:xfrm>
            <a:off x="9893808" y="2093976"/>
            <a:ext cx="804672" cy="804672"/>
          </a:xfrm>
          <a:prstGeom prst="rect">
            <a:avLst/>
          </a:prstGeom>
          <a:solidFill>
            <a:srgbClr val="1B2D78"/>
          </a:solidFill>
          <a:ln w="12700">
            <a:solidFill>
              <a:srgbClr val="1B2D78"/>
            </a:solidFill>
            <a:prstDash val="solid"/>
          </a:ln>
        </p:spPr>
      </p:sp>
      <p:sp>
        <p:nvSpPr>
          <p:cNvPr id="15" name="a2_cell14"/>
          <p:cNvSpPr/>
          <p:nvPr/>
        </p:nvSpPr>
        <p:spPr>
          <a:xfrm>
            <a:off x="10753344" y="2093976"/>
            <a:ext cx="804672" cy="804672"/>
          </a:xfrm>
          <a:prstGeom prst="rect">
            <a:avLst/>
          </a:prstGeom>
          <a:solidFill>
            <a:srgbClr val="1B2D78"/>
          </a:solidFill>
          <a:ln w="12700">
            <a:solidFill>
              <a:srgbClr val="1B2D78"/>
            </a:solidFill>
            <a:prstDash val="solid"/>
          </a:ln>
        </p:spPr>
      </p:sp>
      <p:sp>
        <p:nvSpPr>
          <p:cNvPr id="16" name="a3_cell20"/>
          <p:cNvSpPr/>
          <p:nvPr/>
        </p:nvSpPr>
        <p:spPr>
          <a:xfrm>
            <a:off x="7315200" y="2953512"/>
            <a:ext cx="804672" cy="804672"/>
          </a:xfrm>
          <a:prstGeom prst="rect">
            <a:avLst/>
          </a:prstGeom>
          <a:solidFill>
            <a:srgbClr val="CFE6F3"/>
          </a:solidFill>
          <a:ln w="12700">
            <a:solidFill>
              <a:srgbClr val="CFE6F3"/>
            </a:solidFill>
            <a:prstDash val="solid"/>
          </a:ln>
        </p:spPr>
      </p:sp>
      <p:sp>
        <p:nvSpPr>
          <p:cNvPr id="17" name="a3_cell21"/>
          <p:cNvSpPr/>
          <p:nvPr/>
        </p:nvSpPr>
        <p:spPr>
          <a:xfrm>
            <a:off x="8174736" y="2953512"/>
            <a:ext cx="804672" cy="804672"/>
          </a:xfrm>
          <a:prstGeom prst="rect">
            <a:avLst/>
          </a:prstGeom>
          <a:solidFill>
            <a:srgbClr val="7FB5D9"/>
          </a:solidFill>
          <a:ln w="12700">
            <a:solidFill>
              <a:srgbClr val="7FB5D9"/>
            </a:solidFill>
            <a:prstDash val="solid"/>
          </a:ln>
        </p:spPr>
      </p:sp>
      <p:sp>
        <p:nvSpPr>
          <p:cNvPr id="18" name="a3_cell22"/>
          <p:cNvSpPr/>
          <p:nvPr/>
        </p:nvSpPr>
        <p:spPr>
          <a:xfrm>
            <a:off x="9034272" y="2953512"/>
            <a:ext cx="804672" cy="804672"/>
          </a:xfrm>
          <a:prstGeom prst="rect">
            <a:avLst/>
          </a:prstGeom>
          <a:solidFill>
            <a:srgbClr val="7FB5D9"/>
          </a:solidFill>
          <a:ln w="12700">
            <a:solidFill>
              <a:srgbClr val="7FB5D9"/>
            </a:solidFill>
            <a:prstDash val="solid"/>
          </a:ln>
        </p:spPr>
      </p:sp>
      <p:sp>
        <p:nvSpPr>
          <p:cNvPr id="19" name="a3_cell23"/>
          <p:cNvSpPr/>
          <p:nvPr/>
        </p:nvSpPr>
        <p:spPr>
          <a:xfrm>
            <a:off x="9893808" y="2953512"/>
            <a:ext cx="804672" cy="804672"/>
          </a:xfrm>
          <a:prstGeom prst="rect">
            <a:avLst/>
          </a:prstGeom>
          <a:solidFill>
            <a:srgbClr val="3E73B5"/>
          </a:solidFill>
          <a:ln w="12700">
            <a:solidFill>
              <a:srgbClr val="3E73B5"/>
            </a:solidFill>
            <a:prstDash val="solid"/>
          </a:ln>
        </p:spPr>
      </p:sp>
      <p:sp>
        <p:nvSpPr>
          <p:cNvPr id="20" name="a3_cell24"/>
          <p:cNvSpPr/>
          <p:nvPr/>
        </p:nvSpPr>
        <p:spPr>
          <a:xfrm>
            <a:off x="10753344" y="2953512"/>
            <a:ext cx="804672" cy="804672"/>
          </a:xfrm>
          <a:prstGeom prst="rect">
            <a:avLst/>
          </a:prstGeom>
          <a:solidFill>
            <a:srgbClr val="3E73B5"/>
          </a:solidFill>
          <a:ln w="12700">
            <a:solidFill>
              <a:srgbClr val="3E73B5"/>
            </a:solidFill>
            <a:prstDash val="solid"/>
          </a:ln>
        </p:spPr>
      </p:sp>
      <p:sp>
        <p:nvSpPr>
          <p:cNvPr id="21" name="a4_cell30"/>
          <p:cNvSpPr/>
          <p:nvPr/>
        </p:nvSpPr>
        <p:spPr>
          <a:xfrm>
            <a:off x="7315200" y="3813048"/>
            <a:ext cx="804672" cy="804672"/>
          </a:xfrm>
          <a:prstGeom prst="rect">
            <a:avLst/>
          </a:prstGeom>
          <a:solidFill>
            <a:srgbClr val="CFE6F3"/>
          </a:solidFill>
          <a:ln w="12700">
            <a:solidFill>
              <a:srgbClr val="CFE6F3"/>
            </a:solidFill>
            <a:prstDash val="solid"/>
          </a:ln>
        </p:spPr>
      </p:sp>
      <p:sp>
        <p:nvSpPr>
          <p:cNvPr id="22" name="a4_cell31"/>
          <p:cNvSpPr/>
          <p:nvPr/>
        </p:nvSpPr>
        <p:spPr>
          <a:xfrm>
            <a:off x="8174736" y="3813048"/>
            <a:ext cx="804672" cy="804672"/>
          </a:xfrm>
          <a:prstGeom prst="rect">
            <a:avLst/>
          </a:prstGeom>
          <a:solidFill>
            <a:srgbClr val="CFE6F3"/>
          </a:solidFill>
          <a:ln w="12700">
            <a:solidFill>
              <a:srgbClr val="CFE6F3"/>
            </a:solidFill>
            <a:prstDash val="solid"/>
          </a:ln>
        </p:spPr>
      </p:sp>
      <p:sp>
        <p:nvSpPr>
          <p:cNvPr id="23" name="a4_cell32"/>
          <p:cNvSpPr/>
          <p:nvPr/>
        </p:nvSpPr>
        <p:spPr>
          <a:xfrm>
            <a:off x="9034272" y="3813048"/>
            <a:ext cx="804672" cy="804672"/>
          </a:xfrm>
          <a:prstGeom prst="rect">
            <a:avLst/>
          </a:prstGeom>
          <a:solidFill>
            <a:srgbClr val="7FB5D9"/>
          </a:solidFill>
          <a:ln w="12700">
            <a:solidFill>
              <a:srgbClr val="7FB5D9"/>
            </a:solidFill>
            <a:prstDash val="solid"/>
          </a:ln>
        </p:spPr>
      </p:sp>
      <p:sp>
        <p:nvSpPr>
          <p:cNvPr id="24" name="a4_cell33"/>
          <p:cNvSpPr/>
          <p:nvPr/>
        </p:nvSpPr>
        <p:spPr>
          <a:xfrm>
            <a:off x="9893808" y="3813048"/>
            <a:ext cx="804672" cy="804672"/>
          </a:xfrm>
          <a:prstGeom prst="rect">
            <a:avLst/>
          </a:prstGeom>
          <a:solidFill>
            <a:srgbClr val="7FB5D9"/>
          </a:solidFill>
          <a:ln w="12700">
            <a:solidFill>
              <a:srgbClr val="7FB5D9"/>
            </a:solidFill>
            <a:prstDash val="solid"/>
          </a:ln>
        </p:spPr>
      </p:sp>
      <p:sp>
        <p:nvSpPr>
          <p:cNvPr id="25" name="a4_cell34"/>
          <p:cNvSpPr/>
          <p:nvPr/>
        </p:nvSpPr>
        <p:spPr>
          <a:xfrm>
            <a:off x="10753344" y="3813048"/>
            <a:ext cx="804672" cy="804672"/>
          </a:xfrm>
          <a:prstGeom prst="rect">
            <a:avLst/>
          </a:prstGeom>
          <a:solidFill>
            <a:srgbClr val="7FB5D9"/>
          </a:solidFill>
          <a:ln w="12700">
            <a:solidFill>
              <a:srgbClr val="7FB5D9"/>
            </a:solidFill>
            <a:prstDash val="solid"/>
          </a:ln>
        </p:spPr>
      </p:sp>
      <p:sp>
        <p:nvSpPr>
          <p:cNvPr id="26" name="a5_cell40"/>
          <p:cNvSpPr/>
          <p:nvPr/>
        </p:nvSpPr>
        <p:spPr>
          <a:xfrm>
            <a:off x="7315200" y="4672584"/>
            <a:ext cx="804672" cy="804672"/>
          </a:xfrm>
          <a:prstGeom prst="rect">
            <a:avLst/>
          </a:prstGeom>
          <a:solidFill>
            <a:srgbClr val="CFE6F3"/>
          </a:solidFill>
          <a:ln w="12700">
            <a:solidFill>
              <a:srgbClr val="CFE6F3"/>
            </a:solidFill>
            <a:prstDash val="solid"/>
          </a:ln>
        </p:spPr>
      </p:sp>
      <p:sp>
        <p:nvSpPr>
          <p:cNvPr id="27" name="a5_cell41"/>
          <p:cNvSpPr/>
          <p:nvPr/>
        </p:nvSpPr>
        <p:spPr>
          <a:xfrm>
            <a:off x="8174736" y="4672584"/>
            <a:ext cx="804672" cy="804672"/>
          </a:xfrm>
          <a:prstGeom prst="rect">
            <a:avLst/>
          </a:prstGeom>
          <a:solidFill>
            <a:srgbClr val="CFE6F3"/>
          </a:solidFill>
          <a:ln w="12700">
            <a:solidFill>
              <a:srgbClr val="CFE6F3"/>
            </a:solidFill>
            <a:prstDash val="solid"/>
          </a:ln>
        </p:spPr>
      </p:sp>
      <p:sp>
        <p:nvSpPr>
          <p:cNvPr id="28" name="a5_cell42"/>
          <p:cNvSpPr/>
          <p:nvPr/>
        </p:nvSpPr>
        <p:spPr>
          <a:xfrm>
            <a:off x="9034272" y="4672584"/>
            <a:ext cx="804672" cy="804672"/>
          </a:xfrm>
          <a:prstGeom prst="rect">
            <a:avLst/>
          </a:prstGeom>
          <a:solidFill>
            <a:srgbClr val="CFE6F3"/>
          </a:solidFill>
          <a:ln w="12700">
            <a:solidFill>
              <a:srgbClr val="CFE6F3"/>
            </a:solidFill>
            <a:prstDash val="solid"/>
          </a:ln>
        </p:spPr>
      </p:sp>
      <p:sp>
        <p:nvSpPr>
          <p:cNvPr id="29" name="a5_cell43"/>
          <p:cNvSpPr/>
          <p:nvPr/>
        </p:nvSpPr>
        <p:spPr>
          <a:xfrm>
            <a:off x="9893808" y="4672584"/>
            <a:ext cx="804672" cy="804672"/>
          </a:xfrm>
          <a:prstGeom prst="rect">
            <a:avLst/>
          </a:prstGeom>
          <a:solidFill>
            <a:srgbClr val="CFE6F3"/>
          </a:solidFill>
          <a:ln w="12700">
            <a:solidFill>
              <a:srgbClr val="CFE6F3"/>
            </a:solidFill>
            <a:prstDash val="solid"/>
          </a:ln>
        </p:spPr>
      </p:sp>
      <p:sp>
        <p:nvSpPr>
          <p:cNvPr id="30" name="a5_cell44"/>
          <p:cNvSpPr/>
          <p:nvPr/>
        </p:nvSpPr>
        <p:spPr>
          <a:xfrm>
            <a:off x="10753344" y="4672584"/>
            <a:ext cx="804672" cy="804672"/>
          </a:xfrm>
          <a:prstGeom prst="rect">
            <a:avLst/>
          </a:prstGeom>
          <a:solidFill>
            <a:srgbClr val="CFE6F3"/>
          </a:solidFill>
          <a:ln w="12700">
            <a:solidFill>
              <a:srgbClr val="CFE6F3"/>
            </a:solidFill>
            <a:prstDash val="solid"/>
          </a:ln>
        </p:spPr>
      </p:sp>
      <p:sp>
        <p:nvSpPr>
          <p:cNvPr id="31" name="a6_chip1"/>
          <p:cNvSpPr/>
          <p:nvPr/>
        </p:nvSpPr>
        <p:spPr>
          <a:xfrm>
            <a:off x="10954512" y="3154680"/>
            <a:ext cx="402336" cy="402336"/>
          </a:xfrm>
          <a:prstGeom prst="ellipse">
            <a:avLst/>
          </a:prstGeom>
          <a:solidFill>
            <a:srgbClr val="19B5C8"/>
          </a:solidFill>
          <a:ln w="12700">
            <a:solidFill>
              <a:srgbClr val="19B5C8"/>
            </a:solidFill>
            <a:prstDash val="solid"/>
          </a:ln>
        </p:spPr>
      </p:sp>
      <p:sp>
        <p:nvSpPr>
          <p:cNvPr id="32" name="a6_cap"/>
          <p:cNvSpPr txBox="1"/>
          <p:nvPr/>
        </p:nvSpPr>
        <p:spPr>
          <a:xfrm>
            <a:off x="7315200" y="5623560"/>
            <a:ext cx="4389120" cy="365760"/>
          </a:xfrm>
          <a:prstGeom prst="rect">
            <a:avLst/>
          </a:prstGeom>
          <a:noFill/>
          <a:ln/>
        </p:spPr>
        <p:txBody>
          <a:bodyPr wrap="square" lIns="0" tIns="0" rIns="0" bIns="0" rtlCol="0" anchor="t"/>
          <a:lstStyle/>
          <a:p>
            <a:pPr indent="0" marL="0">
              <a:buNone/>
            </a:pPr>
            <a:r>
              <a:rPr lang="en-US" sz="1400" i="1" dirty="0">
                <a:solidFill>
                  <a:srgbClr val="A9C7E0"/>
                </a:solidFill>
                <a:latin typeface="Calibri" pitchFamily="34" charset="0"/>
                <a:ea typeface="Calibri" pitchFamily="34" charset="-122"/>
                <a:cs typeface="Calibri" pitchFamily="34" charset="-120"/>
              </a:rPr>
              <a:t>ordinal levels, every number with a Source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0"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5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5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50"/>
                                        <p:tgtEl>
                                          <p:spTgt spid="15"/>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5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50"/>
                                        <p:tgtEl>
                                          <p:spTgt spid="20"/>
                                        </p:tgtEl>
                                      </p:cBhvr>
                                    </p:animEffect>
                                  </p:childTnLst>
                                </p:cTn>
                              </p:par>
                            </p:childTnLst>
                          </p:cTn>
                        </p:par>
                        <p:par>
                          <p:cTn id="66"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50"/>
                                        <p:tgtEl>
                                          <p:spTgt spid="2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2" fill="hold">
                            <p:stCondLst>
                              <p:cond delay="1520"/>
                            </p:stCondLst>
                            <p:childTnLst>
                              <p:par>
                                <p:cTn id="67" presetID="10" presetClass="entr" presetSubtype="0"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450"/>
                                        <p:tgtEl>
                                          <p:spTgt spid="2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450"/>
                                        <p:tgtEl>
                                          <p:spTgt spid="2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childTnLst>
                          </p:cTn>
                        </p:par>
                        <p:par>
                          <p:cTn id="89" fill="hold">
                            <p:stCondLst>
                              <p:cond delay="1900"/>
                            </p:stCondLst>
                            <p:childTnLst>
                              <p:par>
                                <p:cTn id="83" presetID="10" presetClass="entr" presetSubtype="0" fill="hold" grpId="0" nodeType="after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450"/>
                                        <p:tgtEl>
                                          <p:spTgt spid="3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4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What this presentation covers</a:t>
            </a:r>
            <a:endParaRPr lang="en-US" sz="3200" dirty="0"/>
          </a:p>
        </p:txBody>
      </p:sp>
      <p:sp>
        <p:nvSpPr>
          <p:cNvPr id="4" name="a1_card"/>
          <p:cNvSpPr/>
          <p:nvPr/>
        </p:nvSpPr>
        <p:spPr>
          <a:xfrm>
            <a:off x="548640" y="1508760"/>
            <a:ext cx="3520440" cy="2057400"/>
          </a:xfrm>
          <a:prstGeom prst="roundRect">
            <a:avLst>
              <a:gd name="adj" fmla="val 4444"/>
            </a:avLst>
          </a:prstGeom>
          <a:solidFill>
            <a:srgbClr val="EFF5FA"/>
          </a:solidFill>
          <a:ln w="12700">
            <a:solidFill>
              <a:srgbClr val="B9CFE3"/>
            </a:solidFill>
            <a:prstDash val="solid"/>
          </a:ln>
        </p:spPr>
      </p:sp>
      <p:sp>
        <p:nvSpPr>
          <p:cNvPr id="5" name="a1_nc"/>
          <p:cNvSpPr/>
          <p:nvPr/>
        </p:nvSpPr>
        <p:spPr>
          <a:xfrm>
            <a:off x="777240" y="1737360"/>
            <a:ext cx="640080" cy="640080"/>
          </a:xfrm>
          <a:prstGeom prst="ellipse">
            <a:avLst/>
          </a:prstGeom>
          <a:solidFill>
            <a:srgbClr val="173F6B"/>
          </a:solidFill>
          <a:ln w="12700">
            <a:solidFill>
              <a:srgbClr val="173F6B"/>
            </a:solidFill>
            <a:prstDash val="solid"/>
          </a:ln>
        </p:spPr>
      </p:sp>
      <p:sp>
        <p:nvSpPr>
          <p:cNvPr id="6" name="a1_nt"/>
          <p:cNvSpPr txBox="1"/>
          <p:nvPr/>
        </p:nvSpPr>
        <p:spPr>
          <a:xfrm>
            <a:off x="777240" y="17373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1</a:t>
            </a:r>
            <a:endParaRPr lang="en-US" sz="2400" dirty="0"/>
          </a:p>
        </p:txBody>
      </p:sp>
      <p:sp>
        <p:nvSpPr>
          <p:cNvPr id="7" name="a1_h"/>
          <p:cNvSpPr txBox="1"/>
          <p:nvPr/>
        </p:nvSpPr>
        <p:spPr>
          <a:xfrm>
            <a:off x="777240" y="2468880"/>
            <a:ext cx="310896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Why we changed course</a:t>
            </a:r>
            <a:endParaRPr lang="en-US" sz="2100" dirty="0"/>
          </a:p>
        </p:txBody>
      </p:sp>
      <p:sp>
        <p:nvSpPr>
          <p:cNvPr id="8" name="a1_d"/>
          <p:cNvSpPr txBox="1"/>
          <p:nvPr/>
        </p:nvSpPr>
        <p:spPr>
          <a:xfrm>
            <a:off x="777240" y="2926080"/>
            <a:ext cx="3108960" cy="548640"/>
          </a:xfrm>
          <a:prstGeom prst="rect">
            <a:avLst/>
          </a:prstGeom>
          <a:noFill/>
          <a:ln/>
        </p:spPr>
        <p:txBody>
          <a:bodyPr wrap="square" lIns="0" tIns="0" rIns="0" bIns="0" rtlCol="0" anchor="t"/>
          <a:lstStyle/>
          <a:p>
            <a:pPr indent="0" marL="0">
              <a:buNone/>
            </a:pPr>
            <a:r>
              <a:rPr lang="en-US" sz="1500" dirty="0">
                <a:solidFill>
                  <a:srgbClr val="55708A"/>
                </a:solidFill>
                <a:latin typeface="Calibri" pitchFamily="34" charset="0"/>
                <a:ea typeface="Calibri" pitchFamily="34" charset="-122"/>
                <a:cs typeface="Calibri" pitchFamily="34" charset="-120"/>
              </a:rPr>
              <a:t>Prediction model to risk-based framework</a:t>
            </a:r>
            <a:endParaRPr lang="en-US" sz="1500" dirty="0"/>
          </a:p>
        </p:txBody>
      </p:sp>
      <p:sp>
        <p:nvSpPr>
          <p:cNvPr id="9" name="a2_card"/>
          <p:cNvSpPr/>
          <p:nvPr/>
        </p:nvSpPr>
        <p:spPr>
          <a:xfrm>
            <a:off x="4297680" y="1508760"/>
            <a:ext cx="3520440" cy="2057400"/>
          </a:xfrm>
          <a:prstGeom prst="roundRect">
            <a:avLst>
              <a:gd name="adj" fmla="val 4444"/>
            </a:avLst>
          </a:prstGeom>
          <a:solidFill>
            <a:srgbClr val="DCEAF6"/>
          </a:solidFill>
          <a:ln w="12700">
            <a:solidFill>
              <a:srgbClr val="B9CFE3"/>
            </a:solidFill>
            <a:prstDash val="solid"/>
          </a:ln>
        </p:spPr>
      </p:sp>
      <p:sp>
        <p:nvSpPr>
          <p:cNvPr id="10" name="a2_nc"/>
          <p:cNvSpPr/>
          <p:nvPr/>
        </p:nvSpPr>
        <p:spPr>
          <a:xfrm>
            <a:off x="4526280" y="1737360"/>
            <a:ext cx="640080" cy="640080"/>
          </a:xfrm>
          <a:prstGeom prst="ellipse">
            <a:avLst/>
          </a:prstGeom>
          <a:solidFill>
            <a:srgbClr val="2F6C9A"/>
          </a:solidFill>
          <a:ln w="12700">
            <a:solidFill>
              <a:srgbClr val="2F6C9A"/>
            </a:solidFill>
            <a:prstDash val="solid"/>
          </a:ln>
        </p:spPr>
      </p:sp>
      <p:sp>
        <p:nvSpPr>
          <p:cNvPr id="11" name="a2_nt"/>
          <p:cNvSpPr txBox="1"/>
          <p:nvPr/>
        </p:nvSpPr>
        <p:spPr>
          <a:xfrm>
            <a:off x="4526280" y="17373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2</a:t>
            </a:r>
            <a:endParaRPr lang="en-US" sz="2400" dirty="0"/>
          </a:p>
        </p:txBody>
      </p:sp>
      <p:sp>
        <p:nvSpPr>
          <p:cNvPr id="12" name="a2_h"/>
          <p:cNvSpPr txBox="1"/>
          <p:nvPr/>
        </p:nvSpPr>
        <p:spPr>
          <a:xfrm>
            <a:off x="4526280" y="2468880"/>
            <a:ext cx="310896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Method and basics</a:t>
            </a:r>
            <a:endParaRPr lang="en-US" sz="2100" dirty="0"/>
          </a:p>
        </p:txBody>
      </p:sp>
      <p:sp>
        <p:nvSpPr>
          <p:cNvPr id="13" name="a2_d"/>
          <p:cNvSpPr txBox="1"/>
          <p:nvPr/>
        </p:nvSpPr>
        <p:spPr>
          <a:xfrm>
            <a:off x="4526280" y="2926080"/>
            <a:ext cx="3108960" cy="548640"/>
          </a:xfrm>
          <a:prstGeom prst="rect">
            <a:avLst/>
          </a:prstGeom>
          <a:noFill/>
          <a:ln/>
        </p:spPr>
        <p:txBody>
          <a:bodyPr wrap="square" lIns="0" tIns="0" rIns="0" bIns="0" rtlCol="0" anchor="t"/>
          <a:lstStyle/>
          <a:p>
            <a:pPr indent="0" marL="0">
              <a:buNone/>
            </a:pPr>
            <a:r>
              <a:rPr lang="en-US" sz="1500" dirty="0">
                <a:solidFill>
                  <a:srgbClr val="55708A"/>
                </a:solidFill>
                <a:latin typeface="Calibri" pitchFamily="34" charset="0"/>
                <a:ea typeface="Calibri" pitchFamily="34" charset="-122"/>
                <a:cs typeface="Calibri" pitchFamily="34" charset="-120"/>
              </a:rPr>
              <a:t>Pipeline, concepts, evidence base</a:t>
            </a:r>
            <a:endParaRPr lang="en-US" sz="1500" dirty="0"/>
          </a:p>
        </p:txBody>
      </p:sp>
      <p:sp>
        <p:nvSpPr>
          <p:cNvPr id="14" name="a3_card"/>
          <p:cNvSpPr/>
          <p:nvPr/>
        </p:nvSpPr>
        <p:spPr>
          <a:xfrm>
            <a:off x="8046720" y="1508760"/>
            <a:ext cx="3520440" cy="2057400"/>
          </a:xfrm>
          <a:prstGeom prst="roundRect">
            <a:avLst>
              <a:gd name="adj" fmla="val 4444"/>
            </a:avLst>
          </a:prstGeom>
          <a:solidFill>
            <a:srgbClr val="EFF5FA"/>
          </a:solidFill>
          <a:ln w="12700">
            <a:solidFill>
              <a:srgbClr val="B9CFE3"/>
            </a:solidFill>
            <a:prstDash val="solid"/>
          </a:ln>
        </p:spPr>
      </p:sp>
      <p:sp>
        <p:nvSpPr>
          <p:cNvPr id="15" name="a3_nc"/>
          <p:cNvSpPr/>
          <p:nvPr/>
        </p:nvSpPr>
        <p:spPr>
          <a:xfrm>
            <a:off x="8275320" y="1737360"/>
            <a:ext cx="640080" cy="640080"/>
          </a:xfrm>
          <a:prstGeom prst="ellipse">
            <a:avLst/>
          </a:prstGeom>
          <a:solidFill>
            <a:srgbClr val="173F6B"/>
          </a:solidFill>
          <a:ln w="12700">
            <a:solidFill>
              <a:srgbClr val="173F6B"/>
            </a:solidFill>
            <a:prstDash val="solid"/>
          </a:ln>
        </p:spPr>
      </p:sp>
      <p:sp>
        <p:nvSpPr>
          <p:cNvPr id="16" name="a3_nt"/>
          <p:cNvSpPr txBox="1"/>
          <p:nvPr/>
        </p:nvSpPr>
        <p:spPr>
          <a:xfrm>
            <a:off x="8275320" y="17373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3</a:t>
            </a:r>
            <a:endParaRPr lang="en-US" sz="2400" dirty="0"/>
          </a:p>
        </p:txBody>
      </p:sp>
      <p:sp>
        <p:nvSpPr>
          <p:cNvPr id="17" name="a3_h"/>
          <p:cNvSpPr txBox="1"/>
          <p:nvPr/>
        </p:nvSpPr>
        <p:spPr>
          <a:xfrm>
            <a:off x="8275320" y="2468880"/>
            <a:ext cx="310896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Worked calculations</a:t>
            </a:r>
            <a:endParaRPr lang="en-US" sz="2100" dirty="0"/>
          </a:p>
        </p:txBody>
      </p:sp>
      <p:sp>
        <p:nvSpPr>
          <p:cNvPr id="18" name="a3_d"/>
          <p:cNvSpPr txBox="1"/>
          <p:nvPr/>
        </p:nvSpPr>
        <p:spPr>
          <a:xfrm>
            <a:off x="8275320" y="2926080"/>
            <a:ext cx="3108960" cy="548640"/>
          </a:xfrm>
          <a:prstGeom prst="rect">
            <a:avLst/>
          </a:prstGeom>
          <a:noFill/>
          <a:ln/>
        </p:spPr>
        <p:txBody>
          <a:bodyPr wrap="square" lIns="0" tIns="0" rIns="0" bIns="0" rtlCol="0" anchor="t"/>
          <a:lstStyle/>
          <a:p>
            <a:pPr indent="0" marL="0">
              <a:buNone/>
            </a:pPr>
            <a:r>
              <a:rPr lang="en-US" sz="1500" dirty="0">
                <a:solidFill>
                  <a:srgbClr val="55708A"/>
                </a:solidFill>
                <a:latin typeface="Calibri" pitchFamily="34" charset="0"/>
                <a:ea typeface="Calibri" pitchFamily="34" charset="-122"/>
                <a:cs typeface="Calibri" pitchFamily="34" charset="-120"/>
              </a:rPr>
              <a:t>RII, seed tier, rules, PERT, matrix, statistics, EMV</a:t>
            </a:r>
            <a:endParaRPr lang="en-US" sz="1500" dirty="0"/>
          </a:p>
        </p:txBody>
      </p:sp>
      <p:sp>
        <p:nvSpPr>
          <p:cNvPr id="19" name="a4_card"/>
          <p:cNvSpPr/>
          <p:nvPr/>
        </p:nvSpPr>
        <p:spPr>
          <a:xfrm>
            <a:off x="548640" y="3840480"/>
            <a:ext cx="3520440" cy="2057400"/>
          </a:xfrm>
          <a:prstGeom prst="roundRect">
            <a:avLst>
              <a:gd name="adj" fmla="val 4444"/>
            </a:avLst>
          </a:prstGeom>
          <a:solidFill>
            <a:srgbClr val="DCEAF6"/>
          </a:solidFill>
          <a:ln w="12700">
            <a:solidFill>
              <a:srgbClr val="B9CFE3"/>
            </a:solidFill>
            <a:prstDash val="solid"/>
          </a:ln>
        </p:spPr>
      </p:sp>
      <p:sp>
        <p:nvSpPr>
          <p:cNvPr id="20" name="a4_nc"/>
          <p:cNvSpPr/>
          <p:nvPr/>
        </p:nvSpPr>
        <p:spPr>
          <a:xfrm>
            <a:off x="777240" y="4069080"/>
            <a:ext cx="640080" cy="640080"/>
          </a:xfrm>
          <a:prstGeom prst="ellipse">
            <a:avLst/>
          </a:prstGeom>
          <a:solidFill>
            <a:srgbClr val="2F6C9A"/>
          </a:solidFill>
          <a:ln w="12700">
            <a:solidFill>
              <a:srgbClr val="2F6C9A"/>
            </a:solidFill>
            <a:prstDash val="solid"/>
          </a:ln>
        </p:spPr>
      </p:sp>
      <p:sp>
        <p:nvSpPr>
          <p:cNvPr id="21" name="a4_nt"/>
          <p:cNvSpPr txBox="1"/>
          <p:nvPr/>
        </p:nvSpPr>
        <p:spPr>
          <a:xfrm>
            <a:off x="777240" y="40690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4</a:t>
            </a:r>
            <a:endParaRPr lang="en-US" sz="2400" dirty="0"/>
          </a:p>
        </p:txBody>
      </p:sp>
      <p:sp>
        <p:nvSpPr>
          <p:cNvPr id="22" name="a4_h"/>
          <p:cNvSpPr txBox="1"/>
          <p:nvPr/>
        </p:nvSpPr>
        <p:spPr>
          <a:xfrm>
            <a:off x="777240" y="4800600"/>
            <a:ext cx="310896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How it was built</a:t>
            </a:r>
            <a:endParaRPr lang="en-US" sz="2100" dirty="0"/>
          </a:p>
        </p:txBody>
      </p:sp>
      <p:sp>
        <p:nvSpPr>
          <p:cNvPr id="23" name="a4_d"/>
          <p:cNvSpPr txBox="1"/>
          <p:nvPr/>
        </p:nvSpPr>
        <p:spPr>
          <a:xfrm>
            <a:off x="777240" y="5257800"/>
            <a:ext cx="3108960" cy="548640"/>
          </a:xfrm>
          <a:prstGeom prst="rect">
            <a:avLst/>
          </a:prstGeom>
          <a:noFill/>
          <a:ln/>
        </p:spPr>
        <p:txBody>
          <a:bodyPr wrap="square" lIns="0" tIns="0" rIns="0" bIns="0" rtlCol="0" anchor="t"/>
          <a:lstStyle/>
          <a:p>
            <a:pPr indent="0" marL="0">
              <a:buNone/>
            </a:pPr>
            <a:r>
              <a:rPr lang="en-US" sz="1500" dirty="0">
                <a:solidFill>
                  <a:srgbClr val="55708A"/>
                </a:solidFill>
                <a:latin typeface="Calibri" pitchFamily="34" charset="0"/>
                <a:ea typeface="Calibri" pitchFamily="34" charset="-122"/>
                <a:cs typeface="Calibri" pitchFamily="34" charset="-120"/>
              </a:rPr>
              <a:t>Libraries, architecture, code, AI guardrails</a:t>
            </a:r>
            <a:endParaRPr lang="en-US" sz="1500" dirty="0"/>
          </a:p>
        </p:txBody>
      </p:sp>
      <p:sp>
        <p:nvSpPr>
          <p:cNvPr id="24" name="a5_card"/>
          <p:cNvSpPr/>
          <p:nvPr/>
        </p:nvSpPr>
        <p:spPr>
          <a:xfrm>
            <a:off x="4297680" y="3840480"/>
            <a:ext cx="3520440" cy="2057400"/>
          </a:xfrm>
          <a:prstGeom prst="roundRect">
            <a:avLst>
              <a:gd name="adj" fmla="val 4444"/>
            </a:avLst>
          </a:prstGeom>
          <a:solidFill>
            <a:srgbClr val="EFF5FA"/>
          </a:solidFill>
          <a:ln w="12700">
            <a:solidFill>
              <a:srgbClr val="B9CFE3"/>
            </a:solidFill>
            <a:prstDash val="solid"/>
          </a:ln>
        </p:spPr>
      </p:sp>
      <p:sp>
        <p:nvSpPr>
          <p:cNvPr id="25" name="a5_nc"/>
          <p:cNvSpPr/>
          <p:nvPr/>
        </p:nvSpPr>
        <p:spPr>
          <a:xfrm>
            <a:off x="4526280" y="4069080"/>
            <a:ext cx="640080" cy="640080"/>
          </a:xfrm>
          <a:prstGeom prst="ellipse">
            <a:avLst/>
          </a:prstGeom>
          <a:solidFill>
            <a:srgbClr val="173F6B"/>
          </a:solidFill>
          <a:ln w="12700">
            <a:solidFill>
              <a:srgbClr val="173F6B"/>
            </a:solidFill>
            <a:prstDash val="solid"/>
          </a:ln>
        </p:spPr>
      </p:sp>
      <p:sp>
        <p:nvSpPr>
          <p:cNvPr id="26" name="a5_nt"/>
          <p:cNvSpPr txBox="1"/>
          <p:nvPr/>
        </p:nvSpPr>
        <p:spPr>
          <a:xfrm>
            <a:off x="4526280" y="40690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5</a:t>
            </a:r>
            <a:endParaRPr lang="en-US" sz="2400" dirty="0"/>
          </a:p>
        </p:txBody>
      </p:sp>
      <p:sp>
        <p:nvSpPr>
          <p:cNvPr id="27" name="a5_h"/>
          <p:cNvSpPr txBox="1"/>
          <p:nvPr/>
        </p:nvSpPr>
        <p:spPr>
          <a:xfrm>
            <a:off x="4526280" y="4800600"/>
            <a:ext cx="310896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Checked and audited</a:t>
            </a:r>
            <a:endParaRPr lang="en-US" sz="2100" dirty="0"/>
          </a:p>
        </p:txBody>
      </p:sp>
      <p:sp>
        <p:nvSpPr>
          <p:cNvPr id="28" name="a5_d"/>
          <p:cNvSpPr txBox="1"/>
          <p:nvPr/>
        </p:nvSpPr>
        <p:spPr>
          <a:xfrm>
            <a:off x="4526280" y="5257800"/>
            <a:ext cx="3108960" cy="548640"/>
          </a:xfrm>
          <a:prstGeom prst="rect">
            <a:avLst/>
          </a:prstGeom>
          <a:noFill/>
          <a:ln/>
        </p:spPr>
        <p:txBody>
          <a:bodyPr wrap="square" lIns="0" tIns="0" rIns="0" bIns="0" rtlCol="0" anchor="t"/>
          <a:lstStyle/>
          <a:p>
            <a:pPr indent="0" marL="0">
              <a:buNone/>
            </a:pPr>
            <a:r>
              <a:rPr lang="en-US" sz="1500" dirty="0">
                <a:solidFill>
                  <a:srgbClr val="55708A"/>
                </a:solidFill>
                <a:latin typeface="Calibri" pitchFamily="34" charset="0"/>
                <a:ea typeface="Calibri" pitchFamily="34" charset="-122"/>
                <a:cs typeface="Calibri" pitchFamily="34" charset="-120"/>
              </a:rPr>
              <a:t>Tests, audit findings, clean-up</a:t>
            </a:r>
            <a:endParaRPr lang="en-US" sz="1500" dirty="0"/>
          </a:p>
        </p:txBody>
      </p:sp>
      <p:sp>
        <p:nvSpPr>
          <p:cNvPr id="29" name="a6_card"/>
          <p:cNvSpPr/>
          <p:nvPr/>
        </p:nvSpPr>
        <p:spPr>
          <a:xfrm>
            <a:off x="8046720" y="3840480"/>
            <a:ext cx="3520440" cy="2057400"/>
          </a:xfrm>
          <a:prstGeom prst="roundRect">
            <a:avLst>
              <a:gd name="adj" fmla="val 4444"/>
            </a:avLst>
          </a:prstGeom>
          <a:solidFill>
            <a:srgbClr val="DCEAF6"/>
          </a:solidFill>
          <a:ln w="12700">
            <a:solidFill>
              <a:srgbClr val="B9CFE3"/>
            </a:solidFill>
            <a:prstDash val="solid"/>
          </a:ln>
        </p:spPr>
      </p:sp>
      <p:sp>
        <p:nvSpPr>
          <p:cNvPr id="30" name="a6_nc"/>
          <p:cNvSpPr/>
          <p:nvPr/>
        </p:nvSpPr>
        <p:spPr>
          <a:xfrm>
            <a:off x="8275320" y="4069080"/>
            <a:ext cx="640080" cy="640080"/>
          </a:xfrm>
          <a:prstGeom prst="ellipse">
            <a:avLst/>
          </a:prstGeom>
          <a:solidFill>
            <a:srgbClr val="2F6C9A"/>
          </a:solidFill>
          <a:ln w="12700">
            <a:solidFill>
              <a:srgbClr val="2F6C9A"/>
            </a:solidFill>
            <a:prstDash val="solid"/>
          </a:ln>
        </p:spPr>
      </p:sp>
      <p:sp>
        <p:nvSpPr>
          <p:cNvPr id="31" name="a6_nt"/>
          <p:cNvSpPr txBox="1"/>
          <p:nvPr/>
        </p:nvSpPr>
        <p:spPr>
          <a:xfrm>
            <a:off x="8275320" y="40690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6</a:t>
            </a:r>
            <a:endParaRPr lang="en-US" sz="2400" dirty="0"/>
          </a:p>
        </p:txBody>
      </p:sp>
      <p:sp>
        <p:nvSpPr>
          <p:cNvPr id="32" name="a6_h"/>
          <p:cNvSpPr txBox="1"/>
          <p:nvPr/>
        </p:nvSpPr>
        <p:spPr>
          <a:xfrm>
            <a:off x="8275320" y="4800600"/>
            <a:ext cx="310896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Demo and next step</a:t>
            </a:r>
            <a:endParaRPr lang="en-US" sz="2100" dirty="0"/>
          </a:p>
        </p:txBody>
      </p:sp>
      <p:sp>
        <p:nvSpPr>
          <p:cNvPr id="33" name="a6_d"/>
          <p:cNvSpPr txBox="1"/>
          <p:nvPr/>
        </p:nvSpPr>
        <p:spPr>
          <a:xfrm>
            <a:off x="8275320" y="5257800"/>
            <a:ext cx="3108960" cy="548640"/>
          </a:xfrm>
          <a:prstGeom prst="rect">
            <a:avLst/>
          </a:prstGeom>
          <a:noFill/>
          <a:ln/>
        </p:spPr>
        <p:txBody>
          <a:bodyPr wrap="square" lIns="0" tIns="0" rIns="0" bIns="0" rtlCol="0" anchor="t"/>
          <a:lstStyle/>
          <a:p>
            <a:pPr indent="0" marL="0">
              <a:buNone/>
            </a:pPr>
            <a:r>
              <a:rPr lang="en-US" sz="1500" dirty="0">
                <a:solidFill>
                  <a:srgbClr val="55708A"/>
                </a:solidFill>
                <a:latin typeface="Calibri" pitchFamily="34" charset="0"/>
                <a:ea typeface="Calibri" pitchFamily="34" charset="-122"/>
                <a:cs typeface="Calibri" pitchFamily="34" charset="-120"/>
              </a:rPr>
              <a:t>Live tool, then the site-data baseline</a:t>
            </a:r>
            <a:endParaRPr lang="en-US" sz="15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childTnLst>
                          </p:cTn>
                        </p:par>
                        <p:par>
                          <p:cTn id="66"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childTnLst>
                          </p:cTn>
                        </p:par>
                        <p:par>
                          <p:cTn id="82" fill="hold">
                            <p:stCondLst>
                              <p:cond delay="152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5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450"/>
                                        <p:tgtEl>
                                          <p:spTgt spid="28"/>
                                        </p:tgtEl>
                                      </p:cBhvr>
                                    </p:animEffect>
                                  </p:childTnLst>
                                </p:cTn>
                              </p:par>
                            </p:childTnLst>
                          </p:cTn>
                        </p:par>
                        <p:par>
                          <p:cTn id="98" fill="hold">
                            <p:stCondLst>
                              <p:cond delay="1900"/>
                            </p:stCondLst>
                            <p:childTnLst>
                              <p:par>
                                <p:cTn id="83" presetID="10"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50"/>
                                        <p:tgtEl>
                                          <p:spTgt spid="3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50"/>
                                        <p:tgtEl>
                                          <p:spTgt spid="3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The problem we set out to solve</a:t>
            </a:r>
            <a:endParaRPr lang="en-US" sz="3200" dirty="0"/>
          </a:p>
        </p:txBody>
      </p:sp>
      <p:sp>
        <p:nvSpPr>
          <p:cNvPr id="4" name="a1_card"/>
          <p:cNvSpPr/>
          <p:nvPr/>
        </p:nvSpPr>
        <p:spPr>
          <a:xfrm>
            <a:off x="4434840" y="731520"/>
            <a:ext cx="7178040" cy="1417320"/>
          </a:xfrm>
          <a:prstGeom prst="roundRect">
            <a:avLst>
              <a:gd name="adj" fmla="val 6452"/>
            </a:avLst>
          </a:prstGeom>
          <a:solidFill>
            <a:srgbClr val="FFFFFF"/>
          </a:solidFill>
          <a:ln w="12700">
            <a:solidFill>
              <a:srgbClr val="B9CFE3"/>
            </a:solidFill>
            <a:prstDash val="solid"/>
          </a:ln>
        </p:spPr>
      </p:sp>
      <p:sp>
        <p:nvSpPr>
          <p:cNvPr id="5" name="a1_nc"/>
          <p:cNvSpPr/>
          <p:nvPr/>
        </p:nvSpPr>
        <p:spPr>
          <a:xfrm>
            <a:off x="4617720" y="1143000"/>
            <a:ext cx="594360" cy="594360"/>
          </a:xfrm>
          <a:prstGeom prst="ellipse">
            <a:avLst/>
          </a:prstGeom>
          <a:solidFill>
            <a:srgbClr val="2F6C9A"/>
          </a:solidFill>
          <a:ln w="12700">
            <a:solidFill>
              <a:srgbClr val="2F6C9A"/>
            </a:solidFill>
            <a:prstDash val="solid"/>
          </a:ln>
        </p:spPr>
      </p:sp>
      <p:sp>
        <p:nvSpPr>
          <p:cNvPr id="6" name="a1_nt"/>
          <p:cNvSpPr txBox="1"/>
          <p:nvPr/>
        </p:nvSpPr>
        <p:spPr>
          <a:xfrm>
            <a:off x="4617720" y="11430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1</a:t>
            </a:r>
            <a:endParaRPr lang="en-US" sz="2200" dirty="0"/>
          </a:p>
        </p:txBody>
      </p:sp>
      <p:sp>
        <p:nvSpPr>
          <p:cNvPr id="7" name="a1_h"/>
          <p:cNvSpPr txBox="1"/>
          <p:nvPr/>
        </p:nvSpPr>
        <p:spPr>
          <a:xfrm>
            <a:off x="5440680" y="868680"/>
            <a:ext cx="5943600" cy="365760"/>
          </a:xfrm>
          <a:prstGeom prst="rect">
            <a:avLst/>
          </a:prstGeom>
          <a:noFill/>
          <a:ln/>
        </p:spPr>
        <p:txBody>
          <a:bodyPr wrap="square" lIns="0" tIns="0" rIns="0" bIns="0" rtlCol="0" anchor="t"/>
          <a:lstStyle/>
          <a:p>
            <a:pPr indent="0" marL="0">
              <a:buNone/>
            </a:pPr>
            <a:r>
              <a:rPr lang="en-US" sz="1900" b="1" dirty="0">
                <a:solidFill>
                  <a:srgbClr val="12233B"/>
                </a:solidFill>
                <a:latin typeface="Times New Roman" pitchFamily="34" charset="0"/>
                <a:ea typeface="Times New Roman" pitchFamily="34" charset="-122"/>
                <a:cs typeface="Times New Roman" pitchFamily="34" charset="-120"/>
              </a:rPr>
              <a:t>Many causes</a:t>
            </a:r>
            <a:endParaRPr lang="en-US" sz="1900" dirty="0"/>
          </a:p>
        </p:txBody>
      </p:sp>
      <p:sp>
        <p:nvSpPr>
          <p:cNvPr id="8" name="a1_d"/>
          <p:cNvSpPr txBox="1"/>
          <p:nvPr/>
        </p:nvSpPr>
        <p:spPr>
          <a:xfrm>
            <a:off x="5440680" y="1261872"/>
            <a:ext cx="5943600" cy="82296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The library holds 46 risks in 11 categories: labour, material, management, design, equipment, finance, external, safety, weather, quality, site.</a:t>
            </a:r>
            <a:endParaRPr lang="en-US" sz="1400" dirty="0"/>
          </a:p>
        </p:txBody>
      </p:sp>
      <p:sp>
        <p:nvSpPr>
          <p:cNvPr id="9" name="a2_card"/>
          <p:cNvSpPr/>
          <p:nvPr/>
        </p:nvSpPr>
        <p:spPr>
          <a:xfrm>
            <a:off x="4434840" y="2331720"/>
            <a:ext cx="7178040" cy="1417320"/>
          </a:xfrm>
          <a:prstGeom prst="roundRect">
            <a:avLst>
              <a:gd name="adj" fmla="val 6452"/>
            </a:avLst>
          </a:prstGeom>
          <a:solidFill>
            <a:srgbClr val="FFFFFF"/>
          </a:solidFill>
          <a:ln w="12700">
            <a:solidFill>
              <a:srgbClr val="B9CFE3"/>
            </a:solidFill>
            <a:prstDash val="solid"/>
          </a:ln>
        </p:spPr>
      </p:sp>
      <p:sp>
        <p:nvSpPr>
          <p:cNvPr id="10" name="a2_nc"/>
          <p:cNvSpPr/>
          <p:nvPr/>
        </p:nvSpPr>
        <p:spPr>
          <a:xfrm>
            <a:off x="4617720" y="2743200"/>
            <a:ext cx="594360" cy="594360"/>
          </a:xfrm>
          <a:prstGeom prst="ellipse">
            <a:avLst/>
          </a:prstGeom>
          <a:solidFill>
            <a:srgbClr val="2F6C9A"/>
          </a:solidFill>
          <a:ln w="12700">
            <a:solidFill>
              <a:srgbClr val="2F6C9A"/>
            </a:solidFill>
            <a:prstDash val="solid"/>
          </a:ln>
        </p:spPr>
      </p:sp>
      <p:sp>
        <p:nvSpPr>
          <p:cNvPr id="11" name="a2_nt"/>
          <p:cNvSpPr txBox="1"/>
          <p:nvPr/>
        </p:nvSpPr>
        <p:spPr>
          <a:xfrm>
            <a:off x="4617720" y="2743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2</a:t>
            </a:r>
            <a:endParaRPr lang="en-US" sz="2200" dirty="0"/>
          </a:p>
        </p:txBody>
      </p:sp>
      <p:sp>
        <p:nvSpPr>
          <p:cNvPr id="12" name="a2_h"/>
          <p:cNvSpPr txBox="1"/>
          <p:nvPr/>
        </p:nvSpPr>
        <p:spPr>
          <a:xfrm>
            <a:off x="5440680" y="2468880"/>
            <a:ext cx="5943600" cy="365760"/>
          </a:xfrm>
          <a:prstGeom prst="rect">
            <a:avLst/>
          </a:prstGeom>
          <a:noFill/>
          <a:ln/>
        </p:spPr>
        <p:txBody>
          <a:bodyPr wrap="square" lIns="0" tIns="0" rIns="0" bIns="0" rtlCol="0" anchor="t"/>
          <a:lstStyle/>
          <a:p>
            <a:pPr indent="0" marL="0">
              <a:buNone/>
            </a:pPr>
            <a:r>
              <a:rPr lang="en-US" sz="1900" b="1" dirty="0">
                <a:solidFill>
                  <a:srgbClr val="12233B"/>
                </a:solidFill>
                <a:latin typeface="Times New Roman" pitchFamily="34" charset="0"/>
                <a:ea typeface="Times New Roman" pitchFamily="34" charset="-122"/>
                <a:cs typeface="Times New Roman" pitchFamily="34" charset="-120"/>
              </a:rPr>
              <a:t>Evidence ranks, it does not measure</a:t>
            </a:r>
            <a:endParaRPr lang="en-US" sz="1900" dirty="0"/>
          </a:p>
        </p:txBody>
      </p:sp>
      <p:sp>
        <p:nvSpPr>
          <p:cNvPr id="13" name="a2_d"/>
          <p:cNvSpPr txBox="1"/>
          <p:nvPr/>
        </p:nvSpPr>
        <p:spPr>
          <a:xfrm>
            <a:off x="5440680" y="2862072"/>
            <a:ext cx="5943600" cy="82296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Published surveys give a Relative Importance Index (RII): how important respondents rated a cause. It is not a probability and not a number of days.</a:t>
            </a:r>
            <a:endParaRPr lang="en-US" sz="1400" dirty="0"/>
          </a:p>
        </p:txBody>
      </p:sp>
      <p:sp>
        <p:nvSpPr>
          <p:cNvPr id="14" name="a3_card"/>
          <p:cNvSpPr/>
          <p:nvPr/>
        </p:nvSpPr>
        <p:spPr>
          <a:xfrm>
            <a:off x="4434840" y="3931920"/>
            <a:ext cx="7178040" cy="1417320"/>
          </a:xfrm>
          <a:prstGeom prst="roundRect">
            <a:avLst>
              <a:gd name="adj" fmla="val 6452"/>
            </a:avLst>
          </a:prstGeom>
          <a:solidFill>
            <a:srgbClr val="FFFFFF"/>
          </a:solidFill>
          <a:ln w="12700">
            <a:solidFill>
              <a:srgbClr val="B9CFE3"/>
            </a:solidFill>
            <a:prstDash val="solid"/>
          </a:ln>
        </p:spPr>
      </p:sp>
      <p:sp>
        <p:nvSpPr>
          <p:cNvPr id="15" name="a3_nc"/>
          <p:cNvSpPr/>
          <p:nvPr/>
        </p:nvSpPr>
        <p:spPr>
          <a:xfrm>
            <a:off x="4617720" y="4343400"/>
            <a:ext cx="594360" cy="594360"/>
          </a:xfrm>
          <a:prstGeom prst="ellipse">
            <a:avLst/>
          </a:prstGeom>
          <a:solidFill>
            <a:srgbClr val="2F6C9A"/>
          </a:solidFill>
          <a:ln w="12700">
            <a:solidFill>
              <a:srgbClr val="2F6C9A"/>
            </a:solidFill>
            <a:prstDash val="solid"/>
          </a:ln>
        </p:spPr>
      </p:sp>
      <p:sp>
        <p:nvSpPr>
          <p:cNvPr id="16" name="a3_nt"/>
          <p:cNvSpPr txBox="1"/>
          <p:nvPr/>
        </p:nvSpPr>
        <p:spPr>
          <a:xfrm>
            <a:off x="4617720" y="43434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3</a:t>
            </a:r>
            <a:endParaRPr lang="en-US" sz="2200" dirty="0"/>
          </a:p>
        </p:txBody>
      </p:sp>
      <p:sp>
        <p:nvSpPr>
          <p:cNvPr id="17" name="a3_h"/>
          <p:cNvSpPr txBox="1"/>
          <p:nvPr/>
        </p:nvSpPr>
        <p:spPr>
          <a:xfrm>
            <a:off x="5440680" y="4069080"/>
            <a:ext cx="5943600" cy="365760"/>
          </a:xfrm>
          <a:prstGeom prst="rect">
            <a:avLst/>
          </a:prstGeom>
          <a:noFill/>
          <a:ln/>
        </p:spPr>
        <p:txBody>
          <a:bodyPr wrap="square" lIns="0" tIns="0" rIns="0" bIns="0" rtlCol="0" anchor="t"/>
          <a:lstStyle/>
          <a:p>
            <a:pPr indent="0" marL="0">
              <a:buNone/>
            </a:pPr>
            <a:r>
              <a:rPr lang="en-US" sz="1900" b="1" dirty="0">
                <a:solidFill>
                  <a:srgbClr val="12233B"/>
                </a:solidFill>
                <a:latin typeface="Times New Roman" pitchFamily="34" charset="0"/>
                <a:ea typeface="Times New Roman" pitchFamily="34" charset="-122"/>
                <a:cs typeface="Times New Roman" pitchFamily="34" charset="-120"/>
              </a:rPr>
              <a:t>The engineer needs an order of attention</a:t>
            </a:r>
            <a:endParaRPr lang="en-US" sz="1900" dirty="0"/>
          </a:p>
        </p:txBody>
      </p:sp>
      <p:sp>
        <p:nvSpPr>
          <p:cNvPr id="18" name="a3_d"/>
          <p:cNvSpPr txBox="1"/>
          <p:nvPr/>
        </p:nvSpPr>
        <p:spPr>
          <a:xfrm>
            <a:off x="5440680" y="4462272"/>
            <a:ext cx="5943600" cy="82296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A defensible shortlist, with the source of every number visible, that can be replaced by site data as it arrives.</a:t>
            </a:r>
            <a:endParaRPr lang="en-US" sz="1400" dirty="0"/>
          </a:p>
        </p:txBody>
      </p:sp>
      <p:sp>
        <p:nvSpPr>
          <p:cNvPr id="19" name="a4_imgframe"/>
          <p:cNvSpPr/>
          <p:nvPr/>
        </p:nvSpPr>
        <p:spPr>
          <a:xfrm>
            <a:off x="4434840" y="5532120"/>
            <a:ext cx="7178040" cy="777240"/>
          </a:xfrm>
          <a:prstGeom prst="roundRect">
            <a:avLst>
              <a:gd name="adj" fmla="val 9412"/>
            </a:avLst>
          </a:prstGeom>
          <a:solidFill>
            <a:srgbClr val="EFF5FA"/>
          </a:solidFill>
          <a:ln w="15875">
            <a:solidFill>
              <a:srgbClr val="2F6C9A"/>
            </a:solidFill>
            <a:prstDash val="dash"/>
          </a:ln>
        </p:spPr>
      </p:sp>
      <p:sp>
        <p:nvSpPr>
          <p:cNvPr id="20" name="a4_imglabel"/>
          <p:cNvSpPr txBox="1"/>
          <p:nvPr/>
        </p:nvSpPr>
        <p:spPr>
          <a:xfrm>
            <a:off x="4572000" y="5532120"/>
            <a:ext cx="6903720" cy="77724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site photograph or masonry activity picture</a:t>
            </a:r>
            <a:endParaRPr lang="en-US" sz="16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childTnLst>
                          </p:cTn>
                        </p:par>
                        <p:par>
                          <p:cTn id="57"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From prediction model to risk-based framework</a:t>
            </a:r>
            <a:endParaRPr lang="en-US" sz="3200" dirty="0"/>
          </a:p>
        </p:txBody>
      </p:sp>
      <p:sp>
        <p:nvSpPr>
          <p:cNvPr id="4" name="a1_before"/>
          <p:cNvSpPr/>
          <p:nvPr/>
        </p:nvSpPr>
        <p:spPr>
          <a:xfrm>
            <a:off x="548640" y="1417320"/>
            <a:ext cx="4983480" cy="4434840"/>
          </a:xfrm>
          <a:prstGeom prst="roundRect">
            <a:avLst>
              <a:gd name="adj" fmla="val 2062"/>
            </a:avLst>
          </a:prstGeom>
          <a:solidFill>
            <a:srgbClr val="DCEAF6"/>
          </a:solidFill>
          <a:ln w="12700">
            <a:solidFill>
              <a:srgbClr val="B9CFE3"/>
            </a:solidFill>
            <a:prstDash val="solid"/>
          </a:ln>
        </p:spPr>
      </p:sp>
      <p:sp>
        <p:nvSpPr>
          <p:cNvPr id="5" name="a1_bt"/>
          <p:cNvSpPr txBox="1"/>
          <p:nvPr/>
        </p:nvSpPr>
        <p:spPr>
          <a:xfrm>
            <a:off x="822960" y="1554480"/>
            <a:ext cx="2743200" cy="320040"/>
          </a:xfrm>
          <a:prstGeom prst="rect">
            <a:avLst/>
          </a:prstGeom>
          <a:noFill/>
          <a:ln/>
        </p:spPr>
        <p:txBody>
          <a:bodyPr wrap="square" lIns="0" tIns="0" rIns="0" bIns="0" rtlCol="0" anchor="t"/>
          <a:lstStyle/>
          <a:p>
            <a:pPr indent="0" marL="0">
              <a:buNone/>
            </a:pPr>
            <a:r>
              <a:rPr lang="en-US" sz="1300" b="1" spc="300" kern="0" dirty="0">
                <a:solidFill>
                  <a:srgbClr val="2F6C9A"/>
                </a:solidFill>
                <a:latin typeface="Calibri" pitchFamily="34" charset="0"/>
                <a:ea typeface="Calibri" pitchFamily="34" charset="-122"/>
                <a:cs typeface="Calibri" pitchFamily="34" charset="-120"/>
              </a:rPr>
              <a:t>BEFORE</a:t>
            </a:r>
            <a:endParaRPr lang="en-US" sz="1300" dirty="0"/>
          </a:p>
        </p:txBody>
      </p:sp>
      <p:sp>
        <p:nvSpPr>
          <p:cNvPr id="6" name="a1_bh"/>
          <p:cNvSpPr txBox="1"/>
          <p:nvPr/>
        </p:nvSpPr>
        <p:spPr>
          <a:xfrm>
            <a:off x="822960" y="1874520"/>
            <a:ext cx="4389120" cy="502920"/>
          </a:xfrm>
          <a:prstGeom prst="rect">
            <a:avLst/>
          </a:prstGeom>
          <a:noFill/>
          <a:ln/>
        </p:spPr>
        <p:txBody>
          <a:bodyPr wrap="square" lIns="0" tIns="0" rIns="0" bIns="0" rtlCol="0" anchor="t"/>
          <a:lstStyle/>
          <a:p>
            <a:pPr indent="0" marL="0">
              <a:buNone/>
            </a:pPr>
            <a:r>
              <a:rPr lang="en-US" sz="2800" b="1" dirty="0">
                <a:solidFill>
                  <a:srgbClr val="12233B"/>
                </a:solidFill>
                <a:latin typeface="Times New Roman" pitchFamily="34" charset="0"/>
                <a:ea typeface="Times New Roman" pitchFamily="34" charset="-122"/>
                <a:cs typeface="Times New Roman" pitchFamily="34" charset="-120"/>
              </a:rPr>
              <a:t>Prediction model</a:t>
            </a:r>
            <a:endParaRPr lang="en-US" sz="2800" dirty="0"/>
          </a:p>
        </p:txBody>
      </p:sp>
      <p:sp>
        <p:nvSpPr>
          <p:cNvPr id="7" name="a1_bl"/>
          <p:cNvSpPr txBox="1"/>
          <p:nvPr/>
        </p:nvSpPr>
        <p:spPr>
          <a:xfrm>
            <a:off x="822960" y="2560320"/>
            <a:ext cx="4480560" cy="3200400"/>
          </a:xfrm>
          <a:prstGeom prst="rect">
            <a:avLst/>
          </a:prstGeom>
          <a:noFill/>
          <a:ln/>
        </p:spPr>
        <p:txBody>
          <a:bodyPr wrap="square" lIns="0" tIns="0" rIns="0" bIns="0" rtlCol="0" anchor="t"/>
          <a:lstStyle/>
          <a:p>
            <a:pPr marL="203200" indent="-203200">
              <a:spcAft>
                <a:spcPts val="1000"/>
              </a:spcAft>
              <a:buSzPct val="100000"/>
              <a:buChar char="•"/>
            </a:pPr>
            <a:r>
              <a:rPr lang="en-US" sz="1800" dirty="0">
                <a:solidFill>
                  <a:srgbClr val="12233B"/>
                </a:solidFill>
                <a:latin typeface="Calibri" pitchFamily="34" charset="0"/>
                <a:ea typeface="Calibri" pitchFamily="34" charset="-122"/>
                <a:cs typeface="Calibri" pitchFamily="34" charset="-120"/>
              </a:rPr>
              <a:t>Registered title: labour-productivity and delay-risk prediction using managerial factors</a:t>
            </a:r>
            <a:endParaRPr lang="en-US" sz="1800" dirty="0"/>
          </a:p>
          <a:p>
            <a:pPr marL="203200" indent="-203200">
              <a:spcAft>
                <a:spcPts val="1000"/>
              </a:spcAft>
              <a:buSzPct val="100000"/>
              <a:buChar char="•"/>
            </a:pPr>
            <a:r>
              <a:rPr lang="en-US" sz="1800" dirty="0">
                <a:solidFill>
                  <a:srgbClr val="12233B"/>
                </a:solidFill>
                <a:latin typeface="Calibri" pitchFamily="34" charset="0"/>
                <a:ea typeface="Calibri" pitchFamily="34" charset="-122"/>
                <a:cs typeface="Calibri" pitchFamily="34" charset="-120"/>
              </a:rPr>
              <a:t>Productivity models, Monte Carlo schedule simulation, cost / EMV, mitigation decisions</a:t>
            </a:r>
            <a:endParaRPr lang="en-US" sz="1800" dirty="0"/>
          </a:p>
          <a:p>
            <a:pPr marL="203200" indent="-203200">
              <a:spcAft>
                <a:spcPts val="1000"/>
              </a:spcAft>
              <a:buSzPct val="100000"/>
              <a:buChar char="•"/>
            </a:pPr>
            <a:r>
              <a:rPr lang="en-US" sz="1800" dirty="0">
                <a:solidFill>
                  <a:srgbClr val="12233B"/>
                </a:solidFill>
                <a:latin typeface="Calibri" pitchFamily="34" charset="0"/>
                <a:ea typeface="Calibri" pitchFamily="34" charset="-122"/>
                <a:cs typeface="Calibri" pitchFamily="34" charset="-120"/>
              </a:rPr>
              <a:t>Needs site data to fit a model and to test it</a:t>
            </a:r>
            <a:endParaRPr lang="en-US" sz="1800" dirty="0"/>
          </a:p>
          <a:p>
            <a:pPr marL="203200" indent="-203200">
              <a:spcAft>
                <a:spcPts val="1000"/>
              </a:spcAft>
              <a:buSzPct val="100000"/>
              <a:buChar char="•"/>
            </a:pPr>
            <a:r>
              <a:rPr lang="en-US" sz="1800" dirty="0">
                <a:solidFill>
                  <a:srgbClr val="12233B"/>
                </a:solidFill>
                <a:latin typeface="Calibri" pitchFamily="34" charset="0"/>
                <a:ea typeface="Calibri" pitchFamily="34" charset="-122"/>
                <a:cs typeface="Calibri" pitchFamily="34" charset="-120"/>
              </a:rPr>
              <a:t>Output read as a forecast of days lost</a:t>
            </a:r>
            <a:endParaRPr lang="en-US" sz="1800" dirty="0"/>
          </a:p>
        </p:txBody>
      </p:sp>
      <p:sp>
        <p:nvSpPr>
          <p:cNvPr id="8" name="a2_arrow"/>
          <p:cNvSpPr/>
          <p:nvPr/>
        </p:nvSpPr>
        <p:spPr>
          <a:xfrm>
            <a:off x="5715000" y="3246120"/>
            <a:ext cx="777240" cy="822960"/>
          </a:xfrm>
          <a:prstGeom prst="rightArrow">
            <a:avLst/>
          </a:prstGeom>
          <a:solidFill>
            <a:srgbClr val="19B5C8"/>
          </a:solidFill>
          <a:ln w="12700">
            <a:solidFill>
              <a:srgbClr val="19B5C8"/>
            </a:solidFill>
            <a:prstDash val="solid"/>
          </a:ln>
        </p:spPr>
      </p:sp>
      <p:sp>
        <p:nvSpPr>
          <p:cNvPr id="9" name="a2_date"/>
          <p:cNvSpPr txBox="1"/>
          <p:nvPr/>
        </p:nvSpPr>
        <p:spPr>
          <a:xfrm>
            <a:off x="5577840" y="4114800"/>
            <a:ext cx="1097280" cy="365760"/>
          </a:xfrm>
          <a:prstGeom prst="rect">
            <a:avLst/>
          </a:prstGeom>
          <a:noFill/>
          <a:ln/>
        </p:spPr>
        <p:txBody>
          <a:bodyPr wrap="square" lIns="0" tIns="0" rIns="0" bIns="0" rtlCol="0" anchor="t"/>
          <a:lstStyle/>
          <a:p>
            <a:pPr algn="ctr" indent="0" marL="0">
              <a:buNone/>
            </a:pPr>
            <a:r>
              <a:rPr lang="en-US" sz="1300" b="1" dirty="0">
                <a:solidFill>
                  <a:srgbClr val="2F6C9A"/>
                </a:solidFill>
                <a:latin typeface="Calibri" pitchFamily="34" charset="0"/>
                <a:ea typeface="Calibri" pitchFamily="34" charset="-122"/>
                <a:cs typeface="Calibri" pitchFamily="34" charset="-120"/>
              </a:rPr>
              <a:t>28 Sep 2026</a:t>
            </a:r>
            <a:endParaRPr lang="en-US" sz="1300" dirty="0"/>
          </a:p>
        </p:txBody>
      </p:sp>
      <p:sp>
        <p:nvSpPr>
          <p:cNvPr id="10" name="a3_after"/>
          <p:cNvSpPr/>
          <p:nvPr/>
        </p:nvSpPr>
        <p:spPr>
          <a:xfrm>
            <a:off x="6675120" y="1417320"/>
            <a:ext cx="4983480" cy="4434840"/>
          </a:xfrm>
          <a:prstGeom prst="roundRect">
            <a:avLst>
              <a:gd name="adj" fmla="val 2062"/>
            </a:avLst>
          </a:prstGeom>
          <a:solidFill>
            <a:srgbClr val="0A1F3C"/>
          </a:solidFill>
          <a:ln w="12700">
            <a:solidFill>
              <a:srgbClr val="0A1F3C"/>
            </a:solidFill>
            <a:prstDash val="solid"/>
          </a:ln>
        </p:spPr>
      </p:sp>
      <p:sp>
        <p:nvSpPr>
          <p:cNvPr id="11" name="a3_at"/>
          <p:cNvSpPr txBox="1"/>
          <p:nvPr/>
        </p:nvSpPr>
        <p:spPr>
          <a:xfrm>
            <a:off x="6949440" y="1554480"/>
            <a:ext cx="2743200" cy="320040"/>
          </a:xfrm>
          <a:prstGeom prst="rect">
            <a:avLst/>
          </a:prstGeom>
          <a:noFill/>
          <a:ln/>
        </p:spPr>
        <p:txBody>
          <a:bodyPr wrap="square" lIns="0" tIns="0" rIns="0" bIns="0" rtlCol="0" anchor="t"/>
          <a:lstStyle/>
          <a:p>
            <a:pPr indent="0" marL="0">
              <a:buNone/>
            </a:pPr>
            <a:r>
              <a:rPr lang="en-US" sz="1300" b="1" spc="300" kern="0" dirty="0">
                <a:solidFill>
                  <a:srgbClr val="19B5C8"/>
                </a:solidFill>
                <a:latin typeface="Calibri" pitchFamily="34" charset="0"/>
                <a:ea typeface="Calibri" pitchFamily="34" charset="-122"/>
                <a:cs typeface="Calibri" pitchFamily="34" charset="-120"/>
              </a:rPr>
              <a:t>AFTER</a:t>
            </a:r>
            <a:endParaRPr lang="en-US" sz="1300" dirty="0"/>
          </a:p>
        </p:txBody>
      </p:sp>
      <p:sp>
        <p:nvSpPr>
          <p:cNvPr id="12" name="a3_ah"/>
          <p:cNvSpPr txBox="1"/>
          <p:nvPr/>
        </p:nvSpPr>
        <p:spPr>
          <a:xfrm>
            <a:off x="6949440" y="1874520"/>
            <a:ext cx="4389120" cy="502920"/>
          </a:xfrm>
          <a:prstGeom prst="rect">
            <a:avLst/>
          </a:prstGeom>
          <a:noFill/>
          <a:ln/>
        </p:spPr>
        <p:txBody>
          <a:bodyPr wrap="square" lIns="0" tIns="0" rIns="0" bIns="0" rtlCol="0" anchor="t"/>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Risk-based framework</a:t>
            </a:r>
            <a:endParaRPr lang="en-US" sz="2800" dirty="0"/>
          </a:p>
        </p:txBody>
      </p:sp>
      <p:sp>
        <p:nvSpPr>
          <p:cNvPr id="13" name="a3_al"/>
          <p:cNvSpPr txBox="1"/>
          <p:nvPr/>
        </p:nvSpPr>
        <p:spPr>
          <a:xfrm>
            <a:off x="6949440" y="2560320"/>
            <a:ext cx="4480560" cy="3200400"/>
          </a:xfrm>
          <a:prstGeom prst="rect">
            <a:avLst/>
          </a:prstGeom>
          <a:noFill/>
          <a:ln/>
        </p:spPr>
        <p:txBody>
          <a:bodyPr wrap="square" lIns="0" tIns="0" rIns="0" bIns="0" rtlCol="0" anchor="t"/>
          <a:lstStyle/>
          <a:p>
            <a:pPr marL="203200" indent="-2032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Identify, then register, then place on a 5x5 probability-impact matrix</a:t>
            </a:r>
            <a:endParaRPr lang="en-US" sz="1800" dirty="0"/>
          </a:p>
          <a:p>
            <a:pPr marL="203200" indent="-2032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Ordinal priority: labels, not quantities</a:t>
            </a:r>
            <a:endParaRPr lang="en-US" sz="1800" dirty="0"/>
          </a:p>
          <a:p>
            <a:pPr marL="203200" indent="-2032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Every number carries a Source; the AI supplies none</a:t>
            </a:r>
            <a:endParaRPr lang="en-US" sz="1800" dirty="0"/>
          </a:p>
          <a:p>
            <a:pPr marL="203200" indent="-2032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Cost / EMV layer kept optional and fed only by entered numbers</a:t>
            </a:r>
            <a:endParaRPr lang="en-US" sz="1800" dirty="0"/>
          </a:p>
        </p:txBody>
      </p:sp>
      <p:sp>
        <p:nvSpPr>
          <p:cNvPr id="14" name="Text 11"/>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docs/Project_Charter.md; Handoff summary (scope history). Retitle or scope-revision table: supervisor decision.</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2" fill="hold">
                            <p:stCondLst>
                              <p:cond delay="38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5" fill="hold">
                            <p:stCondLst>
                              <p:cond delay="76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Why we changed course</a:t>
            </a:r>
            <a:endParaRPr lang="en-US" sz="3200" dirty="0"/>
          </a:p>
        </p:txBody>
      </p:sp>
      <p:sp>
        <p:nvSpPr>
          <p:cNvPr id="4" name="a1_card"/>
          <p:cNvSpPr/>
          <p:nvPr/>
        </p:nvSpPr>
        <p:spPr>
          <a:xfrm>
            <a:off x="548640" y="1508760"/>
            <a:ext cx="2606040" cy="3749040"/>
          </a:xfrm>
          <a:prstGeom prst="roundRect">
            <a:avLst>
              <a:gd name="adj" fmla="val 3509"/>
            </a:avLst>
          </a:prstGeom>
          <a:solidFill>
            <a:srgbClr val="173F6B"/>
          </a:solidFill>
          <a:ln w="12700">
            <a:solidFill>
              <a:srgbClr val="173F6B"/>
            </a:solidFill>
            <a:prstDash val="solid"/>
          </a:ln>
        </p:spPr>
      </p:sp>
      <p:sp>
        <p:nvSpPr>
          <p:cNvPr id="5" name="a1_n"/>
          <p:cNvSpPr txBox="1"/>
          <p:nvPr/>
        </p:nvSpPr>
        <p:spPr>
          <a:xfrm>
            <a:off x="777240" y="1645920"/>
            <a:ext cx="914400" cy="822960"/>
          </a:xfrm>
          <a:prstGeom prst="rect">
            <a:avLst/>
          </a:prstGeom>
          <a:noFill/>
          <a:ln/>
        </p:spPr>
        <p:txBody>
          <a:bodyPr wrap="square" lIns="0" tIns="0" rIns="0" bIns="0" rtlCol="0" anchor="t"/>
          <a:lstStyle/>
          <a:p>
            <a:pPr indent="0" marL="0">
              <a:buNone/>
            </a:pPr>
            <a:r>
              <a:rPr lang="en-US" sz="5200" b="1" dirty="0">
                <a:solidFill>
                  <a:srgbClr val="19B5C8"/>
                </a:solidFill>
                <a:latin typeface="Times New Roman" pitchFamily="34" charset="0"/>
                <a:ea typeface="Times New Roman" pitchFamily="34" charset="-122"/>
                <a:cs typeface="Times New Roman" pitchFamily="34" charset="-120"/>
              </a:rPr>
              <a:t>1</a:t>
            </a:r>
            <a:endParaRPr lang="en-US" sz="5200" dirty="0"/>
          </a:p>
        </p:txBody>
      </p:sp>
      <p:sp>
        <p:nvSpPr>
          <p:cNvPr id="6" name="a1_h"/>
          <p:cNvSpPr txBox="1"/>
          <p:nvPr/>
        </p:nvSpPr>
        <p:spPr>
          <a:xfrm>
            <a:off x="777240" y="2560320"/>
            <a:ext cx="2194560" cy="731520"/>
          </a:xfrm>
          <a:prstGeom prst="rect">
            <a:avLst/>
          </a:prstGeom>
          <a:noFill/>
          <a:ln/>
        </p:spPr>
        <p:txBody>
          <a:bodyPr wrap="square" lIns="0" tIns="0" rIns="0" bIns="0" rtlCol="0" anchor="t"/>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No site data</a:t>
            </a:r>
            <a:endParaRPr lang="en-US" sz="2000" dirty="0"/>
          </a:p>
        </p:txBody>
      </p:sp>
      <p:sp>
        <p:nvSpPr>
          <p:cNvPr id="7" name="a1_d"/>
          <p:cNvSpPr txBox="1"/>
          <p:nvPr/>
        </p:nvSpPr>
        <p:spPr>
          <a:xfrm>
            <a:off x="777240" y="3337560"/>
            <a:ext cx="2194560" cy="1828800"/>
          </a:xfrm>
          <a:prstGeom prst="rect">
            <a:avLst/>
          </a:prstGeom>
          <a:noFill/>
          <a:ln/>
        </p:spPr>
        <p:txBody>
          <a:bodyPr wrap="square" lIns="0" tIns="0" rIns="0" bIns="0" rtlCol="0" anchor="t"/>
          <a:lstStyle/>
          <a:p>
            <a:pPr indent="0" marL="0">
              <a:buNone/>
            </a:pPr>
            <a:r>
              <a:rPr lang="en-US" sz="1500" dirty="0">
                <a:solidFill>
                  <a:srgbClr val="DCEAF6"/>
                </a:solidFill>
                <a:latin typeface="Calibri" pitchFamily="34" charset="0"/>
                <a:ea typeface="Calibri" pitchFamily="34" charset="-122"/>
                <a:cs typeface="Calibri" pitchFamily="34" charset="-120"/>
              </a:rPr>
              <a:t>The project has no access to a site yet, so a prediction model could be neither fitted nor tested.</a:t>
            </a:r>
            <a:endParaRPr lang="en-US" sz="1500" dirty="0"/>
          </a:p>
        </p:txBody>
      </p:sp>
      <p:sp>
        <p:nvSpPr>
          <p:cNvPr id="8" name="a2_card"/>
          <p:cNvSpPr/>
          <p:nvPr/>
        </p:nvSpPr>
        <p:spPr>
          <a:xfrm>
            <a:off x="3355848" y="1508760"/>
            <a:ext cx="2606040" cy="3749040"/>
          </a:xfrm>
          <a:prstGeom prst="roundRect">
            <a:avLst>
              <a:gd name="adj" fmla="val 3509"/>
            </a:avLst>
          </a:prstGeom>
          <a:solidFill>
            <a:srgbClr val="173F6B"/>
          </a:solidFill>
          <a:ln w="12700">
            <a:solidFill>
              <a:srgbClr val="173F6B"/>
            </a:solidFill>
            <a:prstDash val="solid"/>
          </a:ln>
        </p:spPr>
      </p:sp>
      <p:sp>
        <p:nvSpPr>
          <p:cNvPr id="9" name="a2_n"/>
          <p:cNvSpPr txBox="1"/>
          <p:nvPr/>
        </p:nvSpPr>
        <p:spPr>
          <a:xfrm>
            <a:off x="3584448" y="1645920"/>
            <a:ext cx="914400" cy="822960"/>
          </a:xfrm>
          <a:prstGeom prst="rect">
            <a:avLst/>
          </a:prstGeom>
          <a:noFill/>
          <a:ln/>
        </p:spPr>
        <p:txBody>
          <a:bodyPr wrap="square" lIns="0" tIns="0" rIns="0" bIns="0" rtlCol="0" anchor="t"/>
          <a:lstStyle/>
          <a:p>
            <a:pPr indent="0" marL="0">
              <a:buNone/>
            </a:pPr>
            <a:r>
              <a:rPr lang="en-US" sz="5200" b="1" dirty="0">
                <a:solidFill>
                  <a:srgbClr val="19B5C8"/>
                </a:solidFill>
                <a:latin typeface="Times New Roman" pitchFamily="34" charset="0"/>
                <a:ea typeface="Times New Roman" pitchFamily="34" charset="-122"/>
                <a:cs typeface="Times New Roman" pitchFamily="34" charset="-120"/>
              </a:rPr>
              <a:t>2</a:t>
            </a:r>
            <a:endParaRPr lang="en-US" sz="5200" dirty="0"/>
          </a:p>
        </p:txBody>
      </p:sp>
      <p:sp>
        <p:nvSpPr>
          <p:cNvPr id="10" name="a2_h"/>
          <p:cNvSpPr txBox="1"/>
          <p:nvPr/>
        </p:nvSpPr>
        <p:spPr>
          <a:xfrm>
            <a:off x="3584448" y="2560320"/>
            <a:ext cx="2194560" cy="731520"/>
          </a:xfrm>
          <a:prstGeom prst="rect">
            <a:avLst/>
          </a:prstGeom>
          <a:noFill/>
          <a:ln/>
        </p:spPr>
        <p:txBody>
          <a:bodyPr wrap="square" lIns="0" tIns="0" rIns="0" bIns="0" rtlCol="0" anchor="t"/>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Importance is not likelihood</a:t>
            </a:r>
            <a:endParaRPr lang="en-US" sz="2000" dirty="0"/>
          </a:p>
        </p:txBody>
      </p:sp>
      <p:sp>
        <p:nvSpPr>
          <p:cNvPr id="11" name="a2_d"/>
          <p:cNvSpPr txBox="1"/>
          <p:nvPr/>
        </p:nvSpPr>
        <p:spPr>
          <a:xfrm>
            <a:off x="3584448" y="3337560"/>
            <a:ext cx="2194560" cy="1828800"/>
          </a:xfrm>
          <a:prstGeom prst="rect">
            <a:avLst/>
          </a:prstGeom>
          <a:noFill/>
          <a:ln/>
        </p:spPr>
        <p:txBody>
          <a:bodyPr wrap="square" lIns="0" tIns="0" rIns="0" bIns="0" rtlCol="0" anchor="t"/>
          <a:lstStyle/>
          <a:p>
            <a:pPr indent="0" marL="0">
              <a:buNone/>
            </a:pPr>
            <a:r>
              <a:rPr lang="en-US" sz="1500" dirty="0">
                <a:solidFill>
                  <a:srgbClr val="DCEAF6"/>
                </a:solidFill>
                <a:latin typeface="Calibri" pitchFamily="34" charset="0"/>
                <a:ea typeface="Calibri" pitchFamily="34" charset="-122"/>
                <a:cs typeface="Calibri" pitchFamily="34" charset="-120"/>
              </a:rPr>
              <a:t>An RII says how important respondents rated a cause. Treating it as a probability or as days would be wrong.</a:t>
            </a:r>
            <a:endParaRPr lang="en-US" sz="1500" dirty="0"/>
          </a:p>
        </p:txBody>
      </p:sp>
      <p:sp>
        <p:nvSpPr>
          <p:cNvPr id="12" name="a3_card"/>
          <p:cNvSpPr/>
          <p:nvPr/>
        </p:nvSpPr>
        <p:spPr>
          <a:xfrm>
            <a:off x="6163056" y="1508760"/>
            <a:ext cx="2606040" cy="3749040"/>
          </a:xfrm>
          <a:prstGeom prst="roundRect">
            <a:avLst>
              <a:gd name="adj" fmla="val 3509"/>
            </a:avLst>
          </a:prstGeom>
          <a:solidFill>
            <a:srgbClr val="173F6B"/>
          </a:solidFill>
          <a:ln w="12700">
            <a:solidFill>
              <a:srgbClr val="173F6B"/>
            </a:solidFill>
            <a:prstDash val="solid"/>
          </a:ln>
        </p:spPr>
      </p:sp>
      <p:sp>
        <p:nvSpPr>
          <p:cNvPr id="13" name="a3_n"/>
          <p:cNvSpPr txBox="1"/>
          <p:nvPr/>
        </p:nvSpPr>
        <p:spPr>
          <a:xfrm>
            <a:off x="6391656" y="1645920"/>
            <a:ext cx="914400" cy="822960"/>
          </a:xfrm>
          <a:prstGeom prst="rect">
            <a:avLst/>
          </a:prstGeom>
          <a:noFill/>
          <a:ln/>
        </p:spPr>
        <p:txBody>
          <a:bodyPr wrap="square" lIns="0" tIns="0" rIns="0" bIns="0" rtlCol="0" anchor="t"/>
          <a:lstStyle/>
          <a:p>
            <a:pPr indent="0" marL="0">
              <a:buNone/>
            </a:pPr>
            <a:r>
              <a:rPr lang="en-US" sz="5200" b="1" dirty="0">
                <a:solidFill>
                  <a:srgbClr val="19B5C8"/>
                </a:solidFill>
                <a:latin typeface="Times New Roman" pitchFamily="34" charset="0"/>
                <a:ea typeface="Times New Roman" pitchFamily="34" charset="-122"/>
                <a:cs typeface="Times New Roman" pitchFamily="34" charset="-120"/>
              </a:rPr>
              <a:t>3</a:t>
            </a:r>
            <a:endParaRPr lang="en-US" sz="5200" dirty="0"/>
          </a:p>
        </p:txBody>
      </p:sp>
      <p:sp>
        <p:nvSpPr>
          <p:cNvPr id="14" name="a3_h"/>
          <p:cNvSpPr txBox="1"/>
          <p:nvPr/>
        </p:nvSpPr>
        <p:spPr>
          <a:xfrm>
            <a:off x="6391656" y="2560320"/>
            <a:ext cx="2194560" cy="731520"/>
          </a:xfrm>
          <a:prstGeom prst="rect">
            <a:avLst/>
          </a:prstGeom>
          <a:noFill/>
          <a:ln/>
        </p:spPr>
        <p:txBody>
          <a:bodyPr wrap="square" lIns="0" tIns="0" rIns="0" bIns="0" rtlCol="0" anchor="t"/>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The held-out check is weak</a:t>
            </a:r>
            <a:endParaRPr lang="en-US" sz="2000" dirty="0"/>
          </a:p>
        </p:txBody>
      </p:sp>
      <p:sp>
        <p:nvSpPr>
          <p:cNvPr id="15" name="a3_d"/>
          <p:cNvSpPr txBox="1"/>
          <p:nvPr/>
        </p:nvSpPr>
        <p:spPr>
          <a:xfrm>
            <a:off x="6391656" y="3337560"/>
            <a:ext cx="2194560" cy="1828800"/>
          </a:xfrm>
          <a:prstGeom prst="rect">
            <a:avLst/>
          </a:prstGeom>
          <a:noFill/>
          <a:ln/>
        </p:spPr>
        <p:txBody>
          <a:bodyPr wrap="square" lIns="0" tIns="0" rIns="0" bIns="0" rtlCol="0" anchor="t"/>
          <a:lstStyle/>
          <a:p>
            <a:pPr indent="0" marL="0">
              <a:buNone/>
            </a:pPr>
            <a:r>
              <a:rPr lang="en-US" sz="1500" dirty="0">
                <a:solidFill>
                  <a:srgbClr val="DCEAF6"/>
                </a:solidFill>
                <a:latin typeface="Calibri" pitchFamily="34" charset="0"/>
                <a:ea typeface="Calibri" pitchFamily="34" charset="-122"/>
                <a:cs typeface="Calibri" pitchFamily="34" charset="-120"/>
              </a:rPr>
              <a:t>Ranking built from seed studies versus a held-out study: rho 0.09 to 0.64, none significant.</a:t>
            </a:r>
            <a:endParaRPr lang="en-US" sz="1500" dirty="0"/>
          </a:p>
        </p:txBody>
      </p:sp>
      <p:sp>
        <p:nvSpPr>
          <p:cNvPr id="16" name="a4_card"/>
          <p:cNvSpPr/>
          <p:nvPr/>
        </p:nvSpPr>
        <p:spPr>
          <a:xfrm>
            <a:off x="8970264" y="1508760"/>
            <a:ext cx="2606040" cy="3749040"/>
          </a:xfrm>
          <a:prstGeom prst="roundRect">
            <a:avLst>
              <a:gd name="adj" fmla="val 3509"/>
            </a:avLst>
          </a:prstGeom>
          <a:solidFill>
            <a:srgbClr val="173F6B"/>
          </a:solidFill>
          <a:ln w="12700">
            <a:solidFill>
              <a:srgbClr val="173F6B"/>
            </a:solidFill>
            <a:prstDash val="solid"/>
          </a:ln>
        </p:spPr>
      </p:sp>
      <p:sp>
        <p:nvSpPr>
          <p:cNvPr id="17" name="a4_n"/>
          <p:cNvSpPr txBox="1"/>
          <p:nvPr/>
        </p:nvSpPr>
        <p:spPr>
          <a:xfrm>
            <a:off x="9198864" y="1645920"/>
            <a:ext cx="914400" cy="822960"/>
          </a:xfrm>
          <a:prstGeom prst="rect">
            <a:avLst/>
          </a:prstGeom>
          <a:noFill/>
          <a:ln/>
        </p:spPr>
        <p:txBody>
          <a:bodyPr wrap="square" lIns="0" tIns="0" rIns="0" bIns="0" rtlCol="0" anchor="t"/>
          <a:lstStyle/>
          <a:p>
            <a:pPr indent="0" marL="0">
              <a:buNone/>
            </a:pPr>
            <a:r>
              <a:rPr lang="en-US" sz="5200" b="1" dirty="0">
                <a:solidFill>
                  <a:srgbClr val="19B5C8"/>
                </a:solidFill>
                <a:latin typeface="Times New Roman" pitchFamily="34" charset="0"/>
                <a:ea typeface="Times New Roman" pitchFamily="34" charset="-122"/>
                <a:cs typeface="Times New Roman" pitchFamily="34" charset="-120"/>
              </a:rPr>
              <a:t>4</a:t>
            </a:r>
            <a:endParaRPr lang="en-US" sz="5200" dirty="0"/>
          </a:p>
        </p:txBody>
      </p:sp>
      <p:sp>
        <p:nvSpPr>
          <p:cNvPr id="18" name="a4_h"/>
          <p:cNvSpPr txBox="1"/>
          <p:nvPr/>
        </p:nvSpPr>
        <p:spPr>
          <a:xfrm>
            <a:off x="9198864" y="2560320"/>
            <a:ext cx="2194560" cy="731520"/>
          </a:xfrm>
          <a:prstGeom prst="rect">
            <a:avLst/>
          </a:prstGeom>
          <a:noFill/>
          <a:ln/>
        </p:spPr>
        <p:txBody>
          <a:bodyPr wrap="square" lIns="0" tIns="0" rIns="0" bIns="0" rtlCol="0" anchor="t"/>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So the claims were withdrawn</a:t>
            </a:r>
            <a:endParaRPr lang="en-US" sz="2000" dirty="0"/>
          </a:p>
        </p:txBody>
      </p:sp>
      <p:sp>
        <p:nvSpPr>
          <p:cNvPr id="19" name="a4_d"/>
          <p:cNvSpPr txBox="1"/>
          <p:nvPr/>
        </p:nvSpPr>
        <p:spPr>
          <a:xfrm>
            <a:off x="9198864" y="3337560"/>
            <a:ext cx="2194560" cy="1828800"/>
          </a:xfrm>
          <a:prstGeom prst="rect">
            <a:avLst/>
          </a:prstGeom>
          <a:noFill/>
          <a:ln/>
        </p:spPr>
        <p:txBody>
          <a:bodyPr wrap="square" lIns="0" tIns="0" rIns="0" bIns="0" rtlCol="0" anchor="t"/>
          <a:lstStyle/>
          <a:p>
            <a:pPr indent="0" marL="0">
              <a:buNone/>
            </a:pPr>
            <a:r>
              <a:rPr lang="en-US" sz="1500" dirty="0">
                <a:solidFill>
                  <a:srgbClr val="DCEAF6"/>
                </a:solidFill>
                <a:latin typeface="Calibri" pitchFamily="34" charset="0"/>
                <a:ea typeface="Calibri" pitchFamily="34" charset="-122"/>
                <a:cs typeface="Calibri" pitchFamily="34" charset="-120"/>
              </a:rPr>
              <a:t>“predicts” and “validated” are not defensible. We claim prioritisation with traceable sources.</a:t>
            </a:r>
            <a:endParaRPr lang="en-US" sz="1500" dirty="0"/>
          </a:p>
        </p:txBody>
      </p:sp>
      <p:sp>
        <p:nvSpPr>
          <p:cNvPr id="20" name="a5_concl"/>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2100" i="1" dirty="0">
                <a:solidFill>
                  <a:srgbClr val="FFFFFF"/>
                </a:solidFill>
                <a:latin typeface="Times New Roman" pitchFamily="34" charset="0"/>
                <a:ea typeface="Times New Roman" pitchFamily="34" charset="-122"/>
                <a:cs typeface="Times New Roman" pitchFamily="34" charset="-120"/>
              </a:rPr>
              <a:t>Therefore: a framework that orders risks and shows where each number comes from.</a:t>
            </a:r>
            <a:endParaRPr lang="en-US" sz="2100" dirty="0"/>
          </a:p>
        </p:txBody>
      </p:sp>
      <p:sp>
        <p:nvSpPr>
          <p:cNvPr id="21" name="Text 18"/>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A9C7E0"/>
                </a:solidFill>
                <a:latin typeface="Calibri" pitchFamily="34" charset="0"/>
                <a:ea typeface="Calibri" pitchFamily="34" charset="-122"/>
                <a:cs typeface="Calibri" pitchFamily="34" charset="-120"/>
              </a:rPr>
              <a:t>Source: Project_Charter.md (constraints); Handoff section 8.4 and 8.11; docs/tool_statistics.json</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E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9"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38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76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14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58" fill="hold">
                            <p:stCondLst>
                              <p:cond delay="152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What “risk-based framework” means here</a:t>
            </a:r>
            <a:endParaRPr lang="en-US" sz="3200" dirty="0"/>
          </a:p>
        </p:txBody>
      </p:sp>
      <p:sp>
        <p:nvSpPr>
          <p:cNvPr id="4" name="a1_c"/>
          <p:cNvSpPr/>
          <p:nvPr/>
        </p:nvSpPr>
        <p:spPr>
          <a:xfrm>
            <a:off x="1051560" y="1463040"/>
            <a:ext cx="1051560" cy="1051560"/>
          </a:xfrm>
          <a:prstGeom prst="ellipse">
            <a:avLst/>
          </a:prstGeom>
          <a:solidFill>
            <a:srgbClr val="173F6B"/>
          </a:solidFill>
          <a:ln w="12700">
            <a:solidFill>
              <a:srgbClr val="173F6B"/>
            </a:solidFill>
            <a:prstDash val="solid"/>
          </a:ln>
        </p:spPr>
      </p:sp>
      <p:sp>
        <p:nvSpPr>
          <p:cNvPr id="5" name="a1_cn"/>
          <p:cNvSpPr txBox="1"/>
          <p:nvPr/>
        </p:nvSpPr>
        <p:spPr>
          <a:xfrm>
            <a:off x="1051560" y="14630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Times New Roman" pitchFamily="34" charset="0"/>
                <a:ea typeface="Times New Roman" pitchFamily="34" charset="-122"/>
                <a:cs typeface="Times New Roman" pitchFamily="34" charset="-120"/>
              </a:rPr>
              <a:t>1</a:t>
            </a:r>
            <a:endParaRPr lang="en-US" sz="3400" dirty="0"/>
          </a:p>
        </p:txBody>
      </p:sp>
      <p:sp>
        <p:nvSpPr>
          <p:cNvPr id="6" name="a1_ar"/>
          <p:cNvSpPr/>
          <p:nvPr/>
        </p:nvSpPr>
        <p:spPr>
          <a:xfrm>
            <a:off x="2240280" y="1810512"/>
            <a:ext cx="502920" cy="365760"/>
          </a:xfrm>
          <a:prstGeom prst="rightArrow">
            <a:avLst/>
          </a:prstGeom>
          <a:solidFill>
            <a:srgbClr val="B9CFE3"/>
          </a:solidFill>
          <a:ln w="12700">
            <a:solidFill>
              <a:srgbClr val="B9CFE3"/>
            </a:solidFill>
            <a:prstDash val="solid"/>
          </a:ln>
        </p:spPr>
      </p:sp>
      <p:sp>
        <p:nvSpPr>
          <p:cNvPr id="7" name="a1_h"/>
          <p:cNvSpPr txBox="1"/>
          <p:nvPr/>
        </p:nvSpPr>
        <p:spPr>
          <a:xfrm>
            <a:off x="548640" y="2697480"/>
            <a:ext cx="2057400" cy="411480"/>
          </a:xfrm>
          <a:prstGeom prst="rect">
            <a:avLst/>
          </a:prstGeom>
          <a:noFill/>
          <a:ln/>
        </p:spPr>
        <p:txBody>
          <a:bodyPr wrap="square" lIns="0" tIns="0" rIns="0" bIns="0" rtlCol="0" anchor="t"/>
          <a:lstStyle/>
          <a:p>
            <a:pPr algn="ctr" indent="0" marL="0">
              <a:buNone/>
            </a:pPr>
            <a:r>
              <a:rPr lang="en-US" sz="2100" b="1" dirty="0">
                <a:solidFill>
                  <a:srgbClr val="12233B"/>
                </a:solidFill>
                <a:latin typeface="Times New Roman" pitchFamily="34" charset="0"/>
                <a:ea typeface="Times New Roman" pitchFamily="34" charset="-122"/>
                <a:cs typeface="Times New Roman" pitchFamily="34" charset="-120"/>
              </a:rPr>
              <a:t>Identify</a:t>
            </a:r>
            <a:endParaRPr lang="en-US" sz="2100" dirty="0"/>
          </a:p>
        </p:txBody>
      </p:sp>
      <p:sp>
        <p:nvSpPr>
          <p:cNvPr id="8" name="a1_d"/>
          <p:cNvSpPr txBox="1"/>
          <p:nvPr/>
        </p:nvSpPr>
        <p:spPr>
          <a:xfrm>
            <a:off x="594360" y="3154680"/>
            <a:ext cx="1965960" cy="1005840"/>
          </a:xfrm>
          <a:prstGeom prst="rect">
            <a:avLst/>
          </a:prstGeom>
          <a:noFill/>
          <a:ln/>
        </p:spPr>
        <p:txBody>
          <a:bodyPr wrap="square" lIns="0" tIns="0" rIns="0" bIns="0" rtlCol="0" anchor="t"/>
          <a:lstStyle/>
          <a:p>
            <a:pPr algn="ctr" indent="0" marL="0">
              <a:buNone/>
            </a:pPr>
            <a:r>
              <a:rPr lang="en-US" sz="1300" dirty="0">
                <a:solidFill>
                  <a:srgbClr val="55708A"/>
                </a:solidFill>
                <a:latin typeface="Calibri" pitchFamily="34" charset="0"/>
                <a:ea typeface="Calibri" pitchFamily="34" charset="-122"/>
                <a:cs typeface="Calibri" pitchFamily="34" charset="-120"/>
              </a:rPr>
              <a:t>library of 46 risks, 22 site-fact rules, cited suggestions</a:t>
            </a:r>
            <a:endParaRPr lang="en-US" sz="1300" dirty="0"/>
          </a:p>
        </p:txBody>
      </p:sp>
      <p:sp>
        <p:nvSpPr>
          <p:cNvPr id="9" name="a2_c"/>
          <p:cNvSpPr/>
          <p:nvPr/>
        </p:nvSpPr>
        <p:spPr>
          <a:xfrm>
            <a:off x="3291840" y="1463040"/>
            <a:ext cx="1051560" cy="1051560"/>
          </a:xfrm>
          <a:prstGeom prst="ellipse">
            <a:avLst/>
          </a:prstGeom>
          <a:solidFill>
            <a:srgbClr val="2F6C9A"/>
          </a:solidFill>
          <a:ln w="12700">
            <a:solidFill>
              <a:srgbClr val="2F6C9A"/>
            </a:solidFill>
            <a:prstDash val="solid"/>
          </a:ln>
        </p:spPr>
      </p:sp>
      <p:sp>
        <p:nvSpPr>
          <p:cNvPr id="10" name="a2_cn"/>
          <p:cNvSpPr txBox="1"/>
          <p:nvPr/>
        </p:nvSpPr>
        <p:spPr>
          <a:xfrm>
            <a:off x="3291840" y="14630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Times New Roman" pitchFamily="34" charset="0"/>
                <a:ea typeface="Times New Roman" pitchFamily="34" charset="-122"/>
                <a:cs typeface="Times New Roman" pitchFamily="34" charset="-120"/>
              </a:rPr>
              <a:t>2</a:t>
            </a:r>
            <a:endParaRPr lang="en-US" sz="3400" dirty="0"/>
          </a:p>
        </p:txBody>
      </p:sp>
      <p:sp>
        <p:nvSpPr>
          <p:cNvPr id="11" name="a2_ar"/>
          <p:cNvSpPr/>
          <p:nvPr/>
        </p:nvSpPr>
        <p:spPr>
          <a:xfrm>
            <a:off x="4480560" y="1810512"/>
            <a:ext cx="502920" cy="365760"/>
          </a:xfrm>
          <a:prstGeom prst="rightArrow">
            <a:avLst/>
          </a:prstGeom>
          <a:solidFill>
            <a:srgbClr val="B9CFE3"/>
          </a:solidFill>
          <a:ln w="12700">
            <a:solidFill>
              <a:srgbClr val="B9CFE3"/>
            </a:solidFill>
            <a:prstDash val="solid"/>
          </a:ln>
        </p:spPr>
      </p:sp>
      <p:sp>
        <p:nvSpPr>
          <p:cNvPr id="12" name="a2_h"/>
          <p:cNvSpPr txBox="1"/>
          <p:nvPr/>
        </p:nvSpPr>
        <p:spPr>
          <a:xfrm>
            <a:off x="2788920" y="2697480"/>
            <a:ext cx="2057400" cy="411480"/>
          </a:xfrm>
          <a:prstGeom prst="rect">
            <a:avLst/>
          </a:prstGeom>
          <a:noFill/>
          <a:ln/>
        </p:spPr>
        <p:txBody>
          <a:bodyPr wrap="square" lIns="0" tIns="0" rIns="0" bIns="0" rtlCol="0" anchor="t"/>
          <a:lstStyle/>
          <a:p>
            <a:pPr algn="ctr" indent="0" marL="0">
              <a:buNone/>
            </a:pPr>
            <a:r>
              <a:rPr lang="en-US" sz="2100" b="1" dirty="0">
                <a:solidFill>
                  <a:srgbClr val="12233B"/>
                </a:solidFill>
                <a:latin typeface="Times New Roman" pitchFamily="34" charset="0"/>
                <a:ea typeface="Times New Roman" pitchFamily="34" charset="-122"/>
                <a:cs typeface="Times New Roman" pitchFamily="34" charset="-120"/>
              </a:rPr>
              <a:t>Assess</a:t>
            </a:r>
            <a:endParaRPr lang="en-US" sz="2100" dirty="0"/>
          </a:p>
        </p:txBody>
      </p:sp>
      <p:sp>
        <p:nvSpPr>
          <p:cNvPr id="13" name="a2_d"/>
          <p:cNvSpPr txBox="1"/>
          <p:nvPr/>
        </p:nvSpPr>
        <p:spPr>
          <a:xfrm>
            <a:off x="2834640" y="3154680"/>
            <a:ext cx="1965960" cy="1005840"/>
          </a:xfrm>
          <a:prstGeom prst="rect">
            <a:avLst/>
          </a:prstGeom>
          <a:noFill/>
          <a:ln/>
        </p:spPr>
        <p:txBody>
          <a:bodyPr wrap="square" lIns="0" tIns="0" rIns="0" bIns="0" rtlCol="0" anchor="t"/>
          <a:lstStyle/>
          <a:p>
            <a:pPr algn="ctr" indent="0" marL="0">
              <a:buNone/>
            </a:pPr>
            <a:r>
              <a:rPr lang="en-US" sz="1300" dirty="0">
                <a:solidFill>
                  <a:srgbClr val="55708A"/>
                </a:solidFill>
                <a:latin typeface="Calibri" pitchFamily="34" charset="0"/>
                <a:ea typeface="Calibri" pitchFamily="34" charset="-122"/>
                <a:cs typeface="Calibri" pitchFamily="34" charset="-120"/>
              </a:rPr>
              <a:t>probability and delay range, each with a Source</a:t>
            </a:r>
            <a:endParaRPr lang="en-US" sz="1300" dirty="0"/>
          </a:p>
        </p:txBody>
      </p:sp>
      <p:sp>
        <p:nvSpPr>
          <p:cNvPr id="14" name="a3_c"/>
          <p:cNvSpPr/>
          <p:nvPr/>
        </p:nvSpPr>
        <p:spPr>
          <a:xfrm>
            <a:off x="5532120" y="1463040"/>
            <a:ext cx="1051560" cy="1051560"/>
          </a:xfrm>
          <a:prstGeom prst="ellipse">
            <a:avLst/>
          </a:prstGeom>
          <a:solidFill>
            <a:srgbClr val="173F6B"/>
          </a:solidFill>
          <a:ln w="12700">
            <a:solidFill>
              <a:srgbClr val="173F6B"/>
            </a:solidFill>
            <a:prstDash val="solid"/>
          </a:ln>
        </p:spPr>
      </p:sp>
      <p:sp>
        <p:nvSpPr>
          <p:cNvPr id="15" name="a3_cn"/>
          <p:cNvSpPr txBox="1"/>
          <p:nvPr/>
        </p:nvSpPr>
        <p:spPr>
          <a:xfrm>
            <a:off x="5532120" y="14630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Times New Roman" pitchFamily="34" charset="0"/>
                <a:ea typeface="Times New Roman" pitchFamily="34" charset="-122"/>
                <a:cs typeface="Times New Roman" pitchFamily="34" charset="-120"/>
              </a:rPr>
              <a:t>3</a:t>
            </a:r>
            <a:endParaRPr lang="en-US" sz="3400" dirty="0"/>
          </a:p>
        </p:txBody>
      </p:sp>
      <p:sp>
        <p:nvSpPr>
          <p:cNvPr id="16" name="a3_ar"/>
          <p:cNvSpPr/>
          <p:nvPr/>
        </p:nvSpPr>
        <p:spPr>
          <a:xfrm>
            <a:off x="6720840" y="1810512"/>
            <a:ext cx="502920" cy="365760"/>
          </a:xfrm>
          <a:prstGeom prst="rightArrow">
            <a:avLst/>
          </a:prstGeom>
          <a:solidFill>
            <a:srgbClr val="B9CFE3"/>
          </a:solidFill>
          <a:ln w="12700">
            <a:solidFill>
              <a:srgbClr val="B9CFE3"/>
            </a:solidFill>
            <a:prstDash val="solid"/>
          </a:ln>
        </p:spPr>
      </p:sp>
      <p:sp>
        <p:nvSpPr>
          <p:cNvPr id="17" name="a3_h"/>
          <p:cNvSpPr txBox="1"/>
          <p:nvPr/>
        </p:nvSpPr>
        <p:spPr>
          <a:xfrm>
            <a:off x="5029200" y="2697480"/>
            <a:ext cx="2057400" cy="411480"/>
          </a:xfrm>
          <a:prstGeom prst="rect">
            <a:avLst/>
          </a:prstGeom>
          <a:noFill/>
          <a:ln/>
        </p:spPr>
        <p:txBody>
          <a:bodyPr wrap="square" lIns="0" tIns="0" rIns="0" bIns="0" rtlCol="0" anchor="t"/>
          <a:lstStyle/>
          <a:p>
            <a:pPr algn="ctr" indent="0" marL="0">
              <a:buNone/>
            </a:pPr>
            <a:r>
              <a:rPr lang="en-US" sz="2100" b="1" dirty="0">
                <a:solidFill>
                  <a:srgbClr val="12233B"/>
                </a:solidFill>
                <a:latin typeface="Times New Roman" pitchFamily="34" charset="0"/>
                <a:ea typeface="Times New Roman" pitchFamily="34" charset="-122"/>
                <a:cs typeface="Times New Roman" pitchFamily="34" charset="-120"/>
              </a:rPr>
              <a:t>Prioritise</a:t>
            </a:r>
            <a:endParaRPr lang="en-US" sz="2100" dirty="0"/>
          </a:p>
        </p:txBody>
      </p:sp>
      <p:sp>
        <p:nvSpPr>
          <p:cNvPr id="18" name="a3_d"/>
          <p:cNvSpPr txBox="1"/>
          <p:nvPr/>
        </p:nvSpPr>
        <p:spPr>
          <a:xfrm>
            <a:off x="5074920" y="3154680"/>
            <a:ext cx="1965960" cy="1005840"/>
          </a:xfrm>
          <a:prstGeom prst="rect">
            <a:avLst/>
          </a:prstGeom>
          <a:noFill/>
          <a:ln/>
        </p:spPr>
        <p:txBody>
          <a:bodyPr wrap="square" lIns="0" tIns="0" rIns="0" bIns="0" rtlCol="0" anchor="t"/>
          <a:lstStyle/>
          <a:p>
            <a:pPr algn="ctr" indent="0" marL="0">
              <a:buNone/>
            </a:pPr>
            <a:r>
              <a:rPr lang="en-US" sz="1300" dirty="0">
                <a:solidFill>
                  <a:srgbClr val="55708A"/>
                </a:solidFill>
                <a:latin typeface="Calibri" pitchFamily="34" charset="0"/>
                <a:ea typeface="Calibri" pitchFamily="34" charset="-122"/>
                <a:cs typeface="Calibri" pitchFamily="34" charset="-120"/>
              </a:rPr>
              <a:t>5x5 matrix: class x class gives a level</a:t>
            </a:r>
            <a:endParaRPr lang="en-US" sz="1300" dirty="0"/>
          </a:p>
        </p:txBody>
      </p:sp>
      <p:sp>
        <p:nvSpPr>
          <p:cNvPr id="19" name="a4_c"/>
          <p:cNvSpPr/>
          <p:nvPr/>
        </p:nvSpPr>
        <p:spPr>
          <a:xfrm>
            <a:off x="7772400" y="1463040"/>
            <a:ext cx="1051560" cy="1051560"/>
          </a:xfrm>
          <a:prstGeom prst="ellipse">
            <a:avLst/>
          </a:prstGeom>
          <a:solidFill>
            <a:srgbClr val="2F6C9A"/>
          </a:solidFill>
          <a:ln w="12700">
            <a:solidFill>
              <a:srgbClr val="2F6C9A"/>
            </a:solidFill>
            <a:prstDash val="solid"/>
          </a:ln>
        </p:spPr>
      </p:sp>
      <p:sp>
        <p:nvSpPr>
          <p:cNvPr id="20" name="a4_cn"/>
          <p:cNvSpPr txBox="1"/>
          <p:nvPr/>
        </p:nvSpPr>
        <p:spPr>
          <a:xfrm>
            <a:off x="7772400" y="14630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Times New Roman" pitchFamily="34" charset="0"/>
                <a:ea typeface="Times New Roman" pitchFamily="34" charset="-122"/>
                <a:cs typeface="Times New Roman" pitchFamily="34" charset="-120"/>
              </a:rPr>
              <a:t>4</a:t>
            </a:r>
            <a:endParaRPr lang="en-US" sz="3400" dirty="0"/>
          </a:p>
        </p:txBody>
      </p:sp>
      <p:sp>
        <p:nvSpPr>
          <p:cNvPr id="21" name="a4_ar"/>
          <p:cNvSpPr/>
          <p:nvPr/>
        </p:nvSpPr>
        <p:spPr>
          <a:xfrm>
            <a:off x="8961120" y="1810512"/>
            <a:ext cx="502920" cy="365760"/>
          </a:xfrm>
          <a:prstGeom prst="rightArrow">
            <a:avLst/>
          </a:prstGeom>
          <a:solidFill>
            <a:srgbClr val="B9CFE3"/>
          </a:solidFill>
          <a:ln w="12700">
            <a:solidFill>
              <a:srgbClr val="B9CFE3"/>
            </a:solidFill>
            <a:prstDash val="solid"/>
          </a:ln>
        </p:spPr>
      </p:sp>
      <p:sp>
        <p:nvSpPr>
          <p:cNvPr id="22" name="a4_h"/>
          <p:cNvSpPr txBox="1"/>
          <p:nvPr/>
        </p:nvSpPr>
        <p:spPr>
          <a:xfrm>
            <a:off x="7269480" y="2697480"/>
            <a:ext cx="2057400" cy="411480"/>
          </a:xfrm>
          <a:prstGeom prst="rect">
            <a:avLst/>
          </a:prstGeom>
          <a:noFill/>
          <a:ln/>
        </p:spPr>
        <p:txBody>
          <a:bodyPr wrap="square" lIns="0" tIns="0" rIns="0" bIns="0" rtlCol="0" anchor="t"/>
          <a:lstStyle/>
          <a:p>
            <a:pPr algn="ctr" indent="0" marL="0">
              <a:buNone/>
            </a:pPr>
            <a:r>
              <a:rPr lang="en-US" sz="2100" b="1" dirty="0">
                <a:solidFill>
                  <a:srgbClr val="12233B"/>
                </a:solidFill>
                <a:latin typeface="Times New Roman" pitchFamily="34" charset="0"/>
                <a:ea typeface="Times New Roman" pitchFamily="34" charset="-122"/>
                <a:cs typeface="Times New Roman" pitchFamily="34" charset="-120"/>
              </a:rPr>
              <a:t>Record</a:t>
            </a:r>
            <a:endParaRPr lang="en-US" sz="2100" dirty="0"/>
          </a:p>
        </p:txBody>
      </p:sp>
      <p:sp>
        <p:nvSpPr>
          <p:cNvPr id="23" name="a4_d"/>
          <p:cNvSpPr txBox="1"/>
          <p:nvPr/>
        </p:nvSpPr>
        <p:spPr>
          <a:xfrm>
            <a:off x="7315200" y="3154680"/>
            <a:ext cx="1965960" cy="1005840"/>
          </a:xfrm>
          <a:prstGeom prst="rect">
            <a:avLst/>
          </a:prstGeom>
          <a:noFill/>
          <a:ln/>
        </p:spPr>
        <p:txBody>
          <a:bodyPr wrap="square" lIns="0" tIns="0" rIns="0" bIns="0" rtlCol="0" anchor="t"/>
          <a:lstStyle/>
          <a:p>
            <a:pPr algn="ctr" indent="0" marL="0">
              <a:buNone/>
            </a:pPr>
            <a:r>
              <a:rPr lang="en-US" sz="1300" dirty="0">
                <a:solidFill>
                  <a:srgbClr val="55708A"/>
                </a:solidFill>
                <a:latin typeface="Calibri" pitchFamily="34" charset="0"/>
                <a:ea typeface="Calibri" pitchFamily="34" charset="-122"/>
                <a:cs typeface="Calibri" pitchFamily="34" charset="-120"/>
              </a:rPr>
              <a:t>register: owner, trigger, response, review date</a:t>
            </a:r>
            <a:endParaRPr lang="en-US" sz="1300" dirty="0"/>
          </a:p>
        </p:txBody>
      </p:sp>
      <p:sp>
        <p:nvSpPr>
          <p:cNvPr id="24" name="a5_c"/>
          <p:cNvSpPr/>
          <p:nvPr/>
        </p:nvSpPr>
        <p:spPr>
          <a:xfrm>
            <a:off x="10012680" y="1463040"/>
            <a:ext cx="1051560" cy="1051560"/>
          </a:xfrm>
          <a:prstGeom prst="ellipse">
            <a:avLst/>
          </a:prstGeom>
          <a:solidFill>
            <a:srgbClr val="173F6B"/>
          </a:solidFill>
          <a:ln w="12700">
            <a:solidFill>
              <a:srgbClr val="173F6B"/>
            </a:solidFill>
            <a:prstDash val="solid"/>
          </a:ln>
        </p:spPr>
      </p:sp>
      <p:sp>
        <p:nvSpPr>
          <p:cNvPr id="25" name="a5_cn"/>
          <p:cNvSpPr txBox="1"/>
          <p:nvPr/>
        </p:nvSpPr>
        <p:spPr>
          <a:xfrm>
            <a:off x="10012680" y="14630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Times New Roman" pitchFamily="34" charset="0"/>
                <a:ea typeface="Times New Roman" pitchFamily="34" charset="-122"/>
                <a:cs typeface="Times New Roman" pitchFamily="34" charset="-120"/>
              </a:rPr>
              <a:t>5</a:t>
            </a:r>
            <a:endParaRPr lang="en-US" sz="3400" dirty="0"/>
          </a:p>
        </p:txBody>
      </p:sp>
      <p:sp>
        <p:nvSpPr>
          <p:cNvPr id="26" name="a5_h"/>
          <p:cNvSpPr txBox="1"/>
          <p:nvPr/>
        </p:nvSpPr>
        <p:spPr>
          <a:xfrm>
            <a:off x="9509760" y="2697480"/>
            <a:ext cx="2057400" cy="411480"/>
          </a:xfrm>
          <a:prstGeom prst="rect">
            <a:avLst/>
          </a:prstGeom>
          <a:noFill/>
          <a:ln/>
        </p:spPr>
        <p:txBody>
          <a:bodyPr wrap="square" lIns="0" tIns="0" rIns="0" bIns="0" rtlCol="0" anchor="t"/>
          <a:lstStyle/>
          <a:p>
            <a:pPr algn="ctr" indent="0" marL="0">
              <a:buNone/>
            </a:pPr>
            <a:r>
              <a:rPr lang="en-US" sz="2100" b="1" dirty="0">
                <a:solidFill>
                  <a:srgbClr val="12233B"/>
                </a:solidFill>
                <a:latin typeface="Times New Roman" pitchFamily="34" charset="0"/>
                <a:ea typeface="Times New Roman" pitchFamily="34" charset="-122"/>
                <a:cs typeface="Times New Roman" pitchFamily="34" charset="-120"/>
              </a:rPr>
              <a:t>Review</a:t>
            </a:r>
            <a:endParaRPr lang="en-US" sz="2100" dirty="0"/>
          </a:p>
        </p:txBody>
      </p:sp>
      <p:sp>
        <p:nvSpPr>
          <p:cNvPr id="27" name="a5_d"/>
          <p:cNvSpPr txBox="1"/>
          <p:nvPr/>
        </p:nvSpPr>
        <p:spPr>
          <a:xfrm>
            <a:off x="9555480" y="3154680"/>
            <a:ext cx="1965960" cy="1005840"/>
          </a:xfrm>
          <a:prstGeom prst="rect">
            <a:avLst/>
          </a:prstGeom>
          <a:noFill/>
          <a:ln/>
        </p:spPr>
        <p:txBody>
          <a:bodyPr wrap="square" lIns="0" tIns="0" rIns="0" bIns="0" rtlCol="0" anchor="t"/>
          <a:lstStyle/>
          <a:p>
            <a:pPr algn="ctr" indent="0" marL="0">
              <a:buNone/>
            </a:pPr>
            <a:r>
              <a:rPr lang="en-US" sz="1300" dirty="0">
                <a:solidFill>
                  <a:srgbClr val="55708A"/>
                </a:solidFill>
                <a:latin typeface="Calibri" pitchFamily="34" charset="0"/>
                <a:ea typeface="Calibri" pitchFamily="34" charset="-122"/>
                <a:cs typeface="Calibri" pitchFamily="34" charset="-120"/>
              </a:rPr>
              <a:t>replace tiers with site data; re-run</a:t>
            </a:r>
            <a:endParaRPr lang="en-US" sz="1300" dirty="0"/>
          </a:p>
        </p:txBody>
      </p:sp>
      <p:sp>
        <p:nvSpPr>
          <p:cNvPr id="28" name="a6_pcard"/>
          <p:cNvSpPr/>
          <p:nvPr/>
        </p:nvSpPr>
        <p:spPr>
          <a:xfrm>
            <a:off x="548640" y="4526280"/>
            <a:ext cx="3520440" cy="1508760"/>
          </a:xfrm>
          <a:prstGeom prst="roundRect">
            <a:avLst>
              <a:gd name="adj" fmla="val 6061"/>
            </a:avLst>
          </a:prstGeom>
          <a:solidFill>
            <a:srgbClr val="DCEAF6"/>
          </a:solidFill>
          <a:ln w="12700">
            <a:solidFill>
              <a:srgbClr val="DCEAF6"/>
            </a:solidFill>
            <a:prstDash val="solid"/>
          </a:ln>
        </p:spPr>
      </p:sp>
      <p:sp>
        <p:nvSpPr>
          <p:cNvPr id="29" name="a6_ph0"/>
          <p:cNvSpPr txBox="1"/>
          <p:nvPr/>
        </p:nvSpPr>
        <p:spPr>
          <a:xfrm>
            <a:off x="777240" y="4617720"/>
            <a:ext cx="3108960" cy="3657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Ordinal, not cardinal</a:t>
            </a:r>
            <a:endParaRPr lang="en-US" sz="1800" dirty="0"/>
          </a:p>
        </p:txBody>
      </p:sp>
      <p:sp>
        <p:nvSpPr>
          <p:cNvPr id="30" name="a6_pd0"/>
          <p:cNvSpPr txBox="1"/>
          <p:nvPr/>
        </p:nvSpPr>
        <p:spPr>
          <a:xfrm>
            <a:off x="777240" y="5029200"/>
            <a:ext cx="3108960" cy="91440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Classes order risks; they do not measure days or money.</a:t>
            </a:r>
            <a:endParaRPr lang="en-US" sz="1400" dirty="0"/>
          </a:p>
        </p:txBody>
      </p:sp>
      <p:sp>
        <p:nvSpPr>
          <p:cNvPr id="31" name="a6_pcard"/>
          <p:cNvSpPr/>
          <p:nvPr/>
        </p:nvSpPr>
        <p:spPr>
          <a:xfrm>
            <a:off x="4297680" y="4526280"/>
            <a:ext cx="3520440" cy="1508760"/>
          </a:xfrm>
          <a:prstGeom prst="roundRect">
            <a:avLst>
              <a:gd name="adj" fmla="val 6061"/>
            </a:avLst>
          </a:prstGeom>
          <a:solidFill>
            <a:srgbClr val="DCEAF6"/>
          </a:solidFill>
          <a:ln w="12700">
            <a:solidFill>
              <a:srgbClr val="DCEAF6"/>
            </a:solidFill>
            <a:prstDash val="solid"/>
          </a:ln>
        </p:spPr>
      </p:sp>
      <p:sp>
        <p:nvSpPr>
          <p:cNvPr id="32" name="a6_ph1"/>
          <p:cNvSpPr txBox="1"/>
          <p:nvPr/>
        </p:nvSpPr>
        <p:spPr>
          <a:xfrm>
            <a:off x="4526280" y="4617720"/>
            <a:ext cx="3108960" cy="3657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Provenance on every number</a:t>
            </a:r>
            <a:endParaRPr lang="en-US" sz="1800" dirty="0"/>
          </a:p>
        </p:txBody>
      </p:sp>
      <p:sp>
        <p:nvSpPr>
          <p:cNvPr id="33" name="a6_pd1"/>
          <p:cNvSpPr txBox="1"/>
          <p:nvPr/>
        </p:nvSpPr>
        <p:spPr>
          <a:xfrm>
            <a:off x="4526280" y="5029200"/>
            <a:ext cx="3108960" cy="91440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Literature, Historical Data, User Input, Expert Judgment, Derived Calculation, Assumption.</a:t>
            </a:r>
            <a:endParaRPr lang="en-US" sz="1400" dirty="0"/>
          </a:p>
        </p:txBody>
      </p:sp>
      <p:sp>
        <p:nvSpPr>
          <p:cNvPr id="34" name="a6_pcard"/>
          <p:cNvSpPr/>
          <p:nvPr/>
        </p:nvSpPr>
        <p:spPr>
          <a:xfrm>
            <a:off x="8046720" y="4526280"/>
            <a:ext cx="3520440" cy="1508760"/>
          </a:xfrm>
          <a:prstGeom prst="roundRect">
            <a:avLst>
              <a:gd name="adj" fmla="val 6061"/>
            </a:avLst>
          </a:prstGeom>
          <a:solidFill>
            <a:srgbClr val="DCEAF6"/>
          </a:solidFill>
          <a:ln w="12700">
            <a:solidFill>
              <a:srgbClr val="DCEAF6"/>
            </a:solidFill>
            <a:prstDash val="solid"/>
          </a:ln>
        </p:spPr>
      </p:sp>
      <p:sp>
        <p:nvSpPr>
          <p:cNvPr id="35" name="a6_ph2"/>
          <p:cNvSpPr txBox="1"/>
          <p:nvPr/>
        </p:nvSpPr>
        <p:spPr>
          <a:xfrm>
            <a:off x="8275320" y="4617720"/>
            <a:ext cx="3108960" cy="3657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A person decides</a:t>
            </a:r>
            <a:endParaRPr lang="en-US" sz="1800" dirty="0"/>
          </a:p>
        </p:txBody>
      </p:sp>
      <p:sp>
        <p:nvSpPr>
          <p:cNvPr id="36" name="a6_pd2"/>
          <p:cNvSpPr txBox="1"/>
          <p:nvPr/>
        </p:nvSpPr>
        <p:spPr>
          <a:xfrm>
            <a:off x="8275320" y="5029200"/>
            <a:ext cx="3108960" cy="91440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Tool-supplied placements are labelled; AI suggestions stay unverified until confirmed.</a:t>
            </a:r>
            <a:endParaRPr lang="en-US" sz="14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8"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childTnLst>
                          </p:cTn>
                        </p:par>
                        <p:par>
                          <p:cTn id="66"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childTnLst>
                          </p:cTn>
                        </p:par>
                        <p:par>
                          <p:cTn id="79" fill="hold">
                            <p:stCondLst>
                              <p:cond delay="152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50"/>
                                        <p:tgtEl>
                                          <p:spTgt spid="27"/>
                                        </p:tgtEl>
                                      </p:cBhvr>
                                    </p:animEffect>
                                  </p:childTnLst>
                                </p:cTn>
                              </p:par>
                            </p:childTnLst>
                          </p:cTn>
                        </p:par>
                        <p:par>
                          <p:cTn id="107" fill="hold">
                            <p:stCondLst>
                              <p:cond delay="1900"/>
                            </p:stCondLst>
                            <p:childTnLst>
                              <p:par>
                                <p:cTn id="80" presetID="10" presetClass="entr" presetSubtype="0" fill="hold" grpId="0"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50"/>
                                        <p:tgtEl>
                                          <p:spTgt spid="28"/>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50"/>
                                        <p:tgtEl>
                                          <p:spTgt spid="3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50"/>
                                        <p:tgtEl>
                                          <p:spTgt spid="3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50"/>
                                        <p:tgtEl>
                                          <p:spTgt spid="33"/>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450"/>
                                        <p:tgtEl>
                                          <p:spTgt spid="3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450"/>
                                        <p:tgtEl>
                                          <p:spTgt spid="35"/>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Objectives and where each stands</a:t>
            </a:r>
            <a:endParaRPr lang="en-US" sz="3200" dirty="0"/>
          </a:p>
        </p:txBody>
      </p:sp>
      <p:sp>
        <p:nvSpPr>
          <p:cNvPr id="4" name="a1_card"/>
          <p:cNvSpPr/>
          <p:nvPr/>
        </p:nvSpPr>
        <p:spPr>
          <a:xfrm>
            <a:off x="4434840" y="640080"/>
            <a:ext cx="7178040" cy="1280160"/>
          </a:xfrm>
          <a:prstGeom prst="roundRect">
            <a:avLst>
              <a:gd name="adj" fmla="val 7143"/>
            </a:avLst>
          </a:prstGeom>
          <a:solidFill>
            <a:srgbClr val="FFFFFF"/>
          </a:solidFill>
          <a:ln w="12700">
            <a:solidFill>
              <a:srgbClr val="B9CFE3"/>
            </a:solidFill>
            <a:prstDash val="solid"/>
          </a:ln>
        </p:spPr>
      </p:sp>
      <p:sp>
        <p:nvSpPr>
          <p:cNvPr id="5" name="a1_nc"/>
          <p:cNvSpPr/>
          <p:nvPr/>
        </p:nvSpPr>
        <p:spPr>
          <a:xfrm>
            <a:off x="4617720" y="960120"/>
            <a:ext cx="640080" cy="640080"/>
          </a:xfrm>
          <a:prstGeom prst="ellipse">
            <a:avLst/>
          </a:prstGeom>
          <a:solidFill>
            <a:srgbClr val="173F6B"/>
          </a:solidFill>
          <a:ln w="12700">
            <a:solidFill>
              <a:srgbClr val="173F6B"/>
            </a:solidFill>
            <a:prstDash val="solid"/>
          </a:ln>
        </p:spPr>
      </p:sp>
      <p:sp>
        <p:nvSpPr>
          <p:cNvPr id="6" name="a1_nt"/>
          <p:cNvSpPr txBox="1"/>
          <p:nvPr/>
        </p:nvSpPr>
        <p:spPr>
          <a:xfrm>
            <a:off x="4617720" y="960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O1</a:t>
            </a:r>
            <a:endParaRPr lang="en-US" sz="1700" dirty="0"/>
          </a:p>
        </p:txBody>
      </p:sp>
      <p:sp>
        <p:nvSpPr>
          <p:cNvPr id="7" name="a1_h"/>
          <p:cNvSpPr txBox="1"/>
          <p:nvPr/>
        </p:nvSpPr>
        <p:spPr>
          <a:xfrm>
            <a:off x="5440680" y="749808"/>
            <a:ext cx="4754880" cy="640080"/>
          </a:xfrm>
          <a:prstGeom prst="rect">
            <a:avLst/>
          </a:prstGeom>
          <a:noFill/>
          <a:ln/>
        </p:spPr>
        <p:txBody>
          <a:bodyPr wrap="square" lIns="0" tIns="0" rIns="0" bIns="0" rtlCol="0" anchor="t"/>
          <a:lstStyle/>
          <a:p>
            <a:pPr indent="0" marL="0">
              <a:buNone/>
            </a:pPr>
            <a:r>
              <a:rPr lang="en-US" sz="1600" b="1" dirty="0">
                <a:solidFill>
                  <a:srgbClr val="12233B"/>
                </a:solidFill>
                <a:latin typeface="Calibri" pitchFamily="34" charset="0"/>
                <a:ea typeface="Calibri" pitchFamily="34" charset="-122"/>
                <a:cs typeface="Calibri" pitchFamily="34" charset="-120"/>
              </a:rPr>
              <a:t>A verified risk library with a documented factor-to-risk mapping</a:t>
            </a:r>
            <a:endParaRPr lang="en-US" sz="1600" dirty="0"/>
          </a:p>
        </p:txBody>
      </p:sp>
      <p:sp>
        <p:nvSpPr>
          <p:cNvPr id="8" name="a1_d"/>
          <p:cNvSpPr txBox="1"/>
          <p:nvPr/>
        </p:nvSpPr>
        <p:spPr>
          <a:xfrm>
            <a:off x="5440680" y="1389888"/>
            <a:ext cx="4754880" cy="4572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Library built (46 risks); second-coder agreement still to do</a:t>
            </a:r>
            <a:endParaRPr lang="en-US" sz="1300" dirty="0"/>
          </a:p>
        </p:txBody>
      </p:sp>
      <p:sp>
        <p:nvSpPr>
          <p:cNvPr id="9" name="a1_chip"/>
          <p:cNvSpPr/>
          <p:nvPr/>
        </p:nvSpPr>
        <p:spPr>
          <a:xfrm>
            <a:off x="10332720" y="1051560"/>
            <a:ext cx="1097280" cy="457200"/>
          </a:xfrm>
          <a:prstGeom prst="roundRect">
            <a:avLst>
              <a:gd name="adj" fmla="val 50000"/>
            </a:avLst>
          </a:prstGeom>
          <a:solidFill>
            <a:srgbClr val="4B5BA8"/>
          </a:solidFill>
          <a:ln w="12700">
            <a:solidFill>
              <a:srgbClr val="4B5BA8"/>
            </a:solidFill>
            <a:prstDash val="solid"/>
          </a:ln>
        </p:spPr>
      </p:sp>
      <p:sp>
        <p:nvSpPr>
          <p:cNvPr id="10" name="a1_chipt"/>
          <p:cNvSpPr txBox="1"/>
          <p:nvPr/>
        </p:nvSpPr>
        <p:spPr>
          <a:xfrm>
            <a:off x="10332720" y="1051560"/>
            <a:ext cx="10972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Partly</a:t>
            </a:r>
            <a:endParaRPr lang="en-US" sz="1400" dirty="0"/>
          </a:p>
        </p:txBody>
      </p:sp>
      <p:sp>
        <p:nvSpPr>
          <p:cNvPr id="11" name="a2_card"/>
          <p:cNvSpPr/>
          <p:nvPr/>
        </p:nvSpPr>
        <p:spPr>
          <a:xfrm>
            <a:off x="4434840" y="2103120"/>
            <a:ext cx="7178040" cy="1280160"/>
          </a:xfrm>
          <a:prstGeom prst="roundRect">
            <a:avLst>
              <a:gd name="adj" fmla="val 7143"/>
            </a:avLst>
          </a:prstGeom>
          <a:solidFill>
            <a:srgbClr val="FFFFFF"/>
          </a:solidFill>
          <a:ln w="12700">
            <a:solidFill>
              <a:srgbClr val="B9CFE3"/>
            </a:solidFill>
            <a:prstDash val="solid"/>
          </a:ln>
        </p:spPr>
      </p:sp>
      <p:sp>
        <p:nvSpPr>
          <p:cNvPr id="12" name="a2_nc"/>
          <p:cNvSpPr/>
          <p:nvPr/>
        </p:nvSpPr>
        <p:spPr>
          <a:xfrm>
            <a:off x="4617720" y="2423160"/>
            <a:ext cx="640080" cy="640080"/>
          </a:xfrm>
          <a:prstGeom prst="ellipse">
            <a:avLst/>
          </a:prstGeom>
          <a:solidFill>
            <a:srgbClr val="173F6B"/>
          </a:solidFill>
          <a:ln w="12700">
            <a:solidFill>
              <a:srgbClr val="173F6B"/>
            </a:solidFill>
            <a:prstDash val="solid"/>
          </a:ln>
        </p:spPr>
      </p:sp>
      <p:sp>
        <p:nvSpPr>
          <p:cNvPr id="13" name="a2_nt"/>
          <p:cNvSpPr txBox="1"/>
          <p:nvPr/>
        </p:nvSpPr>
        <p:spPr>
          <a:xfrm>
            <a:off x="4617720" y="242316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O2</a:t>
            </a:r>
            <a:endParaRPr lang="en-US" sz="1700" dirty="0"/>
          </a:p>
        </p:txBody>
      </p:sp>
      <p:sp>
        <p:nvSpPr>
          <p:cNvPr id="14" name="a2_h"/>
          <p:cNvSpPr txBox="1"/>
          <p:nvPr/>
        </p:nvSpPr>
        <p:spPr>
          <a:xfrm>
            <a:off x="5440680" y="2212848"/>
            <a:ext cx="4754880" cy="640080"/>
          </a:xfrm>
          <a:prstGeom prst="rect">
            <a:avLst/>
          </a:prstGeom>
          <a:noFill/>
          <a:ln/>
        </p:spPr>
        <p:txBody>
          <a:bodyPr wrap="square" lIns="0" tIns="0" rIns="0" bIns="0" rtlCol="0" anchor="t"/>
          <a:lstStyle/>
          <a:p>
            <a:pPr indent="0" marL="0">
              <a:buNone/>
            </a:pPr>
            <a:r>
              <a:rPr lang="en-US" sz="1600" b="1" dirty="0">
                <a:solidFill>
                  <a:srgbClr val="12233B"/>
                </a:solidFill>
                <a:latin typeface="Calibri" pitchFamily="34" charset="0"/>
                <a:ea typeface="Calibri" pitchFamily="34" charset="-122"/>
                <a:cs typeface="Calibri" pitchFamily="34" charset="-120"/>
              </a:rPr>
              <a:t>Rules, register, 5x5 matrix and exports, implemented and tested</a:t>
            </a:r>
            <a:endParaRPr lang="en-US" sz="1600" dirty="0"/>
          </a:p>
        </p:txBody>
      </p:sp>
      <p:sp>
        <p:nvSpPr>
          <p:cNvPr id="15" name="a2_d"/>
          <p:cNvSpPr txBox="1"/>
          <p:nvPr/>
        </p:nvSpPr>
        <p:spPr>
          <a:xfrm>
            <a:off x="5440680" y="2852928"/>
            <a:ext cx="4754880" cy="4572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Implemented; 600 tests pass</a:t>
            </a:r>
            <a:endParaRPr lang="en-US" sz="1300" dirty="0"/>
          </a:p>
        </p:txBody>
      </p:sp>
      <p:sp>
        <p:nvSpPr>
          <p:cNvPr id="16" name="a2_chip"/>
          <p:cNvSpPr/>
          <p:nvPr/>
        </p:nvSpPr>
        <p:spPr>
          <a:xfrm>
            <a:off x="10332720" y="2514600"/>
            <a:ext cx="1097280" cy="457200"/>
          </a:xfrm>
          <a:prstGeom prst="roundRect">
            <a:avLst>
              <a:gd name="adj" fmla="val 50000"/>
            </a:avLst>
          </a:prstGeom>
          <a:solidFill>
            <a:srgbClr val="2F6C9A"/>
          </a:solidFill>
          <a:ln w="12700">
            <a:solidFill>
              <a:srgbClr val="2F6C9A"/>
            </a:solidFill>
            <a:prstDash val="solid"/>
          </a:ln>
        </p:spPr>
      </p:sp>
      <p:sp>
        <p:nvSpPr>
          <p:cNvPr id="17" name="a2_chipt"/>
          <p:cNvSpPr txBox="1"/>
          <p:nvPr/>
        </p:nvSpPr>
        <p:spPr>
          <a:xfrm>
            <a:off x="10332720" y="2514600"/>
            <a:ext cx="10972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Done</a:t>
            </a:r>
            <a:endParaRPr lang="en-US" sz="1400" dirty="0"/>
          </a:p>
        </p:txBody>
      </p:sp>
      <p:sp>
        <p:nvSpPr>
          <p:cNvPr id="18" name="a3_card"/>
          <p:cNvSpPr/>
          <p:nvPr/>
        </p:nvSpPr>
        <p:spPr>
          <a:xfrm>
            <a:off x="4434840" y="3566160"/>
            <a:ext cx="7178040" cy="1280160"/>
          </a:xfrm>
          <a:prstGeom prst="roundRect">
            <a:avLst>
              <a:gd name="adj" fmla="val 7143"/>
            </a:avLst>
          </a:prstGeom>
          <a:solidFill>
            <a:srgbClr val="FFFFFF"/>
          </a:solidFill>
          <a:ln w="12700">
            <a:solidFill>
              <a:srgbClr val="B9CFE3"/>
            </a:solidFill>
            <a:prstDash val="solid"/>
          </a:ln>
        </p:spPr>
      </p:sp>
      <p:sp>
        <p:nvSpPr>
          <p:cNvPr id="19" name="a3_nc"/>
          <p:cNvSpPr/>
          <p:nvPr/>
        </p:nvSpPr>
        <p:spPr>
          <a:xfrm>
            <a:off x="4617720" y="3886200"/>
            <a:ext cx="640080" cy="640080"/>
          </a:xfrm>
          <a:prstGeom prst="ellipse">
            <a:avLst/>
          </a:prstGeom>
          <a:solidFill>
            <a:srgbClr val="173F6B"/>
          </a:solidFill>
          <a:ln w="12700">
            <a:solidFill>
              <a:srgbClr val="173F6B"/>
            </a:solidFill>
            <a:prstDash val="solid"/>
          </a:ln>
        </p:spPr>
      </p:sp>
      <p:sp>
        <p:nvSpPr>
          <p:cNvPr id="20" name="a3_nt"/>
          <p:cNvSpPr txBox="1"/>
          <p:nvPr/>
        </p:nvSpPr>
        <p:spPr>
          <a:xfrm>
            <a:off x="4617720" y="388620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O3</a:t>
            </a:r>
            <a:endParaRPr lang="en-US" sz="1700" dirty="0"/>
          </a:p>
        </p:txBody>
      </p:sp>
      <p:sp>
        <p:nvSpPr>
          <p:cNvPr id="21" name="a3_h"/>
          <p:cNvSpPr txBox="1"/>
          <p:nvPr/>
        </p:nvSpPr>
        <p:spPr>
          <a:xfrm>
            <a:off x="5440680" y="3675888"/>
            <a:ext cx="4754880" cy="640080"/>
          </a:xfrm>
          <a:prstGeom prst="rect">
            <a:avLst/>
          </a:prstGeom>
          <a:noFill/>
          <a:ln/>
        </p:spPr>
        <p:txBody>
          <a:bodyPr wrap="square" lIns="0" tIns="0" rIns="0" bIns="0" rtlCol="0" anchor="t"/>
          <a:lstStyle/>
          <a:p>
            <a:pPr indent="0" marL="0">
              <a:buNone/>
            </a:pPr>
            <a:r>
              <a:rPr lang="en-US" sz="1600" b="1" dirty="0">
                <a:solidFill>
                  <a:srgbClr val="12233B"/>
                </a:solidFill>
                <a:latin typeface="Calibri" pitchFamily="34" charset="0"/>
                <a:ea typeface="Calibri" pitchFamily="34" charset="-122"/>
                <a:cs typeface="Calibri" pitchFamily="34" charset="-120"/>
              </a:rPr>
              <a:t>How consistent are the published RII rankings, with sensitivity</a:t>
            </a:r>
            <a:endParaRPr lang="en-US" sz="1600" dirty="0"/>
          </a:p>
        </p:txBody>
      </p:sp>
      <p:sp>
        <p:nvSpPr>
          <p:cNvPr id="22" name="a3_d"/>
          <p:cNvSpPr txBox="1"/>
          <p:nvPr/>
        </p:nvSpPr>
        <p:spPr>
          <a:xfrm>
            <a:off x="5440680" y="4315968"/>
            <a:ext cx="4754880" cy="4572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Analysis package written</a:t>
            </a:r>
            <a:endParaRPr lang="en-US" sz="1300" dirty="0"/>
          </a:p>
        </p:txBody>
      </p:sp>
      <p:sp>
        <p:nvSpPr>
          <p:cNvPr id="23" name="a3_chip"/>
          <p:cNvSpPr/>
          <p:nvPr/>
        </p:nvSpPr>
        <p:spPr>
          <a:xfrm>
            <a:off x="10332720" y="3977640"/>
            <a:ext cx="1097280" cy="457200"/>
          </a:xfrm>
          <a:prstGeom prst="roundRect">
            <a:avLst>
              <a:gd name="adj" fmla="val 50000"/>
            </a:avLst>
          </a:prstGeom>
          <a:solidFill>
            <a:srgbClr val="2F6C9A"/>
          </a:solidFill>
          <a:ln w="12700">
            <a:solidFill>
              <a:srgbClr val="2F6C9A"/>
            </a:solidFill>
            <a:prstDash val="solid"/>
          </a:ln>
        </p:spPr>
      </p:sp>
      <p:sp>
        <p:nvSpPr>
          <p:cNvPr id="24" name="a3_chipt"/>
          <p:cNvSpPr txBox="1"/>
          <p:nvPr/>
        </p:nvSpPr>
        <p:spPr>
          <a:xfrm>
            <a:off x="10332720" y="3977640"/>
            <a:ext cx="10972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Done</a:t>
            </a:r>
            <a:endParaRPr lang="en-US" sz="1400" dirty="0"/>
          </a:p>
        </p:txBody>
      </p:sp>
      <p:sp>
        <p:nvSpPr>
          <p:cNvPr id="25" name="a4_card"/>
          <p:cNvSpPr/>
          <p:nvPr/>
        </p:nvSpPr>
        <p:spPr>
          <a:xfrm>
            <a:off x="4434840" y="5029200"/>
            <a:ext cx="7178040" cy="1280160"/>
          </a:xfrm>
          <a:prstGeom prst="roundRect">
            <a:avLst>
              <a:gd name="adj" fmla="val 7143"/>
            </a:avLst>
          </a:prstGeom>
          <a:solidFill>
            <a:srgbClr val="FFFFFF"/>
          </a:solidFill>
          <a:ln w="12700">
            <a:solidFill>
              <a:srgbClr val="B9CFE3"/>
            </a:solidFill>
            <a:prstDash val="solid"/>
          </a:ln>
        </p:spPr>
      </p:sp>
      <p:sp>
        <p:nvSpPr>
          <p:cNvPr id="26" name="a4_nc"/>
          <p:cNvSpPr/>
          <p:nvPr/>
        </p:nvSpPr>
        <p:spPr>
          <a:xfrm>
            <a:off x="4617720" y="5349240"/>
            <a:ext cx="640080" cy="640080"/>
          </a:xfrm>
          <a:prstGeom prst="ellipse">
            <a:avLst/>
          </a:prstGeom>
          <a:solidFill>
            <a:srgbClr val="173F6B"/>
          </a:solidFill>
          <a:ln w="12700">
            <a:solidFill>
              <a:srgbClr val="173F6B"/>
            </a:solidFill>
            <a:prstDash val="solid"/>
          </a:ln>
        </p:spPr>
      </p:sp>
      <p:sp>
        <p:nvSpPr>
          <p:cNvPr id="27" name="a4_nt"/>
          <p:cNvSpPr txBox="1"/>
          <p:nvPr/>
        </p:nvSpPr>
        <p:spPr>
          <a:xfrm>
            <a:off x="4617720" y="534924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O4</a:t>
            </a:r>
            <a:endParaRPr lang="en-US" sz="1700" dirty="0"/>
          </a:p>
        </p:txBody>
      </p:sp>
      <p:sp>
        <p:nvSpPr>
          <p:cNvPr id="28" name="a4_h"/>
          <p:cNvSpPr txBox="1"/>
          <p:nvPr/>
        </p:nvSpPr>
        <p:spPr>
          <a:xfrm>
            <a:off x="5440680" y="5138928"/>
            <a:ext cx="4754880" cy="640080"/>
          </a:xfrm>
          <a:prstGeom prst="rect">
            <a:avLst/>
          </a:prstGeom>
          <a:noFill/>
          <a:ln/>
        </p:spPr>
        <p:txBody>
          <a:bodyPr wrap="square" lIns="0" tIns="0" rIns="0" bIns="0" rtlCol="0" anchor="t"/>
          <a:lstStyle/>
          <a:p>
            <a:pPr indent="0" marL="0">
              <a:buNone/>
            </a:pPr>
            <a:r>
              <a:rPr lang="en-US" sz="1600" b="1" dirty="0">
                <a:solidFill>
                  <a:srgbClr val="12233B"/>
                </a:solidFill>
                <a:latin typeface="Calibri" pitchFamily="34" charset="0"/>
                <a:ea typeface="Calibri" pitchFamily="34" charset="-122"/>
                <a:cs typeface="Calibri" pitchFamily="34" charset="-120"/>
              </a:rPr>
              <a:t>Software verification now; expert survey and usability session later</a:t>
            </a:r>
            <a:endParaRPr lang="en-US" sz="1600" dirty="0"/>
          </a:p>
        </p:txBody>
      </p:sp>
      <p:sp>
        <p:nvSpPr>
          <p:cNvPr id="29" name="a4_d"/>
          <p:cNvSpPr txBox="1"/>
          <p:nvPr/>
        </p:nvSpPr>
        <p:spPr>
          <a:xfrm>
            <a:off x="5440680" y="5779008"/>
            <a:ext cx="4754880" cy="4572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Verification done; survey and session planned</a:t>
            </a:r>
            <a:endParaRPr lang="en-US" sz="1300" dirty="0"/>
          </a:p>
        </p:txBody>
      </p:sp>
      <p:sp>
        <p:nvSpPr>
          <p:cNvPr id="30" name="a4_chip"/>
          <p:cNvSpPr/>
          <p:nvPr/>
        </p:nvSpPr>
        <p:spPr>
          <a:xfrm>
            <a:off x="10332720" y="5440680"/>
            <a:ext cx="1097280" cy="457200"/>
          </a:xfrm>
          <a:prstGeom prst="roundRect">
            <a:avLst>
              <a:gd name="adj" fmla="val 50000"/>
            </a:avLst>
          </a:prstGeom>
          <a:solidFill>
            <a:srgbClr val="55708A"/>
          </a:solidFill>
          <a:ln w="12700">
            <a:solidFill>
              <a:srgbClr val="55708A"/>
            </a:solidFill>
            <a:prstDash val="solid"/>
          </a:ln>
        </p:spPr>
      </p:sp>
      <p:sp>
        <p:nvSpPr>
          <p:cNvPr id="31" name="a4_chipt"/>
          <p:cNvSpPr txBox="1"/>
          <p:nvPr/>
        </p:nvSpPr>
        <p:spPr>
          <a:xfrm>
            <a:off x="10332720" y="5440680"/>
            <a:ext cx="10972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Planned</a:t>
            </a:r>
            <a:endParaRPr lang="en-US" sz="1400" dirty="0"/>
          </a:p>
        </p:txBody>
      </p:sp>
      <p:sp>
        <p:nvSpPr>
          <p:cNvPr id="32" name="Text 29"/>
          <p:cNvSpPr txBox="1"/>
          <p:nvPr/>
        </p:nvSpPr>
        <p:spPr>
          <a:xfrm>
            <a:off x="4434840" y="6144768"/>
            <a:ext cx="722376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docs/Project_Charter.md section 2 and 7</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1" fill="hold">
                      <p:stCondLst>
                        <p:cond delay="indefinite"/>
                        <p:cond evt="onBegin" delay="0">
                          <p:tn val="2"/>
                        </p:cond>
                      </p:stCondLst>
                      <p:childTnLst>
                        <p:par>
                          <p:cTn id="24"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childTnLst>
                          </p:cTn>
                        </p:par>
                        <p:par>
                          <p:cTn id="46" fill="hold">
                            <p:stCondLst>
                              <p:cond delay="380"/>
                            </p:stCondLst>
                            <p:childTnLst>
                              <p:par>
                                <p:cTn id="25" presetID="10" presetClass="entr" presetSubtype="0" fill="hold" grpId="0" nodeType="after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childTnLst>
                          </p:cTn>
                        </p:par>
                        <p:par>
                          <p:cTn id="68" fill="hold">
                            <p:stCondLst>
                              <p:cond delay="760"/>
                            </p:stCondLst>
                            <p:childTnLst>
                              <p:par>
                                <p:cTn id="47" presetID="10" presetClass="entr" presetSubtype="0" fill="hold" grpId="0" nodeType="after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childTnLst>
                          </p:cTn>
                        </p:par>
                        <p:par>
                          <p:cTn id="90" fill="hold">
                            <p:stCondLst>
                              <p:cond delay="1140"/>
                            </p:stCondLst>
                            <p:childTnLst>
                              <p:par>
                                <p:cTn id="69" presetID="10" presetClass="entr" presetSubtype="0" fill="hold" grpId="0" nodeType="after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45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45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45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45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45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45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Methodology: seven stages from papers to a matrix</a:t>
            </a:r>
            <a:endParaRPr lang="en-US" sz="3200" dirty="0"/>
          </a:p>
        </p:txBody>
      </p:sp>
      <p:sp>
        <p:nvSpPr>
          <p:cNvPr id="4" name="a1_card"/>
          <p:cNvSpPr/>
          <p:nvPr/>
        </p:nvSpPr>
        <p:spPr>
          <a:xfrm>
            <a:off x="548640" y="1463040"/>
            <a:ext cx="2560320" cy="1783080"/>
          </a:xfrm>
          <a:prstGeom prst="roundRect">
            <a:avLst>
              <a:gd name="adj" fmla="val 5128"/>
            </a:avLst>
          </a:prstGeom>
          <a:solidFill>
            <a:srgbClr val="EFF5FA"/>
          </a:solidFill>
          <a:ln w="12700">
            <a:solidFill>
              <a:srgbClr val="B9CFE3"/>
            </a:solidFill>
            <a:prstDash val="solid"/>
          </a:ln>
        </p:spPr>
      </p:sp>
      <p:sp>
        <p:nvSpPr>
          <p:cNvPr id="5" name="a1_nc"/>
          <p:cNvSpPr/>
          <p:nvPr/>
        </p:nvSpPr>
        <p:spPr>
          <a:xfrm>
            <a:off x="731520" y="1645920"/>
            <a:ext cx="548640" cy="548640"/>
          </a:xfrm>
          <a:prstGeom prst="ellipse">
            <a:avLst/>
          </a:prstGeom>
          <a:solidFill>
            <a:srgbClr val="2F6C9A"/>
          </a:solidFill>
          <a:ln w="12700">
            <a:solidFill>
              <a:srgbClr val="2F6C9A"/>
            </a:solidFill>
            <a:prstDash val="solid"/>
          </a:ln>
        </p:spPr>
      </p:sp>
      <p:sp>
        <p:nvSpPr>
          <p:cNvPr id="6" name="a1_nt"/>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7" name="a1_h"/>
          <p:cNvSpPr txBox="1"/>
          <p:nvPr/>
        </p:nvSpPr>
        <p:spPr>
          <a:xfrm>
            <a:off x="1417320" y="166420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Harvest</a:t>
            </a:r>
            <a:endParaRPr lang="en-US" sz="2100" dirty="0"/>
          </a:p>
        </p:txBody>
      </p:sp>
      <p:sp>
        <p:nvSpPr>
          <p:cNvPr id="8" name="a1_d"/>
          <p:cNvSpPr txBox="1"/>
          <p:nvPr/>
        </p:nvSpPr>
        <p:spPr>
          <a:xfrm>
            <a:off x="731520" y="233172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OpenAlex search of the literature</a:t>
            </a:r>
            <a:endParaRPr lang="en-US" sz="1400" dirty="0"/>
          </a:p>
        </p:txBody>
      </p:sp>
      <p:sp>
        <p:nvSpPr>
          <p:cNvPr id="9" name="a2_card"/>
          <p:cNvSpPr/>
          <p:nvPr/>
        </p:nvSpPr>
        <p:spPr>
          <a:xfrm>
            <a:off x="3337560" y="1463040"/>
            <a:ext cx="2560320" cy="1783080"/>
          </a:xfrm>
          <a:prstGeom prst="roundRect">
            <a:avLst>
              <a:gd name="adj" fmla="val 5128"/>
            </a:avLst>
          </a:prstGeom>
          <a:solidFill>
            <a:srgbClr val="DCEAF6"/>
          </a:solidFill>
          <a:ln w="12700">
            <a:solidFill>
              <a:srgbClr val="B9CFE3"/>
            </a:solidFill>
            <a:prstDash val="solid"/>
          </a:ln>
        </p:spPr>
      </p:sp>
      <p:sp>
        <p:nvSpPr>
          <p:cNvPr id="10" name="a2_nc"/>
          <p:cNvSpPr/>
          <p:nvPr/>
        </p:nvSpPr>
        <p:spPr>
          <a:xfrm>
            <a:off x="3520440" y="1645920"/>
            <a:ext cx="548640" cy="548640"/>
          </a:xfrm>
          <a:prstGeom prst="ellipse">
            <a:avLst/>
          </a:prstGeom>
          <a:solidFill>
            <a:srgbClr val="2F6C9A"/>
          </a:solidFill>
          <a:ln w="12700">
            <a:solidFill>
              <a:srgbClr val="2F6C9A"/>
            </a:solidFill>
            <a:prstDash val="solid"/>
          </a:ln>
        </p:spPr>
      </p:sp>
      <p:sp>
        <p:nvSpPr>
          <p:cNvPr id="11" name="a2_nt"/>
          <p:cNvSpPr txBox="1"/>
          <p:nvPr/>
        </p:nvSpPr>
        <p:spPr>
          <a:xfrm>
            <a:off x="352044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2" name="a2_h"/>
          <p:cNvSpPr txBox="1"/>
          <p:nvPr/>
        </p:nvSpPr>
        <p:spPr>
          <a:xfrm>
            <a:off x="4206240" y="166420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Screen</a:t>
            </a:r>
            <a:endParaRPr lang="en-US" sz="2100" dirty="0"/>
          </a:p>
        </p:txBody>
      </p:sp>
      <p:sp>
        <p:nvSpPr>
          <p:cNvPr id="13" name="a2_d"/>
          <p:cNvSpPr txBox="1"/>
          <p:nvPr/>
        </p:nvSpPr>
        <p:spPr>
          <a:xfrm>
            <a:off x="3520440" y="233172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Duplicates, abstract quality, relevance review</a:t>
            </a:r>
            <a:endParaRPr lang="en-US" sz="1400" dirty="0"/>
          </a:p>
        </p:txBody>
      </p:sp>
      <p:sp>
        <p:nvSpPr>
          <p:cNvPr id="14" name="a3_card"/>
          <p:cNvSpPr/>
          <p:nvPr/>
        </p:nvSpPr>
        <p:spPr>
          <a:xfrm>
            <a:off x="6126480" y="1463040"/>
            <a:ext cx="2560320" cy="1783080"/>
          </a:xfrm>
          <a:prstGeom prst="roundRect">
            <a:avLst>
              <a:gd name="adj" fmla="val 5128"/>
            </a:avLst>
          </a:prstGeom>
          <a:solidFill>
            <a:srgbClr val="EFF5FA"/>
          </a:solidFill>
          <a:ln w="12700">
            <a:solidFill>
              <a:srgbClr val="B9CFE3"/>
            </a:solidFill>
            <a:prstDash val="solid"/>
          </a:ln>
        </p:spPr>
      </p:sp>
      <p:sp>
        <p:nvSpPr>
          <p:cNvPr id="15" name="a3_nc"/>
          <p:cNvSpPr/>
          <p:nvPr/>
        </p:nvSpPr>
        <p:spPr>
          <a:xfrm>
            <a:off x="6309360" y="1645920"/>
            <a:ext cx="548640" cy="548640"/>
          </a:xfrm>
          <a:prstGeom prst="ellipse">
            <a:avLst/>
          </a:prstGeom>
          <a:solidFill>
            <a:srgbClr val="2F6C9A"/>
          </a:solidFill>
          <a:ln w="12700">
            <a:solidFill>
              <a:srgbClr val="2F6C9A"/>
            </a:solidFill>
            <a:prstDash val="solid"/>
          </a:ln>
        </p:spPr>
      </p:sp>
      <p:sp>
        <p:nvSpPr>
          <p:cNvPr id="16" name="a3_nt"/>
          <p:cNvSpPr txBox="1"/>
          <p:nvPr/>
        </p:nvSpPr>
        <p:spPr>
          <a:xfrm>
            <a:off x="630936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7" name="a3_h"/>
          <p:cNvSpPr txBox="1"/>
          <p:nvPr/>
        </p:nvSpPr>
        <p:spPr>
          <a:xfrm>
            <a:off x="6995160" y="166420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Extract</a:t>
            </a:r>
            <a:endParaRPr lang="en-US" sz="2100" dirty="0"/>
          </a:p>
        </p:txBody>
      </p:sp>
      <p:sp>
        <p:nvSpPr>
          <p:cNvPr id="18" name="a3_d"/>
          <p:cNvSpPr txBox="1"/>
          <p:nvPr/>
        </p:nvSpPr>
        <p:spPr>
          <a:xfrm>
            <a:off x="6309360" y="233172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RII values from 11 studies: 182 rows</a:t>
            </a:r>
            <a:endParaRPr lang="en-US" sz="1400" dirty="0"/>
          </a:p>
        </p:txBody>
      </p:sp>
      <p:sp>
        <p:nvSpPr>
          <p:cNvPr id="19" name="a4_card"/>
          <p:cNvSpPr/>
          <p:nvPr/>
        </p:nvSpPr>
        <p:spPr>
          <a:xfrm>
            <a:off x="8915400" y="1463040"/>
            <a:ext cx="2560320" cy="1783080"/>
          </a:xfrm>
          <a:prstGeom prst="roundRect">
            <a:avLst>
              <a:gd name="adj" fmla="val 5128"/>
            </a:avLst>
          </a:prstGeom>
          <a:solidFill>
            <a:srgbClr val="DCEAF6"/>
          </a:solidFill>
          <a:ln w="12700">
            <a:solidFill>
              <a:srgbClr val="B9CFE3"/>
            </a:solidFill>
            <a:prstDash val="solid"/>
          </a:ln>
        </p:spPr>
      </p:sp>
      <p:sp>
        <p:nvSpPr>
          <p:cNvPr id="20" name="a4_nc"/>
          <p:cNvSpPr/>
          <p:nvPr/>
        </p:nvSpPr>
        <p:spPr>
          <a:xfrm>
            <a:off x="9098280" y="1645920"/>
            <a:ext cx="548640" cy="548640"/>
          </a:xfrm>
          <a:prstGeom prst="ellipse">
            <a:avLst/>
          </a:prstGeom>
          <a:solidFill>
            <a:srgbClr val="2F6C9A"/>
          </a:solidFill>
          <a:ln w="12700">
            <a:solidFill>
              <a:srgbClr val="2F6C9A"/>
            </a:solidFill>
            <a:prstDash val="solid"/>
          </a:ln>
        </p:spPr>
      </p:sp>
      <p:sp>
        <p:nvSpPr>
          <p:cNvPr id="21" name="a4_nt"/>
          <p:cNvSpPr txBox="1"/>
          <p:nvPr/>
        </p:nvSpPr>
        <p:spPr>
          <a:xfrm>
            <a:off x="909828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4</a:t>
            </a:r>
            <a:endParaRPr lang="en-US" sz="1800" dirty="0"/>
          </a:p>
        </p:txBody>
      </p:sp>
      <p:sp>
        <p:nvSpPr>
          <p:cNvPr id="22" name="a4_h"/>
          <p:cNvSpPr txBox="1"/>
          <p:nvPr/>
        </p:nvSpPr>
        <p:spPr>
          <a:xfrm>
            <a:off x="9784080" y="166420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Map</a:t>
            </a:r>
            <a:endParaRPr lang="en-US" sz="2100" dirty="0"/>
          </a:p>
        </p:txBody>
      </p:sp>
      <p:sp>
        <p:nvSpPr>
          <p:cNvPr id="23" name="a4_d"/>
          <p:cNvSpPr txBox="1"/>
          <p:nvPr/>
        </p:nvSpPr>
        <p:spPr>
          <a:xfrm>
            <a:off x="9098280" y="233172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Each survey factor mapped to a library risk</a:t>
            </a:r>
            <a:endParaRPr lang="en-US" sz="1400" dirty="0"/>
          </a:p>
        </p:txBody>
      </p:sp>
      <p:sp>
        <p:nvSpPr>
          <p:cNvPr id="24" name="a5_card"/>
          <p:cNvSpPr/>
          <p:nvPr/>
        </p:nvSpPr>
        <p:spPr>
          <a:xfrm>
            <a:off x="548640" y="3611880"/>
            <a:ext cx="2560320" cy="1783080"/>
          </a:xfrm>
          <a:prstGeom prst="roundRect">
            <a:avLst>
              <a:gd name="adj" fmla="val 5128"/>
            </a:avLst>
          </a:prstGeom>
          <a:solidFill>
            <a:srgbClr val="EFF5FA"/>
          </a:solidFill>
          <a:ln w="12700">
            <a:solidFill>
              <a:srgbClr val="B9CFE3"/>
            </a:solidFill>
            <a:prstDash val="solid"/>
          </a:ln>
        </p:spPr>
      </p:sp>
      <p:sp>
        <p:nvSpPr>
          <p:cNvPr id="25" name="a5_nc"/>
          <p:cNvSpPr/>
          <p:nvPr/>
        </p:nvSpPr>
        <p:spPr>
          <a:xfrm>
            <a:off x="731520" y="3794760"/>
            <a:ext cx="548640" cy="548640"/>
          </a:xfrm>
          <a:prstGeom prst="ellipse">
            <a:avLst/>
          </a:prstGeom>
          <a:solidFill>
            <a:srgbClr val="2F6C9A"/>
          </a:solidFill>
          <a:ln w="12700">
            <a:solidFill>
              <a:srgbClr val="2F6C9A"/>
            </a:solidFill>
            <a:prstDash val="solid"/>
          </a:ln>
        </p:spPr>
      </p:sp>
      <p:sp>
        <p:nvSpPr>
          <p:cNvPr id="26" name="a5_nt"/>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5</a:t>
            </a:r>
            <a:endParaRPr lang="en-US" sz="1800" dirty="0"/>
          </a:p>
        </p:txBody>
      </p:sp>
      <p:sp>
        <p:nvSpPr>
          <p:cNvPr id="27" name="a5_h"/>
          <p:cNvSpPr txBox="1"/>
          <p:nvPr/>
        </p:nvSpPr>
        <p:spPr>
          <a:xfrm>
            <a:off x="1417320" y="381304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Build</a:t>
            </a:r>
            <a:endParaRPr lang="en-US" sz="2100" dirty="0"/>
          </a:p>
        </p:txBody>
      </p:sp>
      <p:sp>
        <p:nvSpPr>
          <p:cNvPr id="28" name="a5_d"/>
          <p:cNvSpPr txBox="1"/>
          <p:nvPr/>
        </p:nvSpPr>
        <p:spPr>
          <a:xfrm>
            <a:off x="731520" y="448056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Risk library (46) and site-fact rules (22)</a:t>
            </a:r>
            <a:endParaRPr lang="en-US" sz="1400" dirty="0"/>
          </a:p>
        </p:txBody>
      </p:sp>
      <p:sp>
        <p:nvSpPr>
          <p:cNvPr id="29" name="a6_card"/>
          <p:cNvSpPr/>
          <p:nvPr/>
        </p:nvSpPr>
        <p:spPr>
          <a:xfrm>
            <a:off x="3337560" y="3611880"/>
            <a:ext cx="2560320" cy="1783080"/>
          </a:xfrm>
          <a:prstGeom prst="roundRect">
            <a:avLst>
              <a:gd name="adj" fmla="val 5128"/>
            </a:avLst>
          </a:prstGeom>
          <a:solidFill>
            <a:srgbClr val="DCEAF6"/>
          </a:solidFill>
          <a:ln w="12700">
            <a:solidFill>
              <a:srgbClr val="B9CFE3"/>
            </a:solidFill>
            <a:prstDash val="solid"/>
          </a:ln>
        </p:spPr>
      </p:sp>
      <p:sp>
        <p:nvSpPr>
          <p:cNvPr id="30" name="a6_nc"/>
          <p:cNvSpPr/>
          <p:nvPr/>
        </p:nvSpPr>
        <p:spPr>
          <a:xfrm>
            <a:off x="3520440" y="3794760"/>
            <a:ext cx="548640" cy="548640"/>
          </a:xfrm>
          <a:prstGeom prst="ellipse">
            <a:avLst/>
          </a:prstGeom>
          <a:solidFill>
            <a:srgbClr val="2F6C9A"/>
          </a:solidFill>
          <a:ln w="12700">
            <a:solidFill>
              <a:srgbClr val="2F6C9A"/>
            </a:solidFill>
            <a:prstDash val="solid"/>
          </a:ln>
        </p:spPr>
      </p:sp>
      <p:sp>
        <p:nvSpPr>
          <p:cNvPr id="31" name="a6_nt"/>
          <p:cNvSpPr txBox="1"/>
          <p:nvPr/>
        </p:nvSpPr>
        <p:spPr>
          <a:xfrm>
            <a:off x="3520440" y="3794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6</a:t>
            </a:r>
            <a:endParaRPr lang="en-US" sz="1800" dirty="0"/>
          </a:p>
        </p:txBody>
      </p:sp>
      <p:sp>
        <p:nvSpPr>
          <p:cNvPr id="32" name="a6_h"/>
          <p:cNvSpPr txBox="1"/>
          <p:nvPr/>
        </p:nvSpPr>
        <p:spPr>
          <a:xfrm>
            <a:off x="4206240" y="381304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Assess</a:t>
            </a:r>
            <a:endParaRPr lang="en-US" sz="2100" dirty="0"/>
          </a:p>
        </p:txBody>
      </p:sp>
      <p:sp>
        <p:nvSpPr>
          <p:cNvPr id="33" name="a6_d"/>
          <p:cNvSpPr txBox="1"/>
          <p:nvPr/>
        </p:nvSpPr>
        <p:spPr>
          <a:xfrm>
            <a:off x="3520440" y="448056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Register and 5x5 matrix with Source labels</a:t>
            </a:r>
            <a:endParaRPr lang="en-US" sz="1400" dirty="0"/>
          </a:p>
        </p:txBody>
      </p:sp>
      <p:sp>
        <p:nvSpPr>
          <p:cNvPr id="34" name="a7_card"/>
          <p:cNvSpPr/>
          <p:nvPr/>
        </p:nvSpPr>
        <p:spPr>
          <a:xfrm>
            <a:off x="6126480" y="3611880"/>
            <a:ext cx="2560320" cy="1783080"/>
          </a:xfrm>
          <a:prstGeom prst="roundRect">
            <a:avLst>
              <a:gd name="adj" fmla="val 5128"/>
            </a:avLst>
          </a:prstGeom>
          <a:solidFill>
            <a:srgbClr val="FFFFFF"/>
          </a:solidFill>
          <a:ln w="19050">
            <a:solidFill>
              <a:srgbClr val="2F6C9A"/>
            </a:solidFill>
            <a:prstDash val="dash"/>
          </a:ln>
        </p:spPr>
      </p:sp>
      <p:sp>
        <p:nvSpPr>
          <p:cNvPr id="35" name="a7_nc"/>
          <p:cNvSpPr/>
          <p:nvPr/>
        </p:nvSpPr>
        <p:spPr>
          <a:xfrm>
            <a:off x="6309360" y="3794760"/>
            <a:ext cx="548640" cy="548640"/>
          </a:xfrm>
          <a:prstGeom prst="ellipse">
            <a:avLst/>
          </a:prstGeom>
          <a:solidFill>
            <a:srgbClr val="55708A"/>
          </a:solidFill>
          <a:ln w="12700">
            <a:solidFill>
              <a:srgbClr val="55708A"/>
            </a:solidFill>
            <a:prstDash val="solid"/>
          </a:ln>
        </p:spPr>
      </p:sp>
      <p:sp>
        <p:nvSpPr>
          <p:cNvPr id="36" name="a7_nt"/>
          <p:cNvSpPr txBox="1"/>
          <p:nvPr/>
        </p:nvSpPr>
        <p:spPr>
          <a:xfrm>
            <a:off x="6309360" y="3794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7</a:t>
            </a:r>
            <a:endParaRPr lang="en-US" sz="1800" dirty="0"/>
          </a:p>
        </p:txBody>
      </p:sp>
      <p:sp>
        <p:nvSpPr>
          <p:cNvPr id="37" name="a7_h"/>
          <p:cNvSpPr txBox="1"/>
          <p:nvPr/>
        </p:nvSpPr>
        <p:spPr>
          <a:xfrm>
            <a:off x="6995160" y="3813048"/>
            <a:ext cx="1554480" cy="457200"/>
          </a:xfrm>
          <a:prstGeom prst="rect">
            <a:avLst/>
          </a:prstGeom>
          <a:noFill/>
          <a:ln/>
        </p:spPr>
        <p:txBody>
          <a:bodyPr wrap="square" lIns="0" tIns="0" rIns="0" bIns="0" rtlCol="0" anchor="t"/>
          <a:lstStyle/>
          <a:p>
            <a:pPr indent="0" marL="0">
              <a:buNone/>
            </a:pPr>
            <a:r>
              <a:rPr lang="en-US" sz="2100" b="1" dirty="0">
                <a:solidFill>
                  <a:srgbClr val="12233B"/>
                </a:solidFill>
                <a:latin typeface="Times New Roman" pitchFamily="34" charset="0"/>
                <a:ea typeface="Times New Roman" pitchFamily="34" charset="-122"/>
                <a:cs typeface="Times New Roman" pitchFamily="34" charset="-120"/>
              </a:rPr>
              <a:t>Compare</a:t>
            </a:r>
            <a:endParaRPr lang="en-US" sz="2100" dirty="0"/>
          </a:p>
        </p:txBody>
      </p:sp>
      <p:sp>
        <p:nvSpPr>
          <p:cNvPr id="38" name="a7_d"/>
          <p:cNvSpPr txBox="1"/>
          <p:nvPr/>
        </p:nvSpPr>
        <p:spPr>
          <a:xfrm>
            <a:off x="6309360" y="4480560"/>
            <a:ext cx="2240280" cy="86868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Site schedule baseline (MSP / Primavera)</a:t>
            </a:r>
            <a:endParaRPr lang="en-US" sz="1400" dirty="0"/>
          </a:p>
        </p:txBody>
      </p:sp>
      <p:sp>
        <p:nvSpPr>
          <p:cNvPr id="39" name="a7_pl"/>
          <p:cNvSpPr txBox="1"/>
          <p:nvPr/>
        </p:nvSpPr>
        <p:spPr>
          <a:xfrm>
            <a:off x="7726680" y="3685032"/>
            <a:ext cx="868680" cy="228600"/>
          </a:xfrm>
          <a:prstGeom prst="rect">
            <a:avLst/>
          </a:prstGeom>
          <a:noFill/>
          <a:ln/>
        </p:spPr>
        <p:txBody>
          <a:bodyPr wrap="square" lIns="0" tIns="0" rIns="0" bIns="0" rtlCol="0" anchor="t"/>
          <a:lstStyle/>
          <a:p>
            <a:pPr algn="r" indent="0" marL="0">
              <a:buNone/>
            </a:pPr>
            <a:r>
              <a:rPr lang="en-US" sz="1000" b="1" spc="200" kern="0" dirty="0">
                <a:solidFill>
                  <a:srgbClr val="2F6C9A"/>
                </a:solidFill>
                <a:latin typeface="Calibri" pitchFamily="34" charset="0"/>
                <a:ea typeface="Calibri" pitchFamily="34" charset="-122"/>
                <a:cs typeface="Calibri" pitchFamily="34" charset="-120"/>
              </a:rPr>
              <a:t>PLANNED</a:t>
            </a:r>
            <a:endParaRPr lang="en-US" sz="1000" dirty="0"/>
          </a:p>
        </p:txBody>
      </p:sp>
      <p:sp>
        <p:nvSpPr>
          <p:cNvPr id="40" name="a8_imgframe"/>
          <p:cNvSpPr/>
          <p:nvPr/>
        </p:nvSpPr>
        <p:spPr>
          <a:xfrm>
            <a:off x="9006840" y="3611880"/>
            <a:ext cx="2651760" cy="1783080"/>
          </a:xfrm>
          <a:prstGeom prst="roundRect">
            <a:avLst>
              <a:gd name="adj" fmla="val 4103"/>
            </a:avLst>
          </a:prstGeom>
          <a:solidFill>
            <a:srgbClr val="EFF5FA"/>
          </a:solidFill>
          <a:ln w="15875">
            <a:solidFill>
              <a:srgbClr val="2F6C9A"/>
            </a:solidFill>
            <a:prstDash val="dash"/>
          </a:ln>
        </p:spPr>
      </p:sp>
      <p:sp>
        <p:nvSpPr>
          <p:cNvPr id="41" name="a8_imglabel"/>
          <p:cNvSpPr txBox="1"/>
          <p:nvPr/>
        </p:nvSpPr>
        <p:spPr>
          <a:xfrm>
            <a:off x="9144000" y="3611880"/>
            <a:ext cx="2377440" cy="178308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workflow diagram or literature screenshot</a:t>
            </a:r>
            <a:endParaRPr lang="en-US" sz="1600" dirty="0"/>
          </a:p>
        </p:txBody>
      </p:sp>
      <p:sp>
        <p:nvSpPr>
          <p:cNvPr id="42" name="Text 39"/>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scripts/ (harvest, screening, statistics); data/literature_seed.json; Handoff section 5</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5"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childTnLst>
                          </p:cTn>
                        </p:par>
                        <p:par>
                          <p:cTn id="66"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childTnLst>
                          </p:cTn>
                        </p:par>
                        <p:par>
                          <p:cTn id="82" fill="hold">
                            <p:stCondLst>
                              <p:cond delay="152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5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450"/>
                                        <p:tgtEl>
                                          <p:spTgt spid="28"/>
                                        </p:tgtEl>
                                      </p:cBhvr>
                                    </p:animEffect>
                                  </p:childTnLst>
                                </p:cTn>
                              </p:par>
                            </p:childTnLst>
                          </p:cTn>
                        </p:par>
                        <p:par>
                          <p:cTn id="98" fill="hold">
                            <p:stCondLst>
                              <p:cond delay="1900"/>
                            </p:stCondLst>
                            <p:childTnLst>
                              <p:par>
                                <p:cTn id="83" presetID="10"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50"/>
                                        <p:tgtEl>
                                          <p:spTgt spid="3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50"/>
                                        <p:tgtEl>
                                          <p:spTgt spid="3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50"/>
                                        <p:tgtEl>
                                          <p:spTgt spid="33"/>
                                        </p:tgtEl>
                                      </p:cBhvr>
                                    </p:animEffect>
                                  </p:childTnLst>
                                </p:cTn>
                              </p:par>
                            </p:childTnLst>
                          </p:cTn>
                        </p:par>
                        <p:par>
                          <p:cTn id="117" fill="hold">
                            <p:stCondLst>
                              <p:cond delay="2280"/>
                            </p:stCondLst>
                            <p:childTnLst>
                              <p:par>
                                <p:cTn id="99" presetID="10" presetClass="entr" presetSubtype="0" fill="hold" grpId="0" nodeType="after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450"/>
                                        <p:tgtEl>
                                          <p:spTgt spid="3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450"/>
                                        <p:tgtEl>
                                          <p:spTgt spid="3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450"/>
                                        <p:tgtEl>
                                          <p:spTgt spid="3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fade">
                                      <p:cBhvr>
                                        <p:cTn id="110" dur="450"/>
                                        <p:tgtEl>
                                          <p:spTgt spid="3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450"/>
                                        <p:tgtEl>
                                          <p:spTgt spid="3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450"/>
                                        <p:tgtEl>
                                          <p:spTgt spid="39"/>
                                        </p:tgtEl>
                                      </p:cBhvr>
                                    </p:animEffect>
                                  </p:childTnLst>
                                </p:cTn>
                              </p:par>
                            </p:childTnLst>
                          </p:cTn>
                        </p:par>
                        <p:par>
                          <p:cTn id="124" fill="hold">
                            <p:stCondLst>
                              <p:cond delay="2660"/>
                            </p:stCondLst>
                            <p:childTnLst>
                              <p:par>
                                <p:cTn id="118" presetID="10" presetClass="entr" presetSubtype="0" fill="hold" grpId="0" nodeType="afterEffect">
                                  <p:stCondLst>
                                    <p:cond delay="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450"/>
                                        <p:tgtEl>
                                          <p:spTgt spid="40"/>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The basics we considered</a:t>
            </a:r>
            <a:endParaRPr lang="en-US" sz="3200" dirty="0"/>
          </a:p>
        </p:txBody>
      </p:sp>
      <p:sp>
        <p:nvSpPr>
          <p:cNvPr id="4" name="a1_card"/>
          <p:cNvSpPr/>
          <p:nvPr/>
        </p:nvSpPr>
        <p:spPr>
          <a:xfrm>
            <a:off x="548640" y="1417320"/>
            <a:ext cx="3520440" cy="2240280"/>
          </a:xfrm>
          <a:prstGeom prst="roundRect">
            <a:avLst>
              <a:gd name="adj" fmla="val 4082"/>
            </a:avLst>
          </a:prstGeom>
          <a:solidFill>
            <a:srgbClr val="DCEAF6"/>
          </a:solidFill>
          <a:ln w="12700">
            <a:solidFill>
              <a:srgbClr val="B9CFE3"/>
            </a:solidFill>
            <a:prstDash val="solid"/>
          </a:ln>
        </p:spPr>
      </p:sp>
      <p:sp>
        <p:nvSpPr>
          <p:cNvPr id="5" name="a1_h"/>
          <p:cNvSpPr txBox="1"/>
          <p:nvPr/>
        </p:nvSpPr>
        <p:spPr>
          <a:xfrm>
            <a:off x="777240" y="1581912"/>
            <a:ext cx="3108960" cy="5943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Risk = likelihood x consequence</a:t>
            </a:r>
            <a:endParaRPr lang="en-US" sz="1800" dirty="0"/>
          </a:p>
        </p:txBody>
      </p:sp>
      <p:sp>
        <p:nvSpPr>
          <p:cNvPr id="6" name="a1_d"/>
          <p:cNvSpPr txBox="1"/>
          <p:nvPr/>
        </p:nvSpPr>
        <p:spPr>
          <a:xfrm>
            <a:off x="777240" y="2194560"/>
            <a:ext cx="3108960" cy="86868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Basis of the 5x5 matrix: class of probability times class of impact</a:t>
            </a:r>
            <a:endParaRPr lang="en-US" sz="1300" dirty="0"/>
          </a:p>
        </p:txBody>
      </p:sp>
      <p:sp>
        <p:nvSpPr>
          <p:cNvPr id="7" name="a1_fbg"/>
          <p:cNvSpPr/>
          <p:nvPr/>
        </p:nvSpPr>
        <p:spPr>
          <a:xfrm>
            <a:off x="731520" y="3108960"/>
            <a:ext cx="3154680" cy="411480"/>
          </a:xfrm>
          <a:prstGeom prst="roundRect">
            <a:avLst>
              <a:gd name="adj" fmla="val 22222"/>
            </a:avLst>
          </a:prstGeom>
          <a:solidFill>
            <a:srgbClr val="FFFFFF"/>
          </a:solidFill>
          <a:ln w="12700">
            <a:solidFill>
              <a:srgbClr val="FFFFFF"/>
            </a:solidFill>
            <a:prstDash val="solid"/>
          </a:ln>
        </p:spPr>
      </p:sp>
      <p:sp>
        <p:nvSpPr>
          <p:cNvPr id="8" name="a1_f"/>
          <p:cNvSpPr txBox="1"/>
          <p:nvPr/>
        </p:nvSpPr>
        <p:spPr>
          <a:xfrm>
            <a:off x="731520" y="3108960"/>
            <a:ext cx="3154680" cy="411480"/>
          </a:xfrm>
          <a:prstGeom prst="rect">
            <a:avLst/>
          </a:prstGeom>
          <a:noFill/>
          <a:ln/>
        </p:spPr>
        <p:txBody>
          <a:bodyPr wrap="square" lIns="0" tIns="0" rIns="0" bIns="0" rtlCol="0" anchor="ctr"/>
          <a:lstStyle/>
          <a:p>
            <a:pPr algn="ctr" indent="0" marL="0">
              <a:buNone/>
            </a:pPr>
            <a:r>
              <a:rPr lang="en-US" sz="1400" i="1" dirty="0">
                <a:solidFill>
                  <a:srgbClr val="12233B"/>
                </a:solidFill>
                <a:latin typeface="Times New Roman" pitchFamily="34" charset="0"/>
                <a:ea typeface="Times New Roman" pitchFamily="34" charset="-122"/>
                <a:cs typeface="Times New Roman" pitchFamily="34" charset="-120"/>
              </a:rPr>
              <a:t>score = p class x impact class</a:t>
            </a:r>
            <a:endParaRPr lang="en-US" sz="1400" dirty="0"/>
          </a:p>
        </p:txBody>
      </p:sp>
      <p:sp>
        <p:nvSpPr>
          <p:cNvPr id="9" name="a2_card"/>
          <p:cNvSpPr/>
          <p:nvPr/>
        </p:nvSpPr>
        <p:spPr>
          <a:xfrm>
            <a:off x="4297680" y="1417320"/>
            <a:ext cx="3520440" cy="2240280"/>
          </a:xfrm>
          <a:prstGeom prst="roundRect">
            <a:avLst>
              <a:gd name="adj" fmla="val 4082"/>
            </a:avLst>
          </a:prstGeom>
          <a:solidFill>
            <a:srgbClr val="EFF5FA"/>
          </a:solidFill>
          <a:ln w="12700">
            <a:solidFill>
              <a:srgbClr val="B9CFE3"/>
            </a:solidFill>
            <a:prstDash val="solid"/>
          </a:ln>
        </p:spPr>
      </p:sp>
      <p:sp>
        <p:nvSpPr>
          <p:cNvPr id="10" name="a2_h"/>
          <p:cNvSpPr txBox="1"/>
          <p:nvPr/>
        </p:nvSpPr>
        <p:spPr>
          <a:xfrm>
            <a:off x="4526280" y="1581912"/>
            <a:ext cx="3108960" cy="5943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Ordinal versus cardinal</a:t>
            </a:r>
            <a:endParaRPr lang="en-US" sz="1800" dirty="0"/>
          </a:p>
        </p:txBody>
      </p:sp>
      <p:sp>
        <p:nvSpPr>
          <p:cNvPr id="11" name="a2_d"/>
          <p:cNvSpPr txBox="1"/>
          <p:nvPr/>
        </p:nvSpPr>
        <p:spPr>
          <a:xfrm>
            <a:off x="4526280" y="2194560"/>
            <a:ext cx="3108960" cy="86868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A class says higher or lower; it cannot be added or averaged as days or money</a:t>
            </a:r>
            <a:endParaRPr lang="en-US" sz="1300" dirty="0"/>
          </a:p>
        </p:txBody>
      </p:sp>
      <p:sp>
        <p:nvSpPr>
          <p:cNvPr id="12" name="a2_fbg"/>
          <p:cNvSpPr/>
          <p:nvPr/>
        </p:nvSpPr>
        <p:spPr>
          <a:xfrm>
            <a:off x="4480560" y="3108960"/>
            <a:ext cx="3154680" cy="411480"/>
          </a:xfrm>
          <a:prstGeom prst="roundRect">
            <a:avLst>
              <a:gd name="adj" fmla="val 22222"/>
            </a:avLst>
          </a:prstGeom>
          <a:solidFill>
            <a:srgbClr val="FFFFFF"/>
          </a:solidFill>
          <a:ln w="12700">
            <a:solidFill>
              <a:srgbClr val="FFFFFF"/>
            </a:solidFill>
            <a:prstDash val="solid"/>
          </a:ln>
        </p:spPr>
      </p:sp>
      <p:sp>
        <p:nvSpPr>
          <p:cNvPr id="13" name="a2_f"/>
          <p:cNvSpPr txBox="1"/>
          <p:nvPr/>
        </p:nvSpPr>
        <p:spPr>
          <a:xfrm>
            <a:off x="4480560" y="3108960"/>
            <a:ext cx="3154680" cy="411480"/>
          </a:xfrm>
          <a:prstGeom prst="rect">
            <a:avLst/>
          </a:prstGeom>
          <a:noFill/>
          <a:ln/>
        </p:spPr>
        <p:txBody>
          <a:bodyPr wrap="square" lIns="0" tIns="0" rIns="0" bIns="0" rtlCol="0" anchor="ctr"/>
          <a:lstStyle/>
          <a:p>
            <a:pPr algn="ctr" indent="0" marL="0">
              <a:buNone/>
            </a:pPr>
            <a:r>
              <a:rPr lang="en-US" sz="1400" i="1" dirty="0">
                <a:solidFill>
                  <a:srgbClr val="12233B"/>
                </a:solidFill>
                <a:latin typeface="Times New Roman" pitchFamily="34" charset="0"/>
                <a:ea typeface="Times New Roman" pitchFamily="34" charset="-122"/>
                <a:cs typeface="Times New Roman" pitchFamily="34" charset="-120"/>
              </a:rPr>
              <a:t>Low &lt; Moderate &lt; High &lt; Extreme</a:t>
            </a:r>
            <a:endParaRPr lang="en-US" sz="1400" dirty="0"/>
          </a:p>
        </p:txBody>
      </p:sp>
      <p:sp>
        <p:nvSpPr>
          <p:cNvPr id="14" name="a3_card"/>
          <p:cNvSpPr/>
          <p:nvPr/>
        </p:nvSpPr>
        <p:spPr>
          <a:xfrm>
            <a:off x="8046720" y="1417320"/>
            <a:ext cx="3520440" cy="2240280"/>
          </a:xfrm>
          <a:prstGeom prst="roundRect">
            <a:avLst>
              <a:gd name="adj" fmla="val 4082"/>
            </a:avLst>
          </a:prstGeom>
          <a:solidFill>
            <a:srgbClr val="DCEAF6"/>
          </a:solidFill>
          <a:ln w="12700">
            <a:solidFill>
              <a:srgbClr val="B9CFE3"/>
            </a:solidFill>
            <a:prstDash val="solid"/>
          </a:ln>
        </p:spPr>
      </p:sp>
      <p:sp>
        <p:nvSpPr>
          <p:cNvPr id="15" name="a3_h"/>
          <p:cNvSpPr txBox="1"/>
          <p:nvPr/>
        </p:nvSpPr>
        <p:spPr>
          <a:xfrm>
            <a:off x="8275320" y="1581912"/>
            <a:ext cx="3108960" cy="5943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Provenance</a:t>
            </a:r>
            <a:endParaRPr lang="en-US" sz="1800" dirty="0"/>
          </a:p>
        </p:txBody>
      </p:sp>
      <p:sp>
        <p:nvSpPr>
          <p:cNvPr id="16" name="a3_d"/>
          <p:cNvSpPr txBox="1"/>
          <p:nvPr/>
        </p:nvSpPr>
        <p:spPr>
          <a:xfrm>
            <a:off x="8275320" y="2194560"/>
            <a:ext cx="3108960" cy="86868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Each number is labelled Literature, Historical Data, User Input, Expert Judgment, Derived Calculation or Assumption</a:t>
            </a:r>
            <a:endParaRPr lang="en-US" sz="1300" dirty="0"/>
          </a:p>
        </p:txBody>
      </p:sp>
      <p:sp>
        <p:nvSpPr>
          <p:cNvPr id="17" name="a3_fbg"/>
          <p:cNvSpPr/>
          <p:nvPr/>
        </p:nvSpPr>
        <p:spPr>
          <a:xfrm>
            <a:off x="8229600" y="3108960"/>
            <a:ext cx="3154680" cy="411480"/>
          </a:xfrm>
          <a:prstGeom prst="roundRect">
            <a:avLst>
              <a:gd name="adj" fmla="val 22222"/>
            </a:avLst>
          </a:prstGeom>
          <a:solidFill>
            <a:srgbClr val="FFFFFF"/>
          </a:solidFill>
          <a:ln w="12700">
            <a:solidFill>
              <a:srgbClr val="FFFFFF"/>
            </a:solidFill>
            <a:prstDash val="solid"/>
          </a:ln>
        </p:spPr>
      </p:sp>
      <p:sp>
        <p:nvSpPr>
          <p:cNvPr id="18" name="a3_f"/>
          <p:cNvSpPr txBox="1"/>
          <p:nvPr/>
        </p:nvSpPr>
        <p:spPr>
          <a:xfrm>
            <a:off x="8229600" y="3108960"/>
            <a:ext cx="3154680" cy="411480"/>
          </a:xfrm>
          <a:prstGeom prst="rect">
            <a:avLst/>
          </a:prstGeom>
          <a:noFill/>
          <a:ln/>
        </p:spPr>
        <p:txBody>
          <a:bodyPr wrap="square" lIns="0" tIns="0" rIns="0" bIns="0" rtlCol="0" anchor="ctr"/>
          <a:lstStyle/>
          <a:p>
            <a:pPr algn="ctr" indent="0" marL="0">
              <a:buNone/>
            </a:pPr>
            <a:r>
              <a:rPr lang="en-US" sz="1400" i="1" dirty="0">
                <a:solidFill>
                  <a:srgbClr val="12233B"/>
                </a:solidFill>
                <a:latin typeface="Times New Roman" pitchFamily="34" charset="0"/>
                <a:ea typeface="Times New Roman" pitchFamily="34" charset="-122"/>
                <a:cs typeface="Times New Roman" pitchFamily="34" charset="-120"/>
              </a:rPr>
              <a:t>no Source, no number</a:t>
            </a:r>
            <a:endParaRPr lang="en-US" sz="1400" dirty="0"/>
          </a:p>
        </p:txBody>
      </p:sp>
      <p:sp>
        <p:nvSpPr>
          <p:cNvPr id="19" name="a4_card"/>
          <p:cNvSpPr/>
          <p:nvPr/>
        </p:nvSpPr>
        <p:spPr>
          <a:xfrm>
            <a:off x="548640" y="3886200"/>
            <a:ext cx="3520440" cy="2240280"/>
          </a:xfrm>
          <a:prstGeom prst="roundRect">
            <a:avLst>
              <a:gd name="adj" fmla="val 4082"/>
            </a:avLst>
          </a:prstGeom>
          <a:solidFill>
            <a:srgbClr val="EFF5FA"/>
          </a:solidFill>
          <a:ln w="12700">
            <a:solidFill>
              <a:srgbClr val="B9CFE3"/>
            </a:solidFill>
            <a:prstDash val="solid"/>
          </a:ln>
        </p:spPr>
      </p:sp>
      <p:sp>
        <p:nvSpPr>
          <p:cNvPr id="20" name="a4_h"/>
          <p:cNvSpPr txBox="1"/>
          <p:nvPr/>
        </p:nvSpPr>
        <p:spPr>
          <a:xfrm>
            <a:off x="777240" y="4050792"/>
            <a:ext cx="3108960" cy="5943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Relative Importance Index</a:t>
            </a:r>
            <a:endParaRPr lang="en-US" sz="1800" dirty="0"/>
          </a:p>
        </p:txBody>
      </p:sp>
      <p:sp>
        <p:nvSpPr>
          <p:cNvPr id="21" name="a4_d"/>
          <p:cNvSpPr txBox="1"/>
          <p:nvPr/>
        </p:nvSpPr>
        <p:spPr>
          <a:xfrm>
            <a:off x="777240" y="4663440"/>
            <a:ext cx="3108960" cy="86868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How respondents rate a factor on a 1 to 5 scale, from 0 to 1</a:t>
            </a:r>
            <a:endParaRPr lang="en-US" sz="1300" dirty="0"/>
          </a:p>
        </p:txBody>
      </p:sp>
      <p:sp>
        <p:nvSpPr>
          <p:cNvPr id="22" name="a4_fbg"/>
          <p:cNvSpPr/>
          <p:nvPr/>
        </p:nvSpPr>
        <p:spPr>
          <a:xfrm>
            <a:off x="731520" y="5577840"/>
            <a:ext cx="3154680" cy="411480"/>
          </a:xfrm>
          <a:prstGeom prst="roundRect">
            <a:avLst>
              <a:gd name="adj" fmla="val 22222"/>
            </a:avLst>
          </a:prstGeom>
          <a:solidFill>
            <a:srgbClr val="FFFFFF"/>
          </a:solidFill>
          <a:ln w="12700">
            <a:solidFill>
              <a:srgbClr val="FFFFFF"/>
            </a:solidFill>
            <a:prstDash val="solid"/>
          </a:ln>
        </p:spPr>
      </p:sp>
      <p:sp>
        <p:nvSpPr>
          <p:cNvPr id="23" name="a4_f"/>
          <p:cNvSpPr txBox="1"/>
          <p:nvPr/>
        </p:nvSpPr>
        <p:spPr>
          <a:xfrm>
            <a:off x="731520" y="5577840"/>
            <a:ext cx="3154680" cy="411480"/>
          </a:xfrm>
          <a:prstGeom prst="rect">
            <a:avLst/>
          </a:prstGeom>
          <a:noFill/>
          <a:ln/>
        </p:spPr>
        <p:txBody>
          <a:bodyPr wrap="square" lIns="0" tIns="0" rIns="0" bIns="0" rtlCol="0" anchor="ctr"/>
          <a:lstStyle/>
          <a:p>
            <a:pPr algn="ctr" indent="0" marL="0">
              <a:buNone/>
            </a:pPr>
            <a:r>
              <a:rPr lang="en-US" sz="1400" i="1" dirty="0">
                <a:solidFill>
                  <a:srgbClr val="12233B"/>
                </a:solidFill>
                <a:latin typeface="Times New Roman" pitchFamily="34" charset="0"/>
                <a:ea typeface="Times New Roman" pitchFamily="34" charset="-122"/>
                <a:cs typeface="Times New Roman" pitchFamily="34" charset="-120"/>
              </a:rPr>
              <a:t>RII = Σ(w·n) / (A·N)</a:t>
            </a:r>
            <a:endParaRPr lang="en-US" sz="1400" dirty="0"/>
          </a:p>
        </p:txBody>
      </p:sp>
      <p:sp>
        <p:nvSpPr>
          <p:cNvPr id="24" name="a5_card"/>
          <p:cNvSpPr/>
          <p:nvPr/>
        </p:nvSpPr>
        <p:spPr>
          <a:xfrm>
            <a:off x="4297680" y="3886200"/>
            <a:ext cx="3520440" cy="2240280"/>
          </a:xfrm>
          <a:prstGeom prst="roundRect">
            <a:avLst>
              <a:gd name="adj" fmla="val 4082"/>
            </a:avLst>
          </a:prstGeom>
          <a:solidFill>
            <a:srgbClr val="DCEAF6"/>
          </a:solidFill>
          <a:ln w="12700">
            <a:solidFill>
              <a:srgbClr val="B9CFE3"/>
            </a:solidFill>
            <a:prstDash val="solid"/>
          </a:ln>
        </p:spPr>
      </p:sp>
      <p:sp>
        <p:nvSpPr>
          <p:cNvPr id="25" name="a5_h"/>
          <p:cNvSpPr txBox="1"/>
          <p:nvPr/>
        </p:nvSpPr>
        <p:spPr>
          <a:xfrm>
            <a:off x="4526280" y="4050792"/>
            <a:ext cx="3108960" cy="5943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Three-point estimate (PERT)</a:t>
            </a:r>
            <a:endParaRPr lang="en-US" sz="1800" dirty="0"/>
          </a:p>
        </p:txBody>
      </p:sp>
      <p:sp>
        <p:nvSpPr>
          <p:cNvPr id="26" name="a5_d"/>
          <p:cNvSpPr txBox="1"/>
          <p:nvPr/>
        </p:nvSpPr>
        <p:spPr>
          <a:xfrm>
            <a:off x="4526280" y="4663440"/>
            <a:ext cx="3108960" cy="86868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A delay range from minimum, most likely and maximum days</a:t>
            </a:r>
            <a:endParaRPr lang="en-US" sz="1300" dirty="0"/>
          </a:p>
        </p:txBody>
      </p:sp>
      <p:sp>
        <p:nvSpPr>
          <p:cNvPr id="27" name="a5_fbg"/>
          <p:cNvSpPr/>
          <p:nvPr/>
        </p:nvSpPr>
        <p:spPr>
          <a:xfrm>
            <a:off x="4480560" y="5577840"/>
            <a:ext cx="3154680" cy="411480"/>
          </a:xfrm>
          <a:prstGeom prst="roundRect">
            <a:avLst>
              <a:gd name="adj" fmla="val 22222"/>
            </a:avLst>
          </a:prstGeom>
          <a:solidFill>
            <a:srgbClr val="FFFFFF"/>
          </a:solidFill>
          <a:ln w="12700">
            <a:solidFill>
              <a:srgbClr val="FFFFFF"/>
            </a:solidFill>
            <a:prstDash val="solid"/>
          </a:ln>
        </p:spPr>
      </p:sp>
      <p:sp>
        <p:nvSpPr>
          <p:cNvPr id="28" name="a5_f"/>
          <p:cNvSpPr txBox="1"/>
          <p:nvPr/>
        </p:nvSpPr>
        <p:spPr>
          <a:xfrm>
            <a:off x="4480560" y="5577840"/>
            <a:ext cx="3154680" cy="411480"/>
          </a:xfrm>
          <a:prstGeom prst="rect">
            <a:avLst/>
          </a:prstGeom>
          <a:noFill/>
          <a:ln/>
        </p:spPr>
        <p:txBody>
          <a:bodyPr wrap="square" lIns="0" tIns="0" rIns="0" bIns="0" rtlCol="0" anchor="ctr"/>
          <a:lstStyle/>
          <a:p>
            <a:pPr algn="ctr" indent="0" marL="0">
              <a:buNone/>
            </a:pPr>
            <a:r>
              <a:rPr lang="en-US" sz="1400" i="1" dirty="0">
                <a:solidFill>
                  <a:srgbClr val="12233B"/>
                </a:solidFill>
                <a:latin typeface="Times New Roman" pitchFamily="34" charset="0"/>
                <a:ea typeface="Times New Roman" pitchFamily="34" charset="-122"/>
                <a:cs typeface="Times New Roman" pitchFamily="34" charset="-120"/>
              </a:rPr>
              <a:t>E = (a + 4m + b) / 6</a:t>
            </a:r>
            <a:endParaRPr lang="en-US" sz="1400" dirty="0"/>
          </a:p>
        </p:txBody>
      </p:sp>
      <p:sp>
        <p:nvSpPr>
          <p:cNvPr id="29" name="a6_card"/>
          <p:cNvSpPr/>
          <p:nvPr/>
        </p:nvSpPr>
        <p:spPr>
          <a:xfrm>
            <a:off x="8046720" y="3886200"/>
            <a:ext cx="3520440" cy="2240280"/>
          </a:xfrm>
          <a:prstGeom prst="roundRect">
            <a:avLst>
              <a:gd name="adj" fmla="val 4082"/>
            </a:avLst>
          </a:prstGeom>
          <a:solidFill>
            <a:srgbClr val="EFF5FA"/>
          </a:solidFill>
          <a:ln w="12700">
            <a:solidFill>
              <a:srgbClr val="B9CFE3"/>
            </a:solidFill>
            <a:prstDash val="solid"/>
          </a:ln>
        </p:spPr>
      </p:sp>
      <p:sp>
        <p:nvSpPr>
          <p:cNvPr id="30" name="a6_h"/>
          <p:cNvSpPr txBox="1"/>
          <p:nvPr/>
        </p:nvSpPr>
        <p:spPr>
          <a:xfrm>
            <a:off x="8275320" y="4050792"/>
            <a:ext cx="3108960" cy="594360"/>
          </a:xfrm>
          <a:prstGeom prst="rect">
            <a:avLst/>
          </a:prstGeom>
          <a:noFill/>
          <a:ln/>
        </p:spPr>
        <p:txBody>
          <a:bodyPr wrap="square" lIns="0" tIns="0" rIns="0" bIns="0" rtlCol="0" anchor="t"/>
          <a:lstStyle/>
          <a:p>
            <a:pPr indent="0" marL="0">
              <a:buNone/>
            </a:pPr>
            <a:r>
              <a:rPr lang="en-US" sz="1800" b="1" dirty="0">
                <a:solidFill>
                  <a:srgbClr val="12233B"/>
                </a:solidFill>
                <a:latin typeface="Times New Roman" pitchFamily="34" charset="0"/>
                <a:ea typeface="Times New Roman" pitchFamily="34" charset="-122"/>
                <a:cs typeface="Times New Roman" pitchFamily="34" charset="-120"/>
              </a:rPr>
              <a:t>Rank agreement and correction</a:t>
            </a:r>
            <a:endParaRPr lang="en-US" sz="1800" dirty="0"/>
          </a:p>
        </p:txBody>
      </p:sp>
      <p:sp>
        <p:nvSpPr>
          <p:cNvPr id="31" name="a6_d"/>
          <p:cNvSpPr txBox="1"/>
          <p:nvPr/>
        </p:nvSpPr>
        <p:spPr>
          <a:xfrm>
            <a:off x="8275320" y="4663440"/>
            <a:ext cx="3108960" cy="86868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Spearman rank correlation for agreement; Holm correction for several tests</a:t>
            </a:r>
            <a:endParaRPr lang="en-US" sz="1300" dirty="0"/>
          </a:p>
        </p:txBody>
      </p:sp>
      <p:sp>
        <p:nvSpPr>
          <p:cNvPr id="32" name="a6_fbg"/>
          <p:cNvSpPr/>
          <p:nvPr/>
        </p:nvSpPr>
        <p:spPr>
          <a:xfrm>
            <a:off x="8229600" y="5577840"/>
            <a:ext cx="3154680" cy="411480"/>
          </a:xfrm>
          <a:prstGeom prst="roundRect">
            <a:avLst>
              <a:gd name="adj" fmla="val 22222"/>
            </a:avLst>
          </a:prstGeom>
          <a:solidFill>
            <a:srgbClr val="FFFFFF"/>
          </a:solidFill>
          <a:ln w="12700">
            <a:solidFill>
              <a:srgbClr val="FFFFFF"/>
            </a:solidFill>
            <a:prstDash val="solid"/>
          </a:ln>
        </p:spPr>
      </p:sp>
      <p:sp>
        <p:nvSpPr>
          <p:cNvPr id="33" name="a6_f"/>
          <p:cNvSpPr txBox="1"/>
          <p:nvPr/>
        </p:nvSpPr>
        <p:spPr>
          <a:xfrm>
            <a:off x="8229600" y="5577840"/>
            <a:ext cx="3154680" cy="411480"/>
          </a:xfrm>
          <a:prstGeom prst="rect">
            <a:avLst/>
          </a:prstGeom>
          <a:noFill/>
          <a:ln/>
        </p:spPr>
        <p:txBody>
          <a:bodyPr wrap="square" lIns="0" tIns="0" rIns="0" bIns="0" rtlCol="0" anchor="ctr"/>
          <a:lstStyle/>
          <a:p>
            <a:pPr algn="ctr" indent="0" marL="0">
              <a:buNone/>
            </a:pPr>
            <a:r>
              <a:rPr lang="en-US" sz="1400" i="1" dirty="0">
                <a:solidFill>
                  <a:srgbClr val="12233B"/>
                </a:solidFill>
                <a:latin typeface="Times New Roman" pitchFamily="34" charset="0"/>
                <a:ea typeface="Times New Roman" pitchFamily="34" charset="-122"/>
                <a:cs typeface="Times New Roman" pitchFamily="34" charset="-120"/>
              </a:rPr>
              <a:t>ρ = 1 − 6Σd² / n(n²−1)</a:t>
            </a:r>
            <a:endParaRPr lang="en-US" sz="14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childTnLst>
                          </p:cTn>
                        </p:par>
                        <p:par>
                          <p:cTn id="66"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childTnLst>
                          </p:cTn>
                        </p:par>
                        <p:par>
                          <p:cTn id="82" fill="hold">
                            <p:stCondLst>
                              <p:cond delay="152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5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450"/>
                                        <p:tgtEl>
                                          <p:spTgt spid="28"/>
                                        </p:tgtEl>
                                      </p:cBhvr>
                                    </p:animEffect>
                                  </p:childTnLst>
                                </p:cTn>
                              </p:par>
                            </p:childTnLst>
                          </p:cTn>
                        </p:par>
                        <p:par>
                          <p:cTn id="98" fill="hold">
                            <p:stCondLst>
                              <p:cond delay="1900"/>
                            </p:stCondLst>
                            <p:childTnLst>
                              <p:par>
                                <p:cTn id="83" presetID="10"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50"/>
                                        <p:tgtEl>
                                          <p:spTgt spid="3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450"/>
                                        <p:tgtEl>
                                          <p:spTgt spid="31"/>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450"/>
                                        <p:tgtEl>
                                          <p:spTgt spid="3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The evidence base: 11 published surveys, 182 rows</a:t>
            </a:r>
            <a:endParaRPr lang="en-US" sz="3200" dirty="0"/>
          </a:p>
        </p:txBody>
      </p:sp>
      <p:graphicFrame>
        <p:nvGraphicFramePr>
          <p:cNvPr id="4" name="a1_chart" descr=""/>
          <p:cNvGraphicFramePr/>
          <p:nvPr/>
        </p:nvGraphicFramePr>
        <p:xfrm>
          <a:off x="548640" y="13258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5" name="a2_k1"/>
          <p:cNvSpPr/>
          <p:nvPr/>
        </p:nvSpPr>
        <p:spPr>
          <a:xfrm>
            <a:off x="7863840" y="1463040"/>
            <a:ext cx="256032" cy="256032"/>
          </a:xfrm>
          <a:prstGeom prst="rect">
            <a:avLst/>
          </a:prstGeom>
          <a:solidFill>
            <a:srgbClr val="2F6C9A"/>
          </a:solidFill>
          <a:ln w="12700">
            <a:solidFill>
              <a:srgbClr val="2F6C9A"/>
            </a:solidFill>
            <a:prstDash val="solid"/>
          </a:ln>
        </p:spPr>
      </p:sp>
      <p:sp>
        <p:nvSpPr>
          <p:cNvPr id="6" name="a2_kt1"/>
          <p:cNvSpPr txBox="1"/>
          <p:nvPr/>
        </p:nvSpPr>
        <p:spPr>
          <a:xfrm>
            <a:off x="8229600" y="1444752"/>
            <a:ext cx="2743200" cy="27432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Seed study (5)</a:t>
            </a:r>
            <a:endParaRPr lang="en-US" sz="1400" dirty="0"/>
          </a:p>
        </p:txBody>
      </p:sp>
      <p:sp>
        <p:nvSpPr>
          <p:cNvPr id="7" name="a2_k2"/>
          <p:cNvSpPr/>
          <p:nvPr/>
        </p:nvSpPr>
        <p:spPr>
          <a:xfrm>
            <a:off x="7863840" y="1828800"/>
            <a:ext cx="256032" cy="256032"/>
          </a:xfrm>
          <a:prstGeom prst="rect">
            <a:avLst/>
          </a:prstGeom>
          <a:solidFill>
            <a:srgbClr val="5FA8D3"/>
          </a:solidFill>
          <a:ln w="12700">
            <a:solidFill>
              <a:srgbClr val="5FA8D3"/>
            </a:solidFill>
            <a:prstDash val="solid"/>
          </a:ln>
        </p:spPr>
      </p:sp>
      <p:sp>
        <p:nvSpPr>
          <p:cNvPr id="8" name="a2_kt2"/>
          <p:cNvSpPr txBox="1"/>
          <p:nvPr/>
        </p:nvSpPr>
        <p:spPr>
          <a:xfrm>
            <a:off x="8229600" y="1810512"/>
            <a:ext cx="2743200" cy="274320"/>
          </a:xfrm>
          <a:prstGeom prst="rect">
            <a:avLst/>
          </a:prstGeom>
          <a:noFill/>
          <a:ln/>
        </p:spPr>
        <p:txBody>
          <a:bodyPr wrap="square" lIns="0" tIns="0" rIns="0" bIns="0" rtlCol="0" anchor="t"/>
          <a:lstStyle/>
          <a:p>
            <a:pPr indent="0" marL="0">
              <a:buNone/>
            </a:pPr>
            <a:r>
              <a:rPr lang="en-US" sz="1400" dirty="0">
                <a:solidFill>
                  <a:srgbClr val="12233B"/>
                </a:solidFill>
                <a:latin typeface="Calibri" pitchFamily="34" charset="0"/>
                <a:ea typeface="Calibri" pitchFamily="34" charset="-122"/>
                <a:cs typeface="Calibri" pitchFamily="34" charset="-120"/>
              </a:rPr>
              <a:t>Held-out study (6)</a:t>
            </a:r>
            <a:endParaRPr lang="en-US" sz="1400" dirty="0"/>
          </a:p>
        </p:txBody>
      </p:sp>
      <p:sp>
        <p:nvSpPr>
          <p:cNvPr id="9" name="a3_stat"/>
          <p:cNvSpPr/>
          <p:nvPr/>
        </p:nvSpPr>
        <p:spPr>
          <a:xfrm>
            <a:off x="7863840" y="2423160"/>
            <a:ext cx="3794760" cy="1005840"/>
          </a:xfrm>
          <a:prstGeom prst="roundRect">
            <a:avLst>
              <a:gd name="adj" fmla="val 9091"/>
            </a:avLst>
          </a:prstGeom>
          <a:solidFill>
            <a:srgbClr val="DCEAF6"/>
          </a:solidFill>
          <a:ln w="12700">
            <a:solidFill>
              <a:srgbClr val="DCEAF6"/>
            </a:solidFill>
            <a:prstDash val="solid"/>
          </a:ln>
        </p:spPr>
      </p:sp>
      <p:sp>
        <p:nvSpPr>
          <p:cNvPr id="10" name="a3_sn"/>
          <p:cNvSpPr txBox="1"/>
          <p:nvPr/>
        </p:nvSpPr>
        <p:spPr>
          <a:xfrm>
            <a:off x="8046720" y="2423160"/>
            <a:ext cx="1600200" cy="1005840"/>
          </a:xfrm>
          <a:prstGeom prst="rect">
            <a:avLst/>
          </a:prstGeom>
          <a:noFill/>
          <a:ln/>
        </p:spPr>
        <p:txBody>
          <a:bodyPr wrap="square" lIns="0" tIns="0" rIns="0" bIns="0" rtlCol="0" anchor="ctr"/>
          <a:lstStyle/>
          <a:p>
            <a:pPr indent="0" marL="0">
              <a:buNone/>
            </a:pPr>
            <a:r>
              <a:rPr lang="en-US" sz="2800" b="1" dirty="0">
                <a:solidFill>
                  <a:srgbClr val="173F6B"/>
                </a:solidFill>
                <a:latin typeface="Times New Roman" pitchFamily="34" charset="0"/>
                <a:ea typeface="Times New Roman" pitchFamily="34" charset="-122"/>
                <a:cs typeface="Times New Roman" pitchFamily="34" charset="-120"/>
              </a:rPr>
              <a:t>11</a:t>
            </a:r>
            <a:endParaRPr lang="en-US" sz="2800" dirty="0"/>
          </a:p>
        </p:txBody>
      </p:sp>
      <p:sp>
        <p:nvSpPr>
          <p:cNvPr id="11" name="a3_sd"/>
          <p:cNvSpPr txBox="1"/>
          <p:nvPr/>
        </p:nvSpPr>
        <p:spPr>
          <a:xfrm>
            <a:off x="9601200" y="2423160"/>
            <a:ext cx="1965960" cy="1005840"/>
          </a:xfrm>
          <a:prstGeom prst="rect">
            <a:avLst/>
          </a:prstGeom>
          <a:noFill/>
          <a:ln/>
        </p:spPr>
        <p:txBody>
          <a:bodyPr wrap="square" lIns="0" tIns="0" rIns="0" bIns="0" rtlCol="0" anchor="ctr"/>
          <a:lstStyle/>
          <a:p>
            <a:pPr indent="0" marL="0">
              <a:buNone/>
            </a:pPr>
            <a:r>
              <a:rPr lang="en-US" sz="1300" dirty="0">
                <a:solidFill>
                  <a:srgbClr val="55708A"/>
                </a:solidFill>
                <a:latin typeface="Calibri" pitchFamily="34" charset="0"/>
                <a:ea typeface="Calibri" pitchFamily="34" charset="-122"/>
                <a:cs typeface="Calibri" pitchFamily="34" charset="-120"/>
              </a:rPr>
              <a:t>studies, India, Sri Lanka and others</a:t>
            </a:r>
            <a:endParaRPr lang="en-US" sz="1300" dirty="0"/>
          </a:p>
        </p:txBody>
      </p:sp>
      <p:sp>
        <p:nvSpPr>
          <p:cNvPr id="12" name="a4_stat"/>
          <p:cNvSpPr/>
          <p:nvPr/>
        </p:nvSpPr>
        <p:spPr>
          <a:xfrm>
            <a:off x="7863840" y="3611880"/>
            <a:ext cx="3794760" cy="1005840"/>
          </a:xfrm>
          <a:prstGeom prst="roundRect">
            <a:avLst>
              <a:gd name="adj" fmla="val 9091"/>
            </a:avLst>
          </a:prstGeom>
          <a:solidFill>
            <a:srgbClr val="DCEAF6"/>
          </a:solidFill>
          <a:ln w="12700">
            <a:solidFill>
              <a:srgbClr val="DCEAF6"/>
            </a:solidFill>
            <a:prstDash val="solid"/>
          </a:ln>
        </p:spPr>
      </p:sp>
      <p:sp>
        <p:nvSpPr>
          <p:cNvPr id="13" name="a4_sn"/>
          <p:cNvSpPr txBox="1"/>
          <p:nvPr/>
        </p:nvSpPr>
        <p:spPr>
          <a:xfrm>
            <a:off x="8046720" y="3611880"/>
            <a:ext cx="1600200" cy="1005840"/>
          </a:xfrm>
          <a:prstGeom prst="rect">
            <a:avLst/>
          </a:prstGeom>
          <a:noFill/>
          <a:ln/>
        </p:spPr>
        <p:txBody>
          <a:bodyPr wrap="square" lIns="0" tIns="0" rIns="0" bIns="0" rtlCol="0" anchor="ctr"/>
          <a:lstStyle/>
          <a:p>
            <a:pPr indent="0" marL="0">
              <a:buNone/>
            </a:pPr>
            <a:r>
              <a:rPr lang="en-US" sz="2800" b="1" dirty="0">
                <a:solidFill>
                  <a:srgbClr val="173F6B"/>
                </a:solidFill>
                <a:latin typeface="Times New Roman" pitchFamily="34" charset="0"/>
                <a:ea typeface="Times New Roman" pitchFamily="34" charset="-122"/>
                <a:cs typeface="Times New Roman" pitchFamily="34" charset="-120"/>
              </a:rPr>
              <a:t>182</a:t>
            </a:r>
            <a:endParaRPr lang="en-US" sz="2800" dirty="0"/>
          </a:p>
        </p:txBody>
      </p:sp>
      <p:sp>
        <p:nvSpPr>
          <p:cNvPr id="14" name="a4_sd"/>
          <p:cNvSpPr txBox="1"/>
          <p:nvPr/>
        </p:nvSpPr>
        <p:spPr>
          <a:xfrm>
            <a:off x="9601200" y="3611880"/>
            <a:ext cx="1965960" cy="1005840"/>
          </a:xfrm>
          <a:prstGeom prst="rect">
            <a:avLst/>
          </a:prstGeom>
          <a:noFill/>
          <a:ln/>
        </p:spPr>
        <p:txBody>
          <a:bodyPr wrap="square" lIns="0" tIns="0" rIns="0" bIns="0" rtlCol="0" anchor="ctr"/>
          <a:lstStyle/>
          <a:p>
            <a:pPr indent="0" marL="0">
              <a:buNone/>
            </a:pPr>
            <a:r>
              <a:rPr lang="en-US" sz="1300" dirty="0">
                <a:solidFill>
                  <a:srgbClr val="55708A"/>
                </a:solidFill>
                <a:latin typeface="Calibri" pitchFamily="34" charset="0"/>
                <a:ea typeface="Calibri" pitchFamily="34" charset="-122"/>
                <a:cs typeface="Calibri" pitchFamily="34" charset="-120"/>
              </a:rPr>
              <a:t>RII rows, 178 mapped to a risk</a:t>
            </a:r>
            <a:endParaRPr lang="en-US" sz="1300" dirty="0"/>
          </a:p>
        </p:txBody>
      </p:sp>
      <p:sp>
        <p:nvSpPr>
          <p:cNvPr id="15" name="a5_stat"/>
          <p:cNvSpPr/>
          <p:nvPr/>
        </p:nvSpPr>
        <p:spPr>
          <a:xfrm>
            <a:off x="7863840" y="4800600"/>
            <a:ext cx="3794760" cy="1005840"/>
          </a:xfrm>
          <a:prstGeom prst="roundRect">
            <a:avLst>
              <a:gd name="adj" fmla="val 9091"/>
            </a:avLst>
          </a:prstGeom>
          <a:solidFill>
            <a:srgbClr val="DCEAF6"/>
          </a:solidFill>
          <a:ln w="12700">
            <a:solidFill>
              <a:srgbClr val="DCEAF6"/>
            </a:solidFill>
            <a:prstDash val="solid"/>
          </a:ln>
        </p:spPr>
      </p:sp>
      <p:sp>
        <p:nvSpPr>
          <p:cNvPr id="16" name="a5_sn"/>
          <p:cNvSpPr txBox="1"/>
          <p:nvPr/>
        </p:nvSpPr>
        <p:spPr>
          <a:xfrm>
            <a:off x="8046720" y="4800600"/>
            <a:ext cx="1600200" cy="1005840"/>
          </a:xfrm>
          <a:prstGeom prst="rect">
            <a:avLst/>
          </a:prstGeom>
          <a:noFill/>
          <a:ln/>
        </p:spPr>
        <p:txBody>
          <a:bodyPr wrap="square" lIns="0" tIns="0" rIns="0" bIns="0" rtlCol="0" anchor="ctr"/>
          <a:lstStyle/>
          <a:p>
            <a:pPr indent="0" marL="0">
              <a:buNone/>
            </a:pPr>
            <a:r>
              <a:rPr lang="en-US" sz="2800" b="1" dirty="0">
                <a:solidFill>
                  <a:srgbClr val="173F6B"/>
                </a:solidFill>
                <a:latin typeface="Times New Roman" pitchFamily="34" charset="0"/>
                <a:ea typeface="Times New Roman" pitchFamily="34" charset="-122"/>
                <a:cs typeface="Times New Roman" pitchFamily="34" charset="-120"/>
              </a:rPr>
              <a:t>30 of 46</a:t>
            </a:r>
            <a:endParaRPr lang="en-US" sz="2800" dirty="0"/>
          </a:p>
        </p:txBody>
      </p:sp>
      <p:sp>
        <p:nvSpPr>
          <p:cNvPr id="17" name="a5_sd"/>
          <p:cNvSpPr txBox="1"/>
          <p:nvPr/>
        </p:nvSpPr>
        <p:spPr>
          <a:xfrm>
            <a:off x="9601200" y="4800600"/>
            <a:ext cx="1965960" cy="1005840"/>
          </a:xfrm>
          <a:prstGeom prst="rect">
            <a:avLst/>
          </a:prstGeom>
          <a:noFill/>
          <a:ln/>
        </p:spPr>
        <p:txBody>
          <a:bodyPr wrap="square" lIns="0" tIns="0" rIns="0" bIns="0" rtlCol="0" anchor="ctr"/>
          <a:lstStyle/>
          <a:p>
            <a:pPr indent="0" marL="0">
              <a:buNone/>
            </a:pPr>
            <a:r>
              <a:rPr lang="en-US" sz="1300" dirty="0">
                <a:solidFill>
                  <a:srgbClr val="55708A"/>
                </a:solidFill>
                <a:latin typeface="Calibri" pitchFamily="34" charset="0"/>
                <a:ea typeface="Calibri" pitchFamily="34" charset="-122"/>
                <a:cs typeface="Calibri" pitchFamily="34" charset="-120"/>
              </a:rPr>
              <a:t>risks get a starting tier</a:t>
            </a:r>
            <a:endParaRPr lang="en-US" sz="1300" dirty="0"/>
          </a:p>
        </p:txBody>
      </p:sp>
      <p:sp>
        <p:nvSpPr>
          <p:cNvPr id="18" name="Text 14"/>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data/literature_seed.json (rows per study counted by script); mapped rows: Handoff section 8</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0" fill="hold">
                      <p:stCondLst>
                        <p:cond delay="indefinite"/>
                        <p:cond evt="onBegin" delay="0">
                          <p:tn val="2"/>
                        </p:cond>
                      </p:stCondLst>
                      <p:childTnLst>
                        <p:par>
                          <p:cTn id="6"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childTnLst>
                          </p:cTn>
                        </p:par>
                        <p:par>
                          <p:cTn id="19"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29" fill="hold">
                            <p:stCondLst>
                              <p:cond delay="76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childTnLst>
                          </p:cTn>
                        </p:par>
                        <p:par>
                          <p:cTn id="39" fill="hold">
                            <p:stCondLst>
                              <p:cond delay="1140"/>
                            </p:stCondLst>
                            <p:childTnLst>
                              <p:par>
                                <p:cTn id="30" presetID="10" presetClass="entr" presetSubtype="0" fill="hold" grpId="0" nodeType="after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childTnLst>
                          </p:cTn>
                        </p:par>
                        <p:par>
                          <p:cTn id="49" fill="hold">
                            <p:stCondLst>
                              <p:cond delay="1520"/>
                            </p:stCondLst>
                            <p:childTnLst>
                              <p:par>
                                <p:cTn id="40" presetID="10" presetClass="entr" presetSubtype="0" fill="hold" grpId="0" nodeType="after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Graphic spid="4" grpId="0">
        <p:bldAsOne/>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Calculation 1: Relative Importance Index</a:t>
            </a:r>
            <a:endParaRPr lang="en-US" sz="3200" dirty="0"/>
          </a:p>
        </p:txBody>
      </p:sp>
      <p:sp>
        <p:nvSpPr>
          <p:cNvPr id="4" name="a1_given"/>
          <p:cNvSpPr txBox="1"/>
          <p:nvPr/>
        </p:nvSpPr>
        <p:spPr>
          <a:xfrm>
            <a:off x="457200" y="3017520"/>
            <a:ext cx="3200400" cy="3200400"/>
          </a:xfrm>
          <a:prstGeom prst="rect">
            <a:avLst/>
          </a:prstGeom>
          <a:noFill/>
          <a:ln/>
        </p:spPr>
        <p:txBody>
          <a:bodyPr wrap="square" lIns="0" tIns="0" rIns="0" bIns="0" rtlCol="0" anchor="t"/>
          <a:lstStyle/>
          <a:p>
            <a:pPr indent="0" marL="0">
              <a:spcAft>
                <a:spcPts val="500"/>
              </a:spcAft>
              <a:buNone/>
            </a:pPr>
            <a:r>
              <a:rPr lang="en-US" sz="1200" b="1" spc="300" kern="0" dirty="0">
                <a:solidFill>
                  <a:srgbClr val="19B5C8"/>
                </a:solidFill>
                <a:latin typeface="Calibri" pitchFamily="34" charset="0"/>
                <a:ea typeface="Calibri" pitchFamily="34" charset="-122"/>
                <a:cs typeface="Calibri" pitchFamily="34" charset="-120"/>
              </a:rPr>
              <a:t>GIVEN</a:t>
            </a:r>
            <a:endParaRPr lang="en-US" sz="1600" dirty="0"/>
          </a:p>
          <a:p>
            <a:pPr indent="0" marL="0">
              <a:spcAft>
                <a:spcPts val="500"/>
              </a:spcAft>
              <a:buNone/>
            </a:pPr>
            <a:r>
              <a:rPr lang="en-US" sz="1600" dirty="0">
                <a:solidFill>
                  <a:srgbClr val="FFFFFF"/>
                </a:solidFill>
                <a:latin typeface="Calibri" pitchFamily="34" charset="0"/>
                <a:ea typeface="Calibri" pitchFamily="34" charset="-122"/>
                <a:cs typeface="Calibri" pitchFamily="34" charset="-120"/>
              </a:rPr>
              <a:t>Study M01, Table 3</a:t>
            </a:r>
            <a:endParaRPr lang="en-US" sz="1600" dirty="0"/>
          </a:p>
          <a:p>
            <a:pPr indent="0" marL="0">
              <a:spcAft>
                <a:spcPts val="500"/>
              </a:spcAft>
              <a:buNone/>
            </a:pPr>
            <a:r>
              <a:rPr lang="en-US" sz="1600" dirty="0">
                <a:solidFill>
                  <a:srgbClr val="FFFFFF"/>
                </a:solidFill>
                <a:latin typeface="Calibri" pitchFamily="34" charset="0"/>
                <a:ea typeface="Calibri" pitchFamily="34" charset="-122"/>
                <a:cs typeface="Calibri" pitchFamily="34" charset="-120"/>
              </a:rPr>
              <a:t>Factor: Bad leadership skill</a:t>
            </a:r>
            <a:endParaRPr lang="en-US" sz="1600" dirty="0"/>
          </a:p>
          <a:p>
            <a:pPr indent="0" marL="0">
              <a:spcAft>
                <a:spcPts val="500"/>
              </a:spcAft>
              <a:buNone/>
            </a:pPr>
            <a:r>
              <a:rPr lang="en-US" sz="1600" dirty="0">
                <a:solidFill>
                  <a:srgbClr val="FFFFFF"/>
                </a:solidFill>
                <a:latin typeface="Calibri" pitchFamily="34" charset="0"/>
                <a:ea typeface="Calibri" pitchFamily="34" charset="-122"/>
                <a:cs typeface="Calibri" pitchFamily="34" charset="-120"/>
              </a:rPr>
              <a:t>N = 44 respondents</a:t>
            </a:r>
            <a:endParaRPr lang="en-US" sz="1600" dirty="0"/>
          </a:p>
          <a:p>
            <a:pPr indent="0" marL="0">
              <a:spcAft>
                <a:spcPts val="500"/>
              </a:spcAft>
              <a:buNone/>
            </a:pPr>
            <a:r>
              <a:rPr lang="en-US" sz="1600" dirty="0">
                <a:solidFill>
                  <a:srgbClr val="FFFFFF"/>
                </a:solidFill>
                <a:latin typeface="Calibri" pitchFamily="34" charset="0"/>
                <a:ea typeface="Calibri" pitchFamily="34" charset="-122"/>
                <a:cs typeface="Calibri" pitchFamily="34" charset="-120"/>
              </a:rPr>
              <a:t>Scale 1 to 5, so A = 5</a:t>
            </a:r>
            <a:endParaRPr lang="en-US" sz="1600" dirty="0"/>
          </a:p>
          <a:p>
            <a:pPr indent="0" marL="0">
              <a:spcAft>
                <a:spcPts val="500"/>
              </a:spcAft>
              <a:buNone/>
            </a:pPr>
            <a:r>
              <a:rPr lang="en-US" sz="1600" dirty="0">
                <a:solidFill>
                  <a:srgbClr val="DCEAF6"/>
                </a:solidFill>
                <a:latin typeface="Calibri" pitchFamily="34" charset="0"/>
                <a:ea typeface="Calibri" pitchFamily="34" charset="-122"/>
                <a:cs typeface="Calibri" pitchFamily="34" charset="-120"/>
              </a:rPr>
              <a:t>Counts for ratings 1 to 5:</a:t>
            </a:r>
            <a:endParaRPr lang="en-US" sz="1600" dirty="0"/>
          </a:p>
          <a:p>
            <a:pPr indent="0" marL="0">
              <a:spcAft>
                <a:spcPts val="500"/>
              </a:spcAft>
              <a:buNone/>
            </a:pPr>
            <a:r>
              <a:rPr lang="en-US" sz="2400" b="1" dirty="0">
                <a:solidFill>
                  <a:srgbClr val="FFFFFF"/>
                </a:solidFill>
                <a:latin typeface="Times New Roman" pitchFamily="34" charset="0"/>
                <a:ea typeface="Times New Roman" pitchFamily="34" charset="-122"/>
                <a:cs typeface="Times New Roman" pitchFamily="34" charset="-120"/>
              </a:rPr>
              <a:t>1, 5, 5, 27, 6</a:t>
            </a:r>
            <a:endParaRPr lang="en-US" sz="1600" dirty="0"/>
          </a:p>
        </p:txBody>
      </p:sp>
      <p:sp>
        <p:nvSpPr>
          <p:cNvPr id="5" name="a2_fbg"/>
          <p:cNvSpPr/>
          <p:nvPr/>
        </p:nvSpPr>
        <p:spPr>
          <a:xfrm>
            <a:off x="4434840" y="685800"/>
            <a:ext cx="7178040" cy="868680"/>
          </a:xfrm>
          <a:prstGeom prst="roundRect">
            <a:avLst>
              <a:gd name="adj" fmla="val 10526"/>
            </a:avLst>
          </a:prstGeom>
          <a:solidFill>
            <a:srgbClr val="DCEAF6"/>
          </a:solidFill>
          <a:ln w="12700">
            <a:solidFill>
              <a:srgbClr val="DCEAF6"/>
            </a:solidFill>
            <a:prstDash val="solid"/>
          </a:ln>
        </p:spPr>
      </p:sp>
      <p:sp>
        <p:nvSpPr>
          <p:cNvPr id="6" name="a2_ft"/>
          <p:cNvSpPr txBox="1"/>
          <p:nvPr/>
        </p:nvSpPr>
        <p:spPr>
          <a:xfrm>
            <a:off x="4617720" y="685800"/>
            <a:ext cx="6812280" cy="868680"/>
          </a:xfrm>
          <a:prstGeom prst="rect">
            <a:avLst/>
          </a:prstGeom>
          <a:noFill/>
          <a:ln/>
        </p:spPr>
        <p:txBody>
          <a:bodyPr wrap="square" lIns="0" tIns="0" rIns="0" bIns="0" rtlCol="0" anchor="ctr"/>
          <a:lstStyle/>
          <a:p>
            <a:pPr algn="ctr" indent="0" marL="0">
              <a:buNone/>
            </a:pPr>
            <a:r>
              <a:rPr lang="en-US" sz="2200" i="1" dirty="0">
                <a:solidFill>
                  <a:srgbClr val="12233B"/>
                </a:solidFill>
                <a:latin typeface="Times New Roman" pitchFamily="34" charset="0"/>
                <a:ea typeface="Times New Roman" pitchFamily="34" charset="-122"/>
                <a:cs typeface="Times New Roman" pitchFamily="34" charset="-120"/>
              </a:rPr>
              <a:t>RII = Σ (w · n) / (A · N)</a:t>
            </a:r>
            <a:endParaRPr lang="en-US" sz="2200" dirty="0"/>
          </a:p>
        </p:txBody>
      </p:sp>
      <p:sp>
        <p:nvSpPr>
          <p:cNvPr id="7" name="a3_card"/>
          <p:cNvSpPr/>
          <p:nvPr/>
        </p:nvSpPr>
        <p:spPr>
          <a:xfrm>
            <a:off x="4434840" y="1783080"/>
            <a:ext cx="4206240" cy="896112"/>
          </a:xfrm>
          <a:prstGeom prst="roundRect">
            <a:avLst>
              <a:gd name="adj" fmla="val 10204"/>
            </a:avLst>
          </a:prstGeom>
          <a:solidFill>
            <a:srgbClr val="FFFFFF"/>
          </a:solidFill>
          <a:ln w="12700">
            <a:solidFill>
              <a:srgbClr val="B9CFE3"/>
            </a:solidFill>
            <a:prstDash val="solid"/>
          </a:ln>
        </p:spPr>
      </p:sp>
      <p:sp>
        <p:nvSpPr>
          <p:cNvPr id="8" name="a3_nc"/>
          <p:cNvSpPr/>
          <p:nvPr/>
        </p:nvSpPr>
        <p:spPr>
          <a:xfrm>
            <a:off x="4572000" y="1965960"/>
            <a:ext cx="530352" cy="530352"/>
          </a:xfrm>
          <a:prstGeom prst="ellipse">
            <a:avLst/>
          </a:prstGeom>
          <a:solidFill>
            <a:srgbClr val="2F6C9A"/>
          </a:solidFill>
          <a:ln w="12700">
            <a:solidFill>
              <a:srgbClr val="2F6C9A"/>
            </a:solidFill>
            <a:prstDash val="solid"/>
          </a:ln>
        </p:spPr>
      </p:sp>
      <p:sp>
        <p:nvSpPr>
          <p:cNvPr id="9" name="a3_nt"/>
          <p:cNvSpPr txBox="1"/>
          <p:nvPr/>
        </p:nvSpPr>
        <p:spPr>
          <a:xfrm>
            <a:off x="4572000" y="1965960"/>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1</a:t>
            </a:r>
            <a:endParaRPr lang="en-US" sz="1700" dirty="0"/>
          </a:p>
        </p:txBody>
      </p:sp>
      <p:sp>
        <p:nvSpPr>
          <p:cNvPr id="10" name="a3_t"/>
          <p:cNvSpPr txBox="1"/>
          <p:nvPr/>
        </p:nvSpPr>
        <p:spPr>
          <a:xfrm>
            <a:off x="5212080" y="1847088"/>
            <a:ext cx="3337560" cy="804672"/>
          </a:xfrm>
          <a:prstGeom prst="rect">
            <a:avLst/>
          </a:prstGeom>
          <a:noFill/>
          <a:ln/>
        </p:spPr>
        <p:txBody>
          <a:bodyPr wrap="square" lIns="0" tIns="0" rIns="0" bIns="0" rtlCol="0" anchor="ctr"/>
          <a:lstStyle/>
          <a:p>
            <a:pPr indent="0" marL="0">
              <a:buNone/>
            </a:pPr>
            <a:r>
              <a:rPr lang="en-US" sz="1400" b="1" dirty="0">
                <a:solidFill>
                  <a:srgbClr val="2F6C9A"/>
                </a:solidFill>
                <a:latin typeface="Calibri" pitchFamily="34" charset="0"/>
                <a:ea typeface="Calibri" pitchFamily="34" charset="-122"/>
                <a:cs typeface="Calibri" pitchFamily="34" charset="-120"/>
              </a:rPr>
              <a:t>Weighted sum</a:t>
            </a:r>
            <a:endParaRPr lang="en-US" sz="1600" dirty="0"/>
          </a:p>
          <a:p>
            <a:pPr indent="0" marL="0">
              <a:buNone/>
            </a:pPr>
            <a:r>
              <a:rPr lang="en-US" sz="1300" dirty="0">
                <a:solidFill>
                  <a:srgbClr val="12233B"/>
                </a:solidFill>
                <a:latin typeface="Calibri" pitchFamily="34" charset="0"/>
                <a:ea typeface="Calibri" pitchFamily="34" charset="-122"/>
                <a:cs typeface="Calibri" pitchFamily="34" charset="-120"/>
              </a:rPr>
              <a:t>Σ w·n = 1·1 + 2·5 + 3·5 + 4·27 + 5·6 = 1 + 10 + 15 + 108 + 30 = 164</a:t>
            </a:r>
            <a:endParaRPr lang="en-US" sz="1600" dirty="0"/>
          </a:p>
        </p:txBody>
      </p:sp>
      <p:sp>
        <p:nvSpPr>
          <p:cNvPr id="11" name="a4_card"/>
          <p:cNvSpPr/>
          <p:nvPr/>
        </p:nvSpPr>
        <p:spPr>
          <a:xfrm>
            <a:off x="4434840" y="2807208"/>
            <a:ext cx="4206240" cy="896112"/>
          </a:xfrm>
          <a:prstGeom prst="roundRect">
            <a:avLst>
              <a:gd name="adj" fmla="val 10204"/>
            </a:avLst>
          </a:prstGeom>
          <a:solidFill>
            <a:srgbClr val="FFFFFF"/>
          </a:solidFill>
          <a:ln w="12700">
            <a:solidFill>
              <a:srgbClr val="B9CFE3"/>
            </a:solidFill>
            <a:prstDash val="solid"/>
          </a:ln>
        </p:spPr>
      </p:sp>
      <p:sp>
        <p:nvSpPr>
          <p:cNvPr id="12" name="a4_nc"/>
          <p:cNvSpPr/>
          <p:nvPr/>
        </p:nvSpPr>
        <p:spPr>
          <a:xfrm>
            <a:off x="4572000" y="2990088"/>
            <a:ext cx="530352" cy="530352"/>
          </a:xfrm>
          <a:prstGeom prst="ellipse">
            <a:avLst/>
          </a:prstGeom>
          <a:solidFill>
            <a:srgbClr val="2F6C9A"/>
          </a:solidFill>
          <a:ln w="12700">
            <a:solidFill>
              <a:srgbClr val="2F6C9A"/>
            </a:solidFill>
            <a:prstDash val="solid"/>
          </a:ln>
        </p:spPr>
      </p:sp>
      <p:sp>
        <p:nvSpPr>
          <p:cNvPr id="13" name="a4_nt"/>
          <p:cNvSpPr txBox="1"/>
          <p:nvPr/>
        </p:nvSpPr>
        <p:spPr>
          <a:xfrm>
            <a:off x="4572000" y="2990088"/>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2</a:t>
            </a:r>
            <a:endParaRPr lang="en-US" sz="1700" dirty="0"/>
          </a:p>
        </p:txBody>
      </p:sp>
      <p:sp>
        <p:nvSpPr>
          <p:cNvPr id="14" name="a4_t"/>
          <p:cNvSpPr txBox="1"/>
          <p:nvPr/>
        </p:nvSpPr>
        <p:spPr>
          <a:xfrm>
            <a:off x="5212080" y="2871216"/>
            <a:ext cx="3337560" cy="804672"/>
          </a:xfrm>
          <a:prstGeom prst="rect">
            <a:avLst/>
          </a:prstGeom>
          <a:noFill/>
          <a:ln/>
        </p:spPr>
        <p:txBody>
          <a:bodyPr wrap="square" lIns="0" tIns="0" rIns="0" bIns="0" rtlCol="0" anchor="ctr"/>
          <a:lstStyle/>
          <a:p>
            <a:pPr indent="0" marL="0">
              <a:buNone/>
            </a:pPr>
            <a:r>
              <a:rPr lang="en-US" sz="1400" b="1" dirty="0">
                <a:solidFill>
                  <a:srgbClr val="2F6C9A"/>
                </a:solidFill>
                <a:latin typeface="Calibri" pitchFamily="34" charset="0"/>
                <a:ea typeface="Calibri" pitchFamily="34" charset="-122"/>
                <a:cs typeface="Calibri" pitchFamily="34" charset="-120"/>
              </a:rPr>
              <a:t>Maximum possible</a:t>
            </a:r>
            <a:endParaRPr lang="en-US" sz="1600" dirty="0"/>
          </a:p>
          <a:p>
            <a:pPr indent="0" marL="0">
              <a:buNone/>
            </a:pPr>
            <a:r>
              <a:rPr lang="en-US" sz="1300" dirty="0">
                <a:solidFill>
                  <a:srgbClr val="12233B"/>
                </a:solidFill>
                <a:latin typeface="Calibri" pitchFamily="34" charset="0"/>
                <a:ea typeface="Calibri" pitchFamily="34" charset="-122"/>
                <a:cs typeface="Calibri" pitchFamily="34" charset="-120"/>
              </a:rPr>
              <a:t>A · N = 5 · 44 = 220</a:t>
            </a:r>
            <a:endParaRPr lang="en-US" sz="1600" dirty="0"/>
          </a:p>
        </p:txBody>
      </p:sp>
      <p:sp>
        <p:nvSpPr>
          <p:cNvPr id="15" name="a5_card"/>
          <p:cNvSpPr/>
          <p:nvPr/>
        </p:nvSpPr>
        <p:spPr>
          <a:xfrm>
            <a:off x="4434840" y="3831336"/>
            <a:ext cx="4206240" cy="896112"/>
          </a:xfrm>
          <a:prstGeom prst="roundRect">
            <a:avLst>
              <a:gd name="adj" fmla="val 10204"/>
            </a:avLst>
          </a:prstGeom>
          <a:solidFill>
            <a:srgbClr val="FFFFFF"/>
          </a:solidFill>
          <a:ln w="12700">
            <a:solidFill>
              <a:srgbClr val="B9CFE3"/>
            </a:solidFill>
            <a:prstDash val="solid"/>
          </a:ln>
        </p:spPr>
      </p:sp>
      <p:sp>
        <p:nvSpPr>
          <p:cNvPr id="16" name="a5_nc"/>
          <p:cNvSpPr/>
          <p:nvPr/>
        </p:nvSpPr>
        <p:spPr>
          <a:xfrm>
            <a:off x="4572000" y="4014216"/>
            <a:ext cx="530352" cy="530352"/>
          </a:xfrm>
          <a:prstGeom prst="ellipse">
            <a:avLst/>
          </a:prstGeom>
          <a:solidFill>
            <a:srgbClr val="2F6C9A"/>
          </a:solidFill>
          <a:ln w="12700">
            <a:solidFill>
              <a:srgbClr val="2F6C9A"/>
            </a:solidFill>
            <a:prstDash val="solid"/>
          </a:ln>
        </p:spPr>
      </p:sp>
      <p:sp>
        <p:nvSpPr>
          <p:cNvPr id="17" name="a5_nt"/>
          <p:cNvSpPr txBox="1"/>
          <p:nvPr/>
        </p:nvSpPr>
        <p:spPr>
          <a:xfrm>
            <a:off x="4572000" y="4014216"/>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Times New Roman" pitchFamily="34" charset="0"/>
                <a:ea typeface="Times New Roman" pitchFamily="34" charset="-122"/>
                <a:cs typeface="Times New Roman" pitchFamily="34" charset="-120"/>
              </a:rPr>
              <a:t>3</a:t>
            </a:r>
            <a:endParaRPr lang="en-US" sz="1700" dirty="0"/>
          </a:p>
        </p:txBody>
      </p:sp>
      <p:sp>
        <p:nvSpPr>
          <p:cNvPr id="18" name="a5_t"/>
          <p:cNvSpPr txBox="1"/>
          <p:nvPr/>
        </p:nvSpPr>
        <p:spPr>
          <a:xfrm>
            <a:off x="5212080" y="3895344"/>
            <a:ext cx="3337560" cy="804672"/>
          </a:xfrm>
          <a:prstGeom prst="rect">
            <a:avLst/>
          </a:prstGeom>
          <a:noFill/>
          <a:ln/>
        </p:spPr>
        <p:txBody>
          <a:bodyPr wrap="square" lIns="0" tIns="0" rIns="0" bIns="0" rtlCol="0" anchor="ctr"/>
          <a:lstStyle/>
          <a:p>
            <a:pPr indent="0" marL="0">
              <a:buNone/>
            </a:pPr>
            <a:r>
              <a:rPr lang="en-US" sz="1400" b="1" dirty="0">
                <a:solidFill>
                  <a:srgbClr val="2F6C9A"/>
                </a:solidFill>
                <a:latin typeface="Calibri" pitchFamily="34" charset="0"/>
                <a:ea typeface="Calibri" pitchFamily="34" charset="-122"/>
                <a:cs typeface="Calibri" pitchFamily="34" charset="-120"/>
              </a:rPr>
              <a:t>Index</a:t>
            </a:r>
            <a:endParaRPr lang="en-US" sz="1600" dirty="0"/>
          </a:p>
          <a:p>
            <a:pPr indent="0" marL="0">
              <a:buNone/>
            </a:pPr>
            <a:r>
              <a:rPr lang="en-US" sz="1300" dirty="0">
                <a:solidFill>
                  <a:srgbClr val="12233B"/>
                </a:solidFill>
                <a:latin typeface="Calibri" pitchFamily="34" charset="0"/>
                <a:ea typeface="Calibri" pitchFamily="34" charset="-122"/>
                <a:cs typeface="Calibri" pitchFamily="34" charset="-120"/>
              </a:rPr>
              <a:t>RII = 164 / 220 = 0.745</a:t>
            </a:r>
            <a:endParaRPr lang="en-US" sz="1600" dirty="0"/>
          </a:p>
        </p:txBody>
      </p:sp>
      <p:graphicFrame>
        <p:nvGraphicFramePr>
          <p:cNvPr id="19" name="a6_chart" descr=""/>
          <p:cNvGraphicFramePr/>
          <p:nvPr/>
        </p:nvGraphicFramePr>
        <p:xfrm>
          <a:off x="8778240" y="1737360"/>
          <a:ext cx="2926080" cy="3154680"/>
        </p:xfrm>
        <a:graphic xmlns:a="http://schemas.openxmlformats.org/drawingml/2006/main">
          <a:graphicData uri="http://schemas.openxmlformats.org/drawingml/2006/chart">
            <c:chart xmlns:c="http://schemas.openxmlformats.org/drawingml/2006/chart" r:id="rId1"/>
          </a:graphicData>
        </a:graphic>
      </p:graphicFrame>
      <p:sp>
        <p:nvSpPr>
          <p:cNvPr id="20" name="a7_callout"/>
          <p:cNvSpPr/>
          <p:nvPr/>
        </p:nvSpPr>
        <p:spPr>
          <a:xfrm>
            <a:off x="4434840" y="4983480"/>
            <a:ext cx="7223760" cy="1097280"/>
          </a:xfrm>
          <a:prstGeom prst="roundRect">
            <a:avLst>
              <a:gd name="adj" fmla="val 8333"/>
            </a:avLst>
          </a:prstGeom>
          <a:solidFill>
            <a:srgbClr val="173F6B"/>
          </a:solidFill>
          <a:ln w="12700">
            <a:solidFill>
              <a:srgbClr val="173F6B"/>
            </a:solidFill>
            <a:prstDash val="solid"/>
          </a:ln>
        </p:spPr>
      </p:sp>
      <p:sp>
        <p:nvSpPr>
          <p:cNvPr id="21" name="a7_callt"/>
          <p:cNvSpPr txBox="1"/>
          <p:nvPr/>
        </p:nvSpPr>
        <p:spPr>
          <a:xfrm>
            <a:off x="4663440" y="4983480"/>
            <a:ext cx="6766560" cy="1097280"/>
          </a:xfrm>
          <a:prstGeom prst="rect">
            <a:avLst/>
          </a:prstGeom>
          <a:noFill/>
          <a:ln/>
        </p:spPr>
        <p:txBody>
          <a:bodyPr wrap="square" lIns="0" tIns="0" rIns="0" bIns="0" rtlCol="0" anchor="ctr"/>
          <a:lstStyle/>
          <a:p>
            <a:pPr indent="0" marL="0">
              <a:buNone/>
            </a:pPr>
            <a:r>
              <a:rPr lang="en-US" sz="1500" b="1" dirty="0">
                <a:solidFill>
                  <a:srgbClr val="19B5C8"/>
                </a:solidFill>
                <a:latin typeface="Calibri" pitchFamily="34" charset="0"/>
                <a:ea typeface="Calibri" pitchFamily="34" charset="-122"/>
                <a:cs typeface="Calibri" pitchFamily="34" charset="-120"/>
              </a:rPr>
              <a:t>Check that mattered: </a:t>
            </a:r>
            <a:pPr indent="0" marL="0">
              <a:buNone/>
            </a:pPr>
            <a:r>
              <a:rPr lang="en-US" sz="1500" dirty="0">
                <a:solidFill>
                  <a:srgbClr val="FFFFFF"/>
                </a:solidFill>
                <a:latin typeface="Calibri" pitchFamily="34" charset="0"/>
                <a:ea typeface="Calibri" pitchFamily="34" charset="-122"/>
                <a:cs typeface="Calibri" pitchFamily="34" charset="-120"/>
              </a:rPr>
              <a:t>the paper prints 165 and 0.750; its own counts give 164 and 0.745. The printed value is kept in the data and the difference is recorded in the row note.</a:t>
            </a:r>
            <a:endParaRPr lang="en-US" sz="1500" dirty="0"/>
          </a:p>
        </p:txBody>
      </p:sp>
      <p:sp>
        <p:nvSpPr>
          <p:cNvPr id="22" name="Text 18"/>
          <p:cNvSpPr txBox="1"/>
          <p:nvPr/>
        </p:nvSpPr>
        <p:spPr>
          <a:xfrm>
            <a:off x="4434840" y="6144768"/>
            <a:ext cx="722376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data/literature_seed.json (M01 note); RII: relative importance index as used in the cited surveys</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4"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3"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26"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9" fill="hold">
                            <p:stCondLst>
                              <p:cond delay="114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childTnLst>
                          </p:cTn>
                        </p:par>
                        <p:par>
                          <p:cTn id="52" fill="hold">
                            <p:stCondLst>
                              <p:cond delay="1520"/>
                            </p:stCondLst>
                            <p:childTnLst>
                              <p:par>
                                <p:cTn id="40" presetID="10" presetClass="entr" presetSubtype="0" fill="hold" grpId="0" nodeType="after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56" fill="hold">
                            <p:stCondLst>
                              <p:cond delay="1900"/>
                            </p:stCondLst>
                            <p:childTnLst>
                              <p:par>
                                <p:cTn id="53" presetID="22" presetClass="entr" presetSubtype="8"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450"/>
                                        <p:tgtEl>
                                          <p:spTgt spid="19"/>
                                        </p:tgtEl>
                                      </p:cBhvr>
                                    </p:animEffect>
                                  </p:childTnLst>
                                </p:cTn>
                              </p:par>
                            </p:childTnLst>
                          </p:cTn>
                        </p:par>
                        <p:par>
                          <p:cTn id="63" fill="hold">
                            <p:stCondLst>
                              <p:cond delay="2280"/>
                            </p:stCondLst>
                            <p:childTnLst>
                              <p:par>
                                <p:cTn id="57" presetID="10" presetClass="entr" presetSubtype="0"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Graphic spid="19" grpId="0">
        <p:bldAsOne/>
      </p:bldGraphic>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Calculation 2: from survey values to a starting tier</a:t>
            </a:r>
            <a:endParaRPr lang="en-US" sz="3200" dirty="0"/>
          </a:p>
        </p:txBody>
      </p:sp>
      <p:sp>
        <p:nvSpPr>
          <p:cNvPr id="4" name="a1_h1"/>
          <p:cNvSpPr txBox="1"/>
          <p:nvPr/>
        </p:nvSpPr>
        <p:spPr>
          <a:xfrm>
            <a:off x="548640" y="1325880"/>
            <a:ext cx="5669280" cy="365760"/>
          </a:xfrm>
          <a:prstGeom prst="rect">
            <a:avLst/>
          </a:prstGeom>
          <a:noFill/>
          <a:ln/>
        </p:spPr>
        <p:txBody>
          <a:bodyPr wrap="square" lIns="0" tIns="0" rIns="0" bIns="0" rtlCol="0" anchor="t"/>
          <a:lstStyle/>
          <a:p>
            <a:pPr indent="0" marL="0">
              <a:buNone/>
            </a:pPr>
            <a:r>
              <a:rPr lang="en-US" sz="1700" b="1" dirty="0">
                <a:solidFill>
                  <a:srgbClr val="12233B"/>
                </a:solidFill>
                <a:latin typeface="Times New Roman" pitchFamily="34" charset="0"/>
                <a:ea typeface="Times New Roman" pitchFamily="34" charset="-122"/>
                <a:cs typeface="Times New Roman" pitchFamily="34" charset="-120"/>
              </a:rPr>
              <a:t>Step 1  Direct factors for R-MAT (seed studies)</a:t>
            </a:r>
            <a:endParaRPr lang="en-US" sz="1700" dirty="0"/>
          </a:p>
        </p:txBody>
      </p:sp>
      <p:sp>
        <p:nvSpPr>
          <p:cNvPr id="5" name="a1_row0"/>
          <p:cNvSpPr/>
          <p:nvPr/>
        </p:nvSpPr>
        <p:spPr>
          <a:xfrm>
            <a:off x="548640" y="1783080"/>
            <a:ext cx="5669280" cy="530352"/>
          </a:xfrm>
          <a:prstGeom prst="roundRect">
            <a:avLst>
              <a:gd name="adj" fmla="val 17241"/>
            </a:avLst>
          </a:prstGeom>
          <a:solidFill>
            <a:srgbClr val="DCEAF6"/>
          </a:solidFill>
          <a:ln w="12700">
            <a:solidFill>
              <a:srgbClr val="DCEAF6"/>
            </a:solidFill>
            <a:prstDash val="solid"/>
          </a:ln>
        </p:spPr>
      </p:sp>
      <p:sp>
        <p:nvSpPr>
          <p:cNvPr id="6" name="a1_rid0"/>
          <p:cNvSpPr txBox="1"/>
          <p:nvPr/>
        </p:nvSpPr>
        <p:spPr>
          <a:xfrm>
            <a:off x="731520" y="1783080"/>
            <a:ext cx="731520" cy="530352"/>
          </a:xfrm>
          <a:prstGeom prst="rect">
            <a:avLst/>
          </a:prstGeom>
          <a:noFill/>
          <a:ln/>
        </p:spPr>
        <p:txBody>
          <a:bodyPr wrap="square" lIns="0" tIns="0" rIns="0" bIns="0" rtlCol="0" anchor="ctr"/>
          <a:lstStyle/>
          <a:p>
            <a:pPr indent="0" marL="0">
              <a:buNone/>
            </a:pPr>
            <a:r>
              <a:rPr lang="en-US" sz="1500" b="1" dirty="0">
                <a:solidFill>
                  <a:srgbClr val="2F6C9A"/>
                </a:solidFill>
                <a:latin typeface="Calibri" pitchFamily="34" charset="0"/>
                <a:ea typeface="Calibri" pitchFamily="34" charset="-122"/>
                <a:cs typeface="Calibri" pitchFamily="34" charset="-120"/>
              </a:rPr>
              <a:t>M01</a:t>
            </a:r>
            <a:endParaRPr lang="en-US" sz="1500" dirty="0"/>
          </a:p>
        </p:txBody>
      </p:sp>
      <p:sp>
        <p:nvSpPr>
          <p:cNvPr id="7" name="a1_rf0"/>
          <p:cNvSpPr txBox="1"/>
          <p:nvPr/>
        </p:nvSpPr>
        <p:spPr>
          <a:xfrm>
            <a:off x="1508760" y="1783080"/>
            <a:ext cx="3657600" cy="530352"/>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Material shortages</a:t>
            </a:r>
            <a:endParaRPr lang="en-US" sz="1400" dirty="0"/>
          </a:p>
        </p:txBody>
      </p:sp>
      <p:sp>
        <p:nvSpPr>
          <p:cNvPr id="8" name="a1_rv0"/>
          <p:cNvSpPr txBox="1"/>
          <p:nvPr/>
        </p:nvSpPr>
        <p:spPr>
          <a:xfrm>
            <a:off x="5120640" y="1783080"/>
            <a:ext cx="960120" cy="530352"/>
          </a:xfrm>
          <a:prstGeom prst="rect">
            <a:avLst/>
          </a:prstGeom>
          <a:noFill/>
          <a:ln/>
        </p:spPr>
        <p:txBody>
          <a:bodyPr wrap="square" lIns="0" tIns="0" rIns="0" bIns="0" rtlCol="0" anchor="ctr"/>
          <a:lstStyle/>
          <a:p>
            <a:pPr algn="r" indent="0" marL="0">
              <a:buNone/>
            </a:pPr>
            <a:r>
              <a:rPr lang="en-US" sz="1600" b="1" dirty="0">
                <a:solidFill>
                  <a:srgbClr val="12233B"/>
                </a:solidFill>
                <a:latin typeface="Calibri" pitchFamily="34" charset="0"/>
                <a:ea typeface="Calibri" pitchFamily="34" charset="-122"/>
                <a:cs typeface="Calibri" pitchFamily="34" charset="-120"/>
              </a:rPr>
              <a:t>0.777</a:t>
            </a:r>
            <a:endParaRPr lang="en-US" sz="1600" dirty="0"/>
          </a:p>
        </p:txBody>
      </p:sp>
      <p:sp>
        <p:nvSpPr>
          <p:cNvPr id="9" name="a1_row1"/>
          <p:cNvSpPr/>
          <p:nvPr/>
        </p:nvSpPr>
        <p:spPr>
          <a:xfrm>
            <a:off x="548640" y="2423160"/>
            <a:ext cx="5669280" cy="530352"/>
          </a:xfrm>
          <a:prstGeom prst="roundRect">
            <a:avLst>
              <a:gd name="adj" fmla="val 17241"/>
            </a:avLst>
          </a:prstGeom>
          <a:solidFill>
            <a:srgbClr val="DCEAF6"/>
          </a:solidFill>
          <a:ln w="12700">
            <a:solidFill>
              <a:srgbClr val="DCEAF6"/>
            </a:solidFill>
            <a:prstDash val="solid"/>
          </a:ln>
        </p:spPr>
      </p:sp>
      <p:sp>
        <p:nvSpPr>
          <p:cNvPr id="10" name="a1_rid1"/>
          <p:cNvSpPr txBox="1"/>
          <p:nvPr/>
        </p:nvSpPr>
        <p:spPr>
          <a:xfrm>
            <a:off x="731520" y="2423160"/>
            <a:ext cx="731520" cy="530352"/>
          </a:xfrm>
          <a:prstGeom prst="rect">
            <a:avLst/>
          </a:prstGeom>
          <a:noFill/>
          <a:ln/>
        </p:spPr>
        <p:txBody>
          <a:bodyPr wrap="square" lIns="0" tIns="0" rIns="0" bIns="0" rtlCol="0" anchor="ctr"/>
          <a:lstStyle/>
          <a:p>
            <a:pPr indent="0" marL="0">
              <a:buNone/>
            </a:pPr>
            <a:r>
              <a:rPr lang="en-US" sz="1500" b="1" dirty="0">
                <a:solidFill>
                  <a:srgbClr val="2F6C9A"/>
                </a:solidFill>
                <a:latin typeface="Calibri" pitchFamily="34" charset="0"/>
                <a:ea typeface="Calibri" pitchFamily="34" charset="-122"/>
                <a:cs typeface="Calibri" pitchFamily="34" charset="-120"/>
              </a:rPr>
              <a:t>A02</a:t>
            </a:r>
            <a:endParaRPr lang="en-US" sz="1500" dirty="0"/>
          </a:p>
        </p:txBody>
      </p:sp>
      <p:sp>
        <p:nvSpPr>
          <p:cNvPr id="11" name="a1_rf1"/>
          <p:cNvSpPr txBox="1"/>
          <p:nvPr/>
        </p:nvSpPr>
        <p:spPr>
          <a:xfrm>
            <a:off x="1508760" y="2423160"/>
            <a:ext cx="3657600" cy="530352"/>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Lack of required construction material</a:t>
            </a:r>
            <a:endParaRPr lang="en-US" sz="1400" dirty="0"/>
          </a:p>
        </p:txBody>
      </p:sp>
      <p:sp>
        <p:nvSpPr>
          <p:cNvPr id="12" name="a1_rv1"/>
          <p:cNvSpPr txBox="1"/>
          <p:nvPr/>
        </p:nvSpPr>
        <p:spPr>
          <a:xfrm>
            <a:off x="5120640" y="2423160"/>
            <a:ext cx="960120" cy="530352"/>
          </a:xfrm>
          <a:prstGeom prst="rect">
            <a:avLst/>
          </a:prstGeom>
          <a:noFill/>
          <a:ln/>
        </p:spPr>
        <p:txBody>
          <a:bodyPr wrap="square" lIns="0" tIns="0" rIns="0" bIns="0" rtlCol="0" anchor="ctr"/>
          <a:lstStyle/>
          <a:p>
            <a:pPr algn="r" indent="0" marL="0">
              <a:buNone/>
            </a:pPr>
            <a:r>
              <a:rPr lang="en-US" sz="1600" b="1" dirty="0">
                <a:solidFill>
                  <a:srgbClr val="12233B"/>
                </a:solidFill>
                <a:latin typeface="Calibri" pitchFamily="34" charset="0"/>
                <a:ea typeface="Calibri" pitchFamily="34" charset="-122"/>
                <a:cs typeface="Calibri" pitchFamily="34" charset="-120"/>
              </a:rPr>
              <a:t>0.780</a:t>
            </a:r>
            <a:endParaRPr lang="en-US" sz="1600" dirty="0"/>
          </a:p>
        </p:txBody>
      </p:sp>
      <p:sp>
        <p:nvSpPr>
          <p:cNvPr id="13" name="a1_row2"/>
          <p:cNvSpPr/>
          <p:nvPr/>
        </p:nvSpPr>
        <p:spPr>
          <a:xfrm>
            <a:off x="548640" y="3063240"/>
            <a:ext cx="5669280" cy="530352"/>
          </a:xfrm>
          <a:prstGeom prst="roundRect">
            <a:avLst>
              <a:gd name="adj" fmla="val 17241"/>
            </a:avLst>
          </a:prstGeom>
          <a:solidFill>
            <a:srgbClr val="DCEAF6"/>
          </a:solidFill>
          <a:ln w="12700">
            <a:solidFill>
              <a:srgbClr val="DCEAF6"/>
            </a:solidFill>
            <a:prstDash val="solid"/>
          </a:ln>
        </p:spPr>
      </p:sp>
      <p:sp>
        <p:nvSpPr>
          <p:cNvPr id="14" name="a1_rid2"/>
          <p:cNvSpPr txBox="1"/>
          <p:nvPr/>
        </p:nvSpPr>
        <p:spPr>
          <a:xfrm>
            <a:off x="731520" y="3063240"/>
            <a:ext cx="731520" cy="530352"/>
          </a:xfrm>
          <a:prstGeom prst="rect">
            <a:avLst/>
          </a:prstGeom>
          <a:noFill/>
          <a:ln/>
        </p:spPr>
        <p:txBody>
          <a:bodyPr wrap="square" lIns="0" tIns="0" rIns="0" bIns="0" rtlCol="0" anchor="ctr"/>
          <a:lstStyle/>
          <a:p>
            <a:pPr indent="0" marL="0">
              <a:buNone/>
            </a:pPr>
            <a:r>
              <a:rPr lang="en-US" sz="1500" b="1" dirty="0">
                <a:solidFill>
                  <a:srgbClr val="2F6C9A"/>
                </a:solidFill>
                <a:latin typeface="Calibri" pitchFamily="34" charset="0"/>
                <a:ea typeface="Calibri" pitchFamily="34" charset="-122"/>
                <a:cs typeface="Calibri" pitchFamily="34" charset="-120"/>
              </a:rPr>
              <a:t>A14</a:t>
            </a:r>
            <a:endParaRPr lang="en-US" sz="1500" dirty="0"/>
          </a:p>
        </p:txBody>
      </p:sp>
      <p:sp>
        <p:nvSpPr>
          <p:cNvPr id="15" name="a1_rf2"/>
          <p:cNvSpPr txBox="1"/>
          <p:nvPr/>
        </p:nvSpPr>
        <p:spPr>
          <a:xfrm>
            <a:off x="1508760" y="3063240"/>
            <a:ext cx="3657600" cy="530352"/>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Delay of delivering materials to the site</a:t>
            </a:r>
            <a:endParaRPr lang="en-US" sz="1400" dirty="0"/>
          </a:p>
        </p:txBody>
      </p:sp>
      <p:sp>
        <p:nvSpPr>
          <p:cNvPr id="16" name="a1_rv2"/>
          <p:cNvSpPr txBox="1"/>
          <p:nvPr/>
        </p:nvSpPr>
        <p:spPr>
          <a:xfrm>
            <a:off x="5120640" y="3063240"/>
            <a:ext cx="960120" cy="530352"/>
          </a:xfrm>
          <a:prstGeom prst="rect">
            <a:avLst/>
          </a:prstGeom>
          <a:noFill/>
          <a:ln/>
        </p:spPr>
        <p:txBody>
          <a:bodyPr wrap="square" lIns="0" tIns="0" rIns="0" bIns="0" rtlCol="0" anchor="ctr"/>
          <a:lstStyle/>
          <a:p>
            <a:pPr algn="r" indent="0" marL="0">
              <a:buNone/>
            </a:pPr>
            <a:r>
              <a:rPr lang="en-US" sz="1600" b="1" dirty="0">
                <a:solidFill>
                  <a:srgbClr val="12233B"/>
                </a:solidFill>
                <a:latin typeface="Calibri" pitchFamily="34" charset="0"/>
                <a:ea typeface="Calibri" pitchFamily="34" charset="-122"/>
                <a:cs typeface="Calibri" pitchFamily="34" charset="-120"/>
              </a:rPr>
              <a:t>0.8098</a:t>
            </a:r>
            <a:endParaRPr lang="en-US" sz="1600" dirty="0"/>
          </a:p>
        </p:txBody>
      </p:sp>
      <p:sp>
        <p:nvSpPr>
          <p:cNvPr id="17" name="a2_h2"/>
          <p:cNvSpPr txBox="1"/>
          <p:nvPr/>
        </p:nvSpPr>
        <p:spPr>
          <a:xfrm>
            <a:off x="548640" y="3794760"/>
            <a:ext cx="5669280" cy="365760"/>
          </a:xfrm>
          <a:prstGeom prst="rect">
            <a:avLst/>
          </a:prstGeom>
          <a:noFill/>
          <a:ln/>
        </p:spPr>
        <p:txBody>
          <a:bodyPr wrap="square" lIns="0" tIns="0" rIns="0" bIns="0" rtlCol="0" anchor="t"/>
          <a:lstStyle/>
          <a:p>
            <a:pPr indent="0" marL="0">
              <a:buNone/>
            </a:pPr>
            <a:r>
              <a:rPr lang="en-US" sz="1700" b="1" dirty="0">
                <a:solidFill>
                  <a:srgbClr val="12233B"/>
                </a:solidFill>
                <a:latin typeface="Times New Roman" pitchFamily="34" charset="0"/>
                <a:ea typeface="Times New Roman" pitchFamily="34" charset="-122"/>
                <a:cs typeface="Times New Roman" pitchFamily="34" charset="-120"/>
              </a:rPr>
              <a:t>Step 2  Mean across studies</a:t>
            </a:r>
            <a:endParaRPr lang="en-US" sz="1700" dirty="0"/>
          </a:p>
        </p:txBody>
      </p:sp>
      <p:sp>
        <p:nvSpPr>
          <p:cNvPr id="18" name="a2_f2bg"/>
          <p:cNvSpPr/>
          <p:nvPr/>
        </p:nvSpPr>
        <p:spPr>
          <a:xfrm>
            <a:off x="548640" y="4206240"/>
            <a:ext cx="5669280" cy="777240"/>
          </a:xfrm>
          <a:prstGeom prst="roundRect">
            <a:avLst>
              <a:gd name="adj" fmla="val 11765"/>
            </a:avLst>
          </a:prstGeom>
          <a:solidFill>
            <a:srgbClr val="DCEAF6"/>
          </a:solidFill>
          <a:ln w="12700">
            <a:solidFill>
              <a:srgbClr val="DCEAF6"/>
            </a:solidFill>
            <a:prstDash val="solid"/>
          </a:ln>
        </p:spPr>
      </p:sp>
      <p:sp>
        <p:nvSpPr>
          <p:cNvPr id="19" name="a2_f2t"/>
          <p:cNvSpPr txBox="1"/>
          <p:nvPr/>
        </p:nvSpPr>
        <p:spPr>
          <a:xfrm>
            <a:off x="731520" y="4206240"/>
            <a:ext cx="5303520" cy="777240"/>
          </a:xfrm>
          <a:prstGeom prst="rect">
            <a:avLst/>
          </a:prstGeom>
          <a:noFill/>
          <a:ln/>
        </p:spPr>
        <p:txBody>
          <a:bodyPr wrap="square" lIns="0" tIns="0" rIns="0" bIns="0" rtlCol="0" anchor="ctr"/>
          <a:lstStyle/>
          <a:p>
            <a:pPr algn="ctr" indent="0" marL="0">
              <a:buNone/>
            </a:pPr>
            <a:r>
              <a:rPr lang="en-US" sz="2200" i="1" dirty="0">
                <a:solidFill>
                  <a:srgbClr val="12233B"/>
                </a:solidFill>
                <a:latin typeface="Times New Roman" pitchFamily="34" charset="0"/>
                <a:ea typeface="Times New Roman" pitchFamily="34" charset="-122"/>
                <a:cs typeface="Times New Roman" pitchFamily="34" charset="-120"/>
              </a:rPr>
              <a:t>(0.777 + 0.780 + 0.8098) / 3 = 0.7889</a:t>
            </a:r>
            <a:endParaRPr lang="en-US" sz="2200" dirty="0"/>
          </a:p>
        </p:txBody>
      </p:sp>
      <p:sp>
        <p:nvSpPr>
          <p:cNvPr id="20" name="a3_h3"/>
          <p:cNvSpPr txBox="1"/>
          <p:nvPr/>
        </p:nvSpPr>
        <p:spPr>
          <a:xfrm>
            <a:off x="6675120" y="1325880"/>
            <a:ext cx="4937760" cy="365760"/>
          </a:xfrm>
          <a:prstGeom prst="rect">
            <a:avLst/>
          </a:prstGeom>
          <a:noFill/>
          <a:ln/>
        </p:spPr>
        <p:txBody>
          <a:bodyPr wrap="square" lIns="0" tIns="0" rIns="0" bIns="0" rtlCol="0" anchor="t"/>
          <a:lstStyle/>
          <a:p>
            <a:pPr indent="0" marL="0">
              <a:buNone/>
            </a:pPr>
            <a:r>
              <a:rPr lang="en-US" sz="1700" b="1" dirty="0">
                <a:solidFill>
                  <a:srgbClr val="12233B"/>
                </a:solidFill>
                <a:latin typeface="Times New Roman" pitchFamily="34" charset="0"/>
                <a:ea typeface="Times New Roman" pitchFamily="34" charset="-122"/>
                <a:cs typeface="Times New Roman" pitchFamily="34" charset="-120"/>
              </a:rPr>
              <a:t>Step 3  Rank among 30 seeded risks, then band</a:t>
            </a:r>
            <a:endParaRPr lang="en-US" sz="1700" dirty="0"/>
          </a:p>
        </p:txBody>
      </p:sp>
      <p:sp>
        <p:nvSpPr>
          <p:cNvPr id="21" name="a3_band0"/>
          <p:cNvSpPr/>
          <p:nvPr/>
        </p:nvSpPr>
        <p:spPr>
          <a:xfrm>
            <a:off x="6675120" y="1783080"/>
            <a:ext cx="3291840" cy="548640"/>
          </a:xfrm>
          <a:prstGeom prst="roundRect">
            <a:avLst>
              <a:gd name="adj" fmla="val 16667"/>
            </a:avLst>
          </a:prstGeom>
          <a:solidFill>
            <a:srgbClr val="173F6B"/>
          </a:solidFill>
          <a:ln w="12700">
            <a:solidFill>
              <a:srgbClr val="173F6B"/>
            </a:solidFill>
            <a:prstDash val="solid"/>
          </a:ln>
        </p:spPr>
      </p:sp>
      <p:sp>
        <p:nvSpPr>
          <p:cNvPr id="22" name="a3_bt0"/>
          <p:cNvSpPr txBox="1"/>
          <p:nvPr/>
        </p:nvSpPr>
        <p:spPr>
          <a:xfrm>
            <a:off x="6812280" y="1783080"/>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Tier 5   ranks 1 to 6</a:t>
            </a:r>
            <a:endParaRPr lang="en-US" sz="1400" dirty="0"/>
          </a:p>
        </p:txBody>
      </p:sp>
      <p:sp>
        <p:nvSpPr>
          <p:cNvPr id="23" name="a3_band1"/>
          <p:cNvSpPr/>
          <p:nvPr/>
        </p:nvSpPr>
        <p:spPr>
          <a:xfrm>
            <a:off x="6675120" y="2441448"/>
            <a:ext cx="3035808" cy="548640"/>
          </a:xfrm>
          <a:prstGeom prst="roundRect">
            <a:avLst>
              <a:gd name="adj" fmla="val 16667"/>
            </a:avLst>
          </a:prstGeom>
          <a:solidFill>
            <a:srgbClr val="2F6C9A"/>
          </a:solidFill>
          <a:ln w="12700">
            <a:solidFill>
              <a:srgbClr val="2F6C9A"/>
            </a:solidFill>
            <a:prstDash val="solid"/>
          </a:ln>
        </p:spPr>
      </p:sp>
      <p:sp>
        <p:nvSpPr>
          <p:cNvPr id="24" name="a3_bt1"/>
          <p:cNvSpPr txBox="1"/>
          <p:nvPr/>
        </p:nvSpPr>
        <p:spPr>
          <a:xfrm>
            <a:off x="6812280" y="2441448"/>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Tier 4   ranks 7 to 12</a:t>
            </a:r>
            <a:endParaRPr lang="en-US" sz="1400" dirty="0"/>
          </a:p>
        </p:txBody>
      </p:sp>
      <p:sp>
        <p:nvSpPr>
          <p:cNvPr id="25" name="a3_band2"/>
          <p:cNvSpPr/>
          <p:nvPr/>
        </p:nvSpPr>
        <p:spPr>
          <a:xfrm>
            <a:off x="6675120" y="3099816"/>
            <a:ext cx="2779776" cy="548640"/>
          </a:xfrm>
          <a:prstGeom prst="roundRect">
            <a:avLst>
              <a:gd name="adj" fmla="val 16667"/>
            </a:avLst>
          </a:prstGeom>
          <a:solidFill>
            <a:srgbClr val="5FA8D3"/>
          </a:solidFill>
          <a:ln w="12700">
            <a:solidFill>
              <a:srgbClr val="5FA8D3"/>
            </a:solidFill>
            <a:prstDash val="solid"/>
          </a:ln>
        </p:spPr>
      </p:sp>
      <p:sp>
        <p:nvSpPr>
          <p:cNvPr id="26" name="a3_bt2"/>
          <p:cNvSpPr txBox="1"/>
          <p:nvPr/>
        </p:nvSpPr>
        <p:spPr>
          <a:xfrm>
            <a:off x="6812280" y="3099816"/>
            <a:ext cx="301752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Tier 3   ranks 13 to 18</a:t>
            </a:r>
            <a:endParaRPr lang="en-US" sz="1400" dirty="0"/>
          </a:p>
        </p:txBody>
      </p:sp>
      <p:sp>
        <p:nvSpPr>
          <p:cNvPr id="27" name="a3_band3"/>
          <p:cNvSpPr/>
          <p:nvPr/>
        </p:nvSpPr>
        <p:spPr>
          <a:xfrm>
            <a:off x="6675120" y="3758184"/>
            <a:ext cx="2523744" cy="548640"/>
          </a:xfrm>
          <a:prstGeom prst="roundRect">
            <a:avLst>
              <a:gd name="adj" fmla="val 16667"/>
            </a:avLst>
          </a:prstGeom>
          <a:solidFill>
            <a:srgbClr val="8FC1E0"/>
          </a:solidFill>
          <a:ln w="12700">
            <a:solidFill>
              <a:srgbClr val="8FC1E0"/>
            </a:solidFill>
            <a:prstDash val="solid"/>
          </a:ln>
        </p:spPr>
      </p:sp>
      <p:sp>
        <p:nvSpPr>
          <p:cNvPr id="28" name="a3_bt3"/>
          <p:cNvSpPr txBox="1"/>
          <p:nvPr/>
        </p:nvSpPr>
        <p:spPr>
          <a:xfrm>
            <a:off x="6812280" y="3758184"/>
            <a:ext cx="3017520" cy="548640"/>
          </a:xfrm>
          <a:prstGeom prst="rect">
            <a:avLst/>
          </a:prstGeom>
          <a:noFill/>
          <a:ln/>
        </p:spPr>
        <p:txBody>
          <a:bodyPr wrap="square" lIns="0" tIns="0" rIns="0" bIns="0" rtlCol="0" anchor="ctr"/>
          <a:lstStyle/>
          <a:p>
            <a:pPr indent="0" marL="0">
              <a:buNone/>
            </a:pPr>
            <a:r>
              <a:rPr lang="en-US" sz="1400" b="1" dirty="0">
                <a:solidFill>
                  <a:srgbClr val="12233B"/>
                </a:solidFill>
                <a:latin typeface="Calibri" pitchFamily="34" charset="0"/>
                <a:ea typeface="Calibri" pitchFamily="34" charset="-122"/>
                <a:cs typeface="Calibri" pitchFamily="34" charset="-120"/>
              </a:rPr>
              <a:t>Tier 2   ranks 19 to 24</a:t>
            </a:r>
            <a:endParaRPr lang="en-US" sz="1400" dirty="0"/>
          </a:p>
        </p:txBody>
      </p:sp>
      <p:sp>
        <p:nvSpPr>
          <p:cNvPr id="29" name="a3_band4"/>
          <p:cNvSpPr/>
          <p:nvPr/>
        </p:nvSpPr>
        <p:spPr>
          <a:xfrm>
            <a:off x="6675120" y="4416552"/>
            <a:ext cx="2267712" cy="548640"/>
          </a:xfrm>
          <a:prstGeom prst="roundRect">
            <a:avLst>
              <a:gd name="adj" fmla="val 16667"/>
            </a:avLst>
          </a:prstGeom>
          <a:solidFill>
            <a:srgbClr val="DCEAF6"/>
          </a:solidFill>
          <a:ln w="12700">
            <a:solidFill>
              <a:srgbClr val="DCEAF6"/>
            </a:solidFill>
            <a:prstDash val="solid"/>
          </a:ln>
        </p:spPr>
      </p:sp>
      <p:sp>
        <p:nvSpPr>
          <p:cNvPr id="30" name="a3_bt4"/>
          <p:cNvSpPr txBox="1"/>
          <p:nvPr/>
        </p:nvSpPr>
        <p:spPr>
          <a:xfrm>
            <a:off x="6812280" y="4416552"/>
            <a:ext cx="3017520" cy="548640"/>
          </a:xfrm>
          <a:prstGeom prst="rect">
            <a:avLst/>
          </a:prstGeom>
          <a:noFill/>
          <a:ln/>
        </p:spPr>
        <p:txBody>
          <a:bodyPr wrap="square" lIns="0" tIns="0" rIns="0" bIns="0" rtlCol="0" anchor="ctr"/>
          <a:lstStyle/>
          <a:p>
            <a:pPr indent="0" marL="0">
              <a:buNone/>
            </a:pPr>
            <a:r>
              <a:rPr lang="en-US" sz="1400" b="1" dirty="0">
                <a:solidFill>
                  <a:srgbClr val="12233B"/>
                </a:solidFill>
                <a:latin typeface="Calibri" pitchFamily="34" charset="0"/>
                <a:ea typeface="Calibri" pitchFamily="34" charset="-122"/>
                <a:cs typeface="Calibri" pitchFamily="34" charset="-120"/>
              </a:rPr>
              <a:t>Tier 1   ranks 25 to 30</a:t>
            </a:r>
            <a:endParaRPr lang="en-US" sz="1400" dirty="0"/>
          </a:p>
        </p:txBody>
      </p:sp>
      <p:sp>
        <p:nvSpPr>
          <p:cNvPr id="31" name="a4_pin"/>
          <p:cNvSpPr/>
          <p:nvPr/>
        </p:nvSpPr>
        <p:spPr>
          <a:xfrm>
            <a:off x="10104120" y="1783080"/>
            <a:ext cx="1508760" cy="548640"/>
          </a:xfrm>
          <a:prstGeom prst="roundRect">
            <a:avLst>
              <a:gd name="adj" fmla="val 16667"/>
            </a:avLst>
          </a:prstGeom>
          <a:solidFill>
            <a:srgbClr val="19B5C8"/>
          </a:solidFill>
          <a:ln w="12700">
            <a:solidFill>
              <a:srgbClr val="19B5C8"/>
            </a:solidFill>
            <a:prstDash val="solid"/>
          </a:ln>
        </p:spPr>
      </p:sp>
      <p:sp>
        <p:nvSpPr>
          <p:cNvPr id="32" name="a4_pint"/>
          <p:cNvSpPr txBox="1"/>
          <p:nvPr/>
        </p:nvSpPr>
        <p:spPr>
          <a:xfrm>
            <a:off x="10104120" y="1783080"/>
            <a:ext cx="1508760" cy="548640"/>
          </a:xfrm>
          <a:prstGeom prst="rect">
            <a:avLst/>
          </a:prstGeom>
          <a:noFill/>
          <a:ln/>
        </p:spPr>
        <p:txBody>
          <a:bodyPr wrap="square" lIns="0" tIns="0" rIns="0" bIns="0" rtlCol="0" anchor="ctr"/>
          <a:lstStyle/>
          <a:p>
            <a:pPr algn="ctr" indent="0" marL="0">
              <a:buNone/>
            </a:pPr>
            <a:r>
              <a:rPr lang="en-US" sz="1300" b="1" dirty="0">
                <a:solidFill>
                  <a:srgbClr val="12233B"/>
                </a:solidFill>
                <a:latin typeface="Calibri" pitchFamily="34" charset="0"/>
                <a:ea typeface="Calibri" pitchFamily="34" charset="-122"/>
                <a:cs typeface="Calibri" pitchFamily="34" charset="-120"/>
              </a:rPr>
              <a:t>R-MAT: rank 1</a:t>
            </a:r>
            <a:endParaRPr lang="en-US" sz="1300" dirty="0"/>
          </a:p>
        </p:txBody>
      </p:sp>
      <p:sp>
        <p:nvSpPr>
          <p:cNvPr id="33" name="a5_res"/>
          <p:cNvSpPr/>
          <p:nvPr/>
        </p:nvSpPr>
        <p:spPr>
          <a:xfrm>
            <a:off x="6675120" y="5166360"/>
            <a:ext cx="4937760" cy="868680"/>
          </a:xfrm>
          <a:prstGeom prst="roundRect">
            <a:avLst>
              <a:gd name="adj" fmla="val 10526"/>
            </a:avLst>
          </a:prstGeom>
          <a:solidFill>
            <a:srgbClr val="173F6B"/>
          </a:solidFill>
          <a:ln w="12700">
            <a:solidFill>
              <a:srgbClr val="173F6B"/>
            </a:solidFill>
            <a:prstDash val="solid"/>
          </a:ln>
        </p:spPr>
      </p:sp>
      <p:sp>
        <p:nvSpPr>
          <p:cNvPr id="34" name="a5_rest"/>
          <p:cNvSpPr txBox="1"/>
          <p:nvPr/>
        </p:nvSpPr>
        <p:spPr>
          <a:xfrm>
            <a:off x="6858000" y="5166360"/>
            <a:ext cx="4572000" cy="868680"/>
          </a:xfrm>
          <a:prstGeom prst="rect">
            <a:avLst/>
          </a:prstGeom>
          <a:noFill/>
          <a:ln/>
        </p:spPr>
        <p:txBody>
          <a:bodyPr wrap="square" lIns="0" tIns="0" rIns="0" bIns="0" rtlCol="0" anchor="ctr"/>
          <a:lstStyle/>
          <a:p>
            <a:pPr indent="0" marL="0">
              <a:buNone/>
            </a:pPr>
            <a:r>
              <a:rPr lang="en-US" sz="1400" b="1" dirty="0">
                <a:solidFill>
                  <a:srgbClr val="19B5C8"/>
                </a:solidFill>
                <a:latin typeface="Calibri" pitchFamily="34" charset="0"/>
                <a:ea typeface="Calibri" pitchFamily="34" charset="-122"/>
                <a:cs typeface="Calibri" pitchFamily="34" charset="-120"/>
              </a:rPr>
              <a:t>Result: </a:t>
            </a:r>
            <a:pPr indent="0" marL="0">
              <a:buNone/>
            </a:pPr>
            <a:r>
              <a:rPr lang="en-US" sz="1400" dirty="0">
                <a:solidFill>
                  <a:srgbClr val="FFFFFF"/>
                </a:solidFill>
                <a:latin typeface="Calibri" pitchFamily="34" charset="0"/>
                <a:ea typeface="Calibri" pitchFamily="34" charset="-122"/>
                <a:cs typeface="Calibri" pitchFamily="34" charset="-120"/>
              </a:rPr>
              <a:t>tier 5, so p class 5 and impact class 5 (the same tier on both axes is an Assumption)</a:t>
            </a:r>
            <a:endParaRPr lang="en-US" sz="1400" dirty="0"/>
          </a:p>
        </p:txBody>
      </p:sp>
      <p:sp>
        <p:nvSpPr>
          <p:cNvPr id="35" name="a5_warn"/>
          <p:cNvSpPr/>
          <p:nvPr/>
        </p:nvSpPr>
        <p:spPr>
          <a:xfrm>
            <a:off x="548640" y="5166360"/>
            <a:ext cx="5669280" cy="868680"/>
          </a:xfrm>
          <a:prstGeom prst="roundRect">
            <a:avLst>
              <a:gd name="adj" fmla="val 10526"/>
            </a:avLst>
          </a:prstGeom>
          <a:solidFill>
            <a:srgbClr val="EFF5FA"/>
          </a:solidFill>
          <a:ln w="12700">
            <a:solidFill>
              <a:srgbClr val="B9CFE3"/>
            </a:solidFill>
            <a:prstDash val="solid"/>
          </a:ln>
        </p:spPr>
      </p:sp>
      <p:sp>
        <p:nvSpPr>
          <p:cNvPr id="36" name="a5_warnt"/>
          <p:cNvSpPr txBox="1"/>
          <p:nvPr/>
        </p:nvSpPr>
        <p:spPr>
          <a:xfrm>
            <a:off x="731520" y="5166360"/>
            <a:ext cx="5303520" cy="868680"/>
          </a:xfrm>
          <a:prstGeom prst="rect">
            <a:avLst/>
          </a:prstGeom>
          <a:noFill/>
          <a:ln/>
        </p:spPr>
        <p:txBody>
          <a:bodyPr wrap="square" lIns="0" tIns="0" rIns="0" bIns="0" rtlCol="0" anchor="ctr"/>
          <a:lstStyle/>
          <a:p>
            <a:pPr indent="0" marL="0">
              <a:buNone/>
            </a:pPr>
            <a:r>
              <a:rPr lang="en-US" sz="1400" i="1" dirty="0">
                <a:solidFill>
                  <a:srgbClr val="55708A"/>
                </a:solidFill>
                <a:latin typeface="Calibri" pitchFamily="34" charset="0"/>
                <a:ea typeface="Calibri" pitchFamily="34" charset="-122"/>
                <a:cs typeface="Calibri" pitchFamily="34" charset="-120"/>
              </a:rPr>
              <a:t>Boundary caution: ranks 12 and 13 differ by only 0.0008 RII but land in different tiers.</a:t>
            </a:r>
            <a:endParaRPr lang="en-US" sz="1400" dirty="0"/>
          </a:p>
        </p:txBody>
      </p:sp>
      <p:sp>
        <p:nvSpPr>
          <p:cNvPr id="37" name="Text 34"/>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app/literature_seed.py output seed_for('R-MAT'); data/literature_seed.json</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7" fill="hold">
                      <p:stCondLst>
                        <p:cond delay="indefinite"/>
                        <p:cond evt="onBegin" delay="0">
                          <p:tn val="2"/>
                        </p:cond>
                      </p:stCondLst>
                      <p:childTnLst>
                        <p:par>
                          <p:cTn id="4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5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5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50"/>
                                        <p:tgtEl>
                                          <p:spTgt spid="16"/>
                                        </p:tgtEl>
                                      </p:cBhvr>
                                    </p:animEffect>
                                  </p:childTnLst>
                                </p:cTn>
                              </p:par>
                            </p:childTnLst>
                          </p:cTn>
                        </p:par>
                        <p:par>
                          <p:cTn id="52" fill="hold">
                            <p:stCondLst>
                              <p:cond delay="380"/>
                            </p:stCondLst>
                            <p:childTnLst>
                              <p:par>
                                <p:cTn id="43" presetID="10" presetClass="entr" presetSubtype="0" fill="hold" grpId="0"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50"/>
                                        <p:tgtEl>
                                          <p:spTgt spid="19"/>
                                        </p:tgtEl>
                                      </p:cBhvr>
                                    </p:animEffect>
                                  </p:childTnLst>
                                </p:cTn>
                              </p:par>
                            </p:childTnLst>
                          </p:cTn>
                        </p:par>
                        <p:par>
                          <p:cTn id="86" fill="hold">
                            <p:stCondLst>
                              <p:cond delay="760"/>
                            </p:stCondLst>
                            <p:childTnLst>
                              <p:par>
                                <p:cTn id="53" presetID="10" presetClass="entr" presetSubtype="0" fill="hold" grpId="0" nodeType="after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450"/>
                                        <p:tgtEl>
                                          <p:spTgt spid="2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450"/>
                                        <p:tgtEl>
                                          <p:spTgt spid="2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450"/>
                                        <p:tgtEl>
                                          <p:spTgt spid="30"/>
                                        </p:tgtEl>
                                      </p:cBhvr>
                                    </p:animEffect>
                                  </p:childTnLst>
                                </p:cTn>
                              </p:par>
                            </p:childTnLst>
                          </p:cTn>
                        </p:par>
                        <p:par>
                          <p:cTn id="93" fill="hold">
                            <p:stCondLst>
                              <p:cond delay="1140"/>
                            </p:stCondLst>
                            <p:childTnLst>
                              <p:par>
                                <p:cTn id="87" presetID="10" presetClass="entr" presetSubtype="0" fill="hold" grpId="0" nodeType="after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45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450"/>
                                        <p:tgtEl>
                                          <p:spTgt spid="32"/>
                                        </p:tgtEl>
                                      </p:cBhvr>
                                    </p:animEffect>
                                  </p:childTnLst>
                                </p:cTn>
                              </p:par>
                            </p:childTnLst>
                          </p:cTn>
                        </p:par>
                        <p:par>
                          <p:cTn id="106" fill="hold">
                            <p:stCondLst>
                              <p:cond delay="1520"/>
                            </p:stCondLst>
                            <p:childTnLst>
                              <p:par>
                                <p:cTn id="94" presetID="10" presetClass="entr" presetSubtype="0" fill="hold" grpId="0" nodeType="after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45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45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45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The risk library: 46 risks in 11 categories</a:t>
            </a:r>
            <a:endParaRPr lang="en-US" sz="3200" dirty="0"/>
          </a:p>
        </p:txBody>
      </p:sp>
      <p:graphicFrame>
        <p:nvGraphicFramePr>
          <p:cNvPr id="4" name="a1_chart" descr=""/>
          <p:cNvGraphicFramePr/>
          <p:nvPr/>
        </p:nvGraphicFramePr>
        <p:xfrm>
          <a:off x="548640" y="1280160"/>
          <a:ext cx="6309360" cy="4800600"/>
        </p:xfrm>
        <a:graphic xmlns:a="http://schemas.openxmlformats.org/drawingml/2006/main">
          <a:graphicData uri="http://schemas.openxmlformats.org/drawingml/2006/chart">
            <c:chart xmlns:c="http://schemas.openxmlformats.org/drawingml/2006/chart" r:id="rId1"/>
          </a:graphicData>
        </a:graphic>
      </p:graphicFrame>
      <p:sp>
        <p:nvSpPr>
          <p:cNvPr id="5" name="a2_stat"/>
          <p:cNvSpPr/>
          <p:nvPr/>
        </p:nvSpPr>
        <p:spPr>
          <a:xfrm>
            <a:off x="7223760" y="1371600"/>
            <a:ext cx="4434840" cy="1005840"/>
          </a:xfrm>
          <a:prstGeom prst="roundRect">
            <a:avLst>
              <a:gd name="adj" fmla="val 9091"/>
            </a:avLst>
          </a:prstGeom>
          <a:solidFill>
            <a:srgbClr val="DCEAF6"/>
          </a:solidFill>
          <a:ln w="12700">
            <a:solidFill>
              <a:srgbClr val="DCEAF6"/>
            </a:solidFill>
            <a:prstDash val="solid"/>
          </a:ln>
        </p:spPr>
      </p:sp>
      <p:sp>
        <p:nvSpPr>
          <p:cNvPr id="6" name="a2_sn"/>
          <p:cNvSpPr txBox="1"/>
          <p:nvPr/>
        </p:nvSpPr>
        <p:spPr>
          <a:xfrm>
            <a:off x="7406640" y="1371600"/>
            <a:ext cx="1737360" cy="1005840"/>
          </a:xfrm>
          <a:prstGeom prst="rect">
            <a:avLst/>
          </a:prstGeom>
          <a:noFill/>
          <a:ln/>
        </p:spPr>
        <p:txBody>
          <a:bodyPr wrap="square" lIns="0" tIns="0" rIns="0" bIns="0" rtlCol="0" anchor="ctr"/>
          <a:lstStyle/>
          <a:p>
            <a:pPr indent="0" marL="0">
              <a:buNone/>
            </a:pPr>
            <a:r>
              <a:rPr lang="en-US" sz="2800" b="1" dirty="0">
                <a:solidFill>
                  <a:srgbClr val="173F6B"/>
                </a:solidFill>
                <a:latin typeface="Times New Roman" pitchFamily="34" charset="0"/>
                <a:ea typeface="Times New Roman" pitchFamily="34" charset="-122"/>
                <a:cs typeface="Times New Roman" pitchFamily="34" charset="-120"/>
              </a:rPr>
              <a:t>38 + 8</a:t>
            </a:r>
            <a:endParaRPr lang="en-US" sz="2800" dirty="0"/>
          </a:p>
        </p:txBody>
      </p:sp>
      <p:sp>
        <p:nvSpPr>
          <p:cNvPr id="7" name="a2_sd"/>
          <p:cNvSpPr txBox="1"/>
          <p:nvPr/>
        </p:nvSpPr>
        <p:spPr>
          <a:xfrm>
            <a:off x="9189720" y="1371600"/>
            <a:ext cx="2377440" cy="1005840"/>
          </a:xfrm>
          <a:prstGeom prst="rect">
            <a:avLst/>
          </a:prstGeom>
          <a:noFill/>
          <a:ln/>
        </p:spPr>
        <p:txBody>
          <a:bodyPr wrap="square" lIns="0" tIns="0" rIns="0" bIns="0" rtlCol="0" anchor="ctr"/>
          <a:lstStyle/>
          <a:p>
            <a:pPr indent="0" marL="0">
              <a:buNone/>
            </a:pPr>
            <a:r>
              <a:rPr lang="en-US" sz="1300" dirty="0">
                <a:solidFill>
                  <a:srgbClr val="55708A"/>
                </a:solidFill>
                <a:latin typeface="Calibri" pitchFamily="34" charset="0"/>
                <a:ea typeface="Calibri" pitchFamily="34" charset="-122"/>
                <a:cs typeface="Calibri" pitchFamily="34" charset="-120"/>
              </a:rPr>
              <a:t>activity-level and project-level risks</a:t>
            </a:r>
            <a:endParaRPr lang="en-US" sz="1300" dirty="0"/>
          </a:p>
        </p:txBody>
      </p:sp>
      <p:sp>
        <p:nvSpPr>
          <p:cNvPr id="8" name="a3_stat"/>
          <p:cNvSpPr/>
          <p:nvPr/>
        </p:nvSpPr>
        <p:spPr>
          <a:xfrm>
            <a:off x="7223760" y="2560320"/>
            <a:ext cx="4434840" cy="1005840"/>
          </a:xfrm>
          <a:prstGeom prst="roundRect">
            <a:avLst>
              <a:gd name="adj" fmla="val 9091"/>
            </a:avLst>
          </a:prstGeom>
          <a:solidFill>
            <a:srgbClr val="DCEAF6"/>
          </a:solidFill>
          <a:ln w="12700">
            <a:solidFill>
              <a:srgbClr val="DCEAF6"/>
            </a:solidFill>
            <a:prstDash val="solid"/>
          </a:ln>
        </p:spPr>
      </p:sp>
      <p:sp>
        <p:nvSpPr>
          <p:cNvPr id="9" name="a3_sn"/>
          <p:cNvSpPr txBox="1"/>
          <p:nvPr/>
        </p:nvSpPr>
        <p:spPr>
          <a:xfrm>
            <a:off x="7406640" y="2560320"/>
            <a:ext cx="1737360" cy="1005840"/>
          </a:xfrm>
          <a:prstGeom prst="rect">
            <a:avLst/>
          </a:prstGeom>
          <a:noFill/>
          <a:ln/>
        </p:spPr>
        <p:txBody>
          <a:bodyPr wrap="square" lIns="0" tIns="0" rIns="0" bIns="0" rtlCol="0" anchor="ctr"/>
          <a:lstStyle/>
          <a:p>
            <a:pPr indent="0" marL="0">
              <a:buNone/>
            </a:pPr>
            <a:r>
              <a:rPr lang="en-US" sz="2800" b="1" dirty="0">
                <a:solidFill>
                  <a:srgbClr val="173F6B"/>
                </a:solidFill>
                <a:latin typeface="Times New Roman" pitchFamily="34" charset="0"/>
                <a:ea typeface="Times New Roman" pitchFamily="34" charset="-122"/>
                <a:cs typeface="Times New Roman" pitchFamily="34" charset="-120"/>
              </a:rPr>
              <a:t>30 / 16</a:t>
            </a:r>
            <a:endParaRPr lang="en-US" sz="2800" dirty="0"/>
          </a:p>
        </p:txBody>
      </p:sp>
      <p:sp>
        <p:nvSpPr>
          <p:cNvPr id="10" name="a3_sd"/>
          <p:cNvSpPr txBox="1"/>
          <p:nvPr/>
        </p:nvSpPr>
        <p:spPr>
          <a:xfrm>
            <a:off x="9189720" y="2560320"/>
            <a:ext cx="2377440" cy="1005840"/>
          </a:xfrm>
          <a:prstGeom prst="rect">
            <a:avLst/>
          </a:prstGeom>
          <a:noFill/>
          <a:ln/>
        </p:spPr>
        <p:txBody>
          <a:bodyPr wrap="square" lIns="0" tIns="0" rIns="0" bIns="0" rtlCol="0" anchor="ctr"/>
          <a:lstStyle/>
          <a:p>
            <a:pPr indent="0" marL="0">
              <a:buNone/>
            </a:pPr>
            <a:r>
              <a:rPr lang="en-US" sz="1300" dirty="0">
                <a:solidFill>
                  <a:srgbClr val="55708A"/>
                </a:solidFill>
                <a:latin typeface="Calibri" pitchFamily="34" charset="0"/>
                <a:ea typeface="Calibri" pitchFamily="34" charset="-122"/>
                <a:cs typeface="Calibri" pitchFamily="34" charset="-120"/>
              </a:rPr>
              <a:t>with / without a survey-based tier</a:t>
            </a:r>
            <a:endParaRPr lang="en-US" sz="1300" dirty="0"/>
          </a:p>
        </p:txBody>
      </p:sp>
      <p:sp>
        <p:nvSpPr>
          <p:cNvPr id="11" name="a4_imgframe"/>
          <p:cNvSpPr/>
          <p:nvPr/>
        </p:nvSpPr>
        <p:spPr>
          <a:xfrm>
            <a:off x="7223760" y="3840480"/>
            <a:ext cx="4434840" cy="2240280"/>
          </a:xfrm>
          <a:prstGeom prst="roundRect">
            <a:avLst>
              <a:gd name="adj" fmla="val 3265"/>
            </a:avLst>
          </a:prstGeom>
          <a:solidFill>
            <a:srgbClr val="EFF5FA"/>
          </a:solidFill>
          <a:ln w="15875">
            <a:solidFill>
              <a:srgbClr val="2F6C9A"/>
            </a:solidFill>
            <a:prstDash val="dash"/>
          </a:ln>
        </p:spPr>
      </p:sp>
      <p:sp>
        <p:nvSpPr>
          <p:cNvPr id="12" name="a4_imglabel"/>
          <p:cNvSpPr txBox="1"/>
          <p:nvPr/>
        </p:nvSpPr>
        <p:spPr>
          <a:xfrm>
            <a:off x="7360920" y="3840480"/>
            <a:ext cx="4160520" cy="224028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screenshot: risk library screen of the tool</a:t>
            </a:r>
            <a:endParaRPr lang="en-US" sz="1600" dirty="0"/>
          </a:p>
        </p:txBody>
      </p:sp>
      <p:sp>
        <p:nvSpPr>
          <p:cNvPr id="13" name="Text 9"/>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data/risk_library_masonry.json (counted by script)</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6"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childTnLst>
                          </p:cTn>
                        </p:par>
                        <p:par>
                          <p:cTn id="16"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76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3" fill="hold">
                            <p:stCondLst>
                              <p:cond delay="114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Graphic spid="4" grpId="0">
        <p:bldAsOne/>
      </p:bldGraphic>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Calculation 3: a site-fact rule raises a risk</a:t>
            </a:r>
            <a:endParaRPr lang="en-US" sz="3200" dirty="0"/>
          </a:p>
        </p:txBody>
      </p:sp>
      <p:sp>
        <p:nvSpPr>
          <p:cNvPr id="4" name="a1_card"/>
          <p:cNvSpPr/>
          <p:nvPr/>
        </p:nvSpPr>
        <p:spPr>
          <a:xfrm>
            <a:off x="548640" y="1508760"/>
            <a:ext cx="2606040" cy="2468880"/>
          </a:xfrm>
          <a:prstGeom prst="roundRect">
            <a:avLst>
              <a:gd name="adj" fmla="val 3704"/>
            </a:avLst>
          </a:prstGeom>
          <a:solidFill>
            <a:srgbClr val="EFF5FA"/>
          </a:solidFill>
          <a:ln w="12700">
            <a:solidFill>
              <a:srgbClr val="B9CFE3"/>
            </a:solidFill>
            <a:prstDash val="solid"/>
          </a:ln>
        </p:spPr>
      </p:sp>
      <p:sp>
        <p:nvSpPr>
          <p:cNvPr id="5" name="a1_h"/>
          <p:cNvSpPr txBox="1"/>
          <p:nvPr/>
        </p:nvSpPr>
        <p:spPr>
          <a:xfrm>
            <a:off x="749808" y="1645920"/>
            <a:ext cx="2194560" cy="411480"/>
          </a:xfrm>
          <a:prstGeom prst="rect">
            <a:avLst/>
          </a:prstGeom>
          <a:noFill/>
          <a:ln/>
        </p:spPr>
        <p:txBody>
          <a:bodyPr wrap="square" lIns="0" tIns="0" rIns="0" bIns="0" rtlCol="0" anchor="t"/>
          <a:lstStyle/>
          <a:p>
            <a:pPr indent="0" marL="0">
              <a:buNone/>
            </a:pPr>
            <a:r>
              <a:rPr lang="en-US" sz="1800" b="1" dirty="0">
                <a:solidFill>
                  <a:srgbClr val="173F6B"/>
                </a:solidFill>
                <a:latin typeface="Times New Roman" pitchFamily="34" charset="0"/>
                <a:ea typeface="Times New Roman" pitchFamily="34" charset="-122"/>
                <a:cs typeface="Times New Roman" pitchFamily="34" charset="-120"/>
              </a:rPr>
              <a:t>Facts entered</a:t>
            </a:r>
            <a:endParaRPr lang="en-US" sz="1800" dirty="0"/>
          </a:p>
        </p:txBody>
      </p:sp>
      <p:sp>
        <p:nvSpPr>
          <p:cNvPr id="6" name="a1_d"/>
          <p:cNvSpPr txBox="1"/>
          <p:nvPr/>
        </p:nvSpPr>
        <p:spPr>
          <a:xfrm>
            <a:off x="749808" y="2194560"/>
            <a:ext cx="2240280" cy="1645920"/>
          </a:xfrm>
          <a:prstGeom prst="rect">
            <a:avLst/>
          </a:prstGeom>
          <a:noFill/>
          <a:ln/>
        </p:spPr>
        <p:txBody>
          <a:bodyPr wrap="square" lIns="0" tIns="0" rIns="0" bIns="0" rtlCol="0" anchor="t"/>
          <a:lstStyle/>
          <a:p>
            <a:pPr indent="0" marL="0">
              <a:buNone/>
            </a:pPr>
            <a:r>
              <a:rPr lang="en-US" sz="1250" dirty="0">
                <a:solidFill>
                  <a:srgbClr val="12233B"/>
                </a:solidFill>
                <a:latin typeface="Courier New" pitchFamily="34" charset="0"/>
                <a:ea typeface="Courier New" pitchFamily="34" charset="-122"/>
                <a:cs typeface="Courier New" pitchFamily="34" charset="-120"/>
              </a:rPr>
              <a:t>available_workers = 5</a:t>
            </a:r>
            <a:endParaRPr lang="en-US" sz="1250" dirty="0"/>
          </a:p>
          <a:p>
            <a:pPr indent="0" marL="0">
              <a:buNone/>
            </a:pPr>
            <a:r>
              <a:rPr lang="en-US" sz="1250" dirty="0">
                <a:solidFill>
                  <a:srgbClr val="12233B"/>
                </a:solidFill>
                <a:latin typeface="Courier New" pitchFamily="34" charset="0"/>
                <a:ea typeface="Courier New" pitchFamily="34" charset="-122"/>
                <a:cs typeface="Courier New" pitchFamily="34" charset="-120"/>
              </a:rPr>
              <a:t>required_workers = 6</a:t>
            </a:r>
            <a:endParaRPr lang="en-US" sz="1250" dirty="0"/>
          </a:p>
        </p:txBody>
      </p:sp>
      <p:sp>
        <p:nvSpPr>
          <p:cNvPr id="7" name="a1_ar"/>
          <p:cNvSpPr/>
          <p:nvPr/>
        </p:nvSpPr>
        <p:spPr>
          <a:xfrm>
            <a:off x="3182112" y="2514600"/>
            <a:ext cx="182880" cy="365760"/>
          </a:xfrm>
          <a:prstGeom prst="rightArrow">
            <a:avLst/>
          </a:prstGeom>
          <a:solidFill>
            <a:srgbClr val="19B5C8"/>
          </a:solidFill>
          <a:ln w="12700">
            <a:solidFill>
              <a:srgbClr val="19B5C8"/>
            </a:solidFill>
            <a:prstDash val="solid"/>
          </a:ln>
        </p:spPr>
      </p:sp>
      <p:sp>
        <p:nvSpPr>
          <p:cNvPr id="8" name="a2_card"/>
          <p:cNvSpPr/>
          <p:nvPr/>
        </p:nvSpPr>
        <p:spPr>
          <a:xfrm>
            <a:off x="3355848" y="1508760"/>
            <a:ext cx="2606040" cy="2468880"/>
          </a:xfrm>
          <a:prstGeom prst="roundRect">
            <a:avLst>
              <a:gd name="adj" fmla="val 3704"/>
            </a:avLst>
          </a:prstGeom>
          <a:solidFill>
            <a:srgbClr val="DCEAF6"/>
          </a:solidFill>
          <a:ln w="12700">
            <a:solidFill>
              <a:srgbClr val="B9CFE3"/>
            </a:solidFill>
            <a:prstDash val="solid"/>
          </a:ln>
        </p:spPr>
      </p:sp>
      <p:sp>
        <p:nvSpPr>
          <p:cNvPr id="9" name="a2_h"/>
          <p:cNvSpPr txBox="1"/>
          <p:nvPr/>
        </p:nvSpPr>
        <p:spPr>
          <a:xfrm>
            <a:off x="3557016" y="1645920"/>
            <a:ext cx="2194560" cy="411480"/>
          </a:xfrm>
          <a:prstGeom prst="rect">
            <a:avLst/>
          </a:prstGeom>
          <a:noFill/>
          <a:ln/>
        </p:spPr>
        <p:txBody>
          <a:bodyPr wrap="square" lIns="0" tIns="0" rIns="0" bIns="0" rtlCol="0" anchor="t"/>
          <a:lstStyle/>
          <a:p>
            <a:pPr indent="0" marL="0">
              <a:buNone/>
            </a:pPr>
            <a:r>
              <a:rPr lang="en-US" sz="1800" b="1" dirty="0">
                <a:solidFill>
                  <a:srgbClr val="173F6B"/>
                </a:solidFill>
                <a:latin typeface="Times New Roman" pitchFamily="34" charset="0"/>
                <a:ea typeface="Times New Roman" pitchFamily="34" charset="-122"/>
                <a:cs typeface="Times New Roman" pitchFamily="34" charset="-120"/>
              </a:rPr>
              <a:t>Rule RL-LAB</a:t>
            </a:r>
            <a:endParaRPr lang="en-US" sz="1800" dirty="0"/>
          </a:p>
        </p:txBody>
      </p:sp>
      <p:sp>
        <p:nvSpPr>
          <p:cNvPr id="10" name="a2_d"/>
          <p:cNvSpPr txBox="1"/>
          <p:nvPr/>
        </p:nvSpPr>
        <p:spPr>
          <a:xfrm>
            <a:off x="3557016" y="2194560"/>
            <a:ext cx="2240280" cy="1645920"/>
          </a:xfrm>
          <a:prstGeom prst="rect">
            <a:avLst/>
          </a:prstGeom>
          <a:noFill/>
          <a:ln/>
        </p:spPr>
        <p:txBody>
          <a:bodyPr wrap="square" lIns="0" tIns="0" rIns="0" bIns="0" rtlCol="0" anchor="t"/>
          <a:lstStyle/>
          <a:p>
            <a:pPr indent="0" marL="0">
              <a:buNone/>
            </a:pPr>
            <a:r>
              <a:rPr lang="en-US" sz="1250" dirty="0">
                <a:solidFill>
                  <a:srgbClr val="12233B"/>
                </a:solidFill>
                <a:latin typeface="Courier New" pitchFamily="34" charset="0"/>
                <a:ea typeface="Courier New" pitchFamily="34" charset="-122"/>
                <a:cs typeface="Courier New" pitchFamily="34" charset="-120"/>
              </a:rPr>
              <a:t>required_workers &gt; available_workers</a:t>
            </a:r>
            <a:endParaRPr lang="en-US" sz="1250" dirty="0"/>
          </a:p>
          <a:p>
            <a:pPr indent="0" marL="0">
              <a:buNone/>
            </a:pPr>
            <a:r>
              <a:rPr lang="en-US" sz="1250" dirty="0">
                <a:solidFill>
                  <a:srgbClr val="12233B"/>
                </a:solidFill>
                <a:latin typeface="Courier New" pitchFamily="34" charset="0"/>
                <a:ea typeface="Courier New" pitchFamily="34" charset="-122"/>
                <a:cs typeface="Courier New" pitchFamily="34" charset="-120"/>
              </a:rPr>
              <a:t>6 &gt; 5  is TRUE</a:t>
            </a:r>
            <a:endParaRPr lang="en-US" sz="1250" dirty="0"/>
          </a:p>
        </p:txBody>
      </p:sp>
      <p:sp>
        <p:nvSpPr>
          <p:cNvPr id="11" name="a2_ar"/>
          <p:cNvSpPr/>
          <p:nvPr/>
        </p:nvSpPr>
        <p:spPr>
          <a:xfrm>
            <a:off x="5989320" y="2514600"/>
            <a:ext cx="182880" cy="365760"/>
          </a:xfrm>
          <a:prstGeom prst="rightArrow">
            <a:avLst/>
          </a:prstGeom>
          <a:solidFill>
            <a:srgbClr val="19B5C8"/>
          </a:solidFill>
          <a:ln w="12700">
            <a:solidFill>
              <a:srgbClr val="19B5C8"/>
            </a:solidFill>
            <a:prstDash val="solid"/>
          </a:ln>
        </p:spPr>
      </p:sp>
      <p:sp>
        <p:nvSpPr>
          <p:cNvPr id="12" name="a3_card"/>
          <p:cNvSpPr/>
          <p:nvPr/>
        </p:nvSpPr>
        <p:spPr>
          <a:xfrm>
            <a:off x="6163056" y="1508760"/>
            <a:ext cx="2606040" cy="2468880"/>
          </a:xfrm>
          <a:prstGeom prst="roundRect">
            <a:avLst>
              <a:gd name="adj" fmla="val 3704"/>
            </a:avLst>
          </a:prstGeom>
          <a:solidFill>
            <a:srgbClr val="EFF5FA"/>
          </a:solidFill>
          <a:ln w="12700">
            <a:solidFill>
              <a:srgbClr val="B9CFE3"/>
            </a:solidFill>
            <a:prstDash val="solid"/>
          </a:ln>
        </p:spPr>
      </p:sp>
      <p:sp>
        <p:nvSpPr>
          <p:cNvPr id="13" name="a3_h"/>
          <p:cNvSpPr txBox="1"/>
          <p:nvPr/>
        </p:nvSpPr>
        <p:spPr>
          <a:xfrm>
            <a:off x="6364224" y="1645920"/>
            <a:ext cx="2194560" cy="411480"/>
          </a:xfrm>
          <a:prstGeom prst="rect">
            <a:avLst/>
          </a:prstGeom>
          <a:noFill/>
          <a:ln/>
        </p:spPr>
        <p:txBody>
          <a:bodyPr wrap="square" lIns="0" tIns="0" rIns="0" bIns="0" rtlCol="0" anchor="t"/>
          <a:lstStyle/>
          <a:p>
            <a:pPr indent="0" marL="0">
              <a:buNone/>
            </a:pPr>
            <a:r>
              <a:rPr lang="en-US" sz="1800" b="1" dirty="0">
                <a:solidFill>
                  <a:srgbClr val="173F6B"/>
                </a:solidFill>
                <a:latin typeface="Times New Roman" pitchFamily="34" charset="0"/>
                <a:ea typeface="Times New Roman" pitchFamily="34" charset="-122"/>
                <a:cs typeface="Times New Roman" pitchFamily="34" charset="-120"/>
              </a:rPr>
              <a:t>Effect</a:t>
            </a:r>
            <a:endParaRPr lang="en-US" sz="1800" dirty="0"/>
          </a:p>
        </p:txBody>
      </p:sp>
      <p:sp>
        <p:nvSpPr>
          <p:cNvPr id="14" name="a3_d"/>
          <p:cNvSpPr txBox="1"/>
          <p:nvPr/>
        </p:nvSpPr>
        <p:spPr>
          <a:xfrm>
            <a:off x="6364224" y="2194560"/>
            <a:ext cx="2240280" cy="1645920"/>
          </a:xfrm>
          <a:prstGeom prst="rect">
            <a:avLst/>
          </a:prstGeom>
          <a:noFill/>
          <a:ln/>
        </p:spPr>
        <p:txBody>
          <a:bodyPr wrap="square" lIns="0" tIns="0" rIns="0" bIns="0" rtlCol="0" anchor="t"/>
          <a:lstStyle/>
          <a:p>
            <a:pPr indent="0" marL="0">
              <a:buNone/>
            </a:pPr>
            <a:r>
              <a:rPr lang="en-US" sz="1250" dirty="0">
                <a:solidFill>
                  <a:srgbClr val="12233B"/>
                </a:solidFill>
                <a:latin typeface="Courier New" pitchFamily="34" charset="0"/>
                <a:ea typeface="Courier New" pitchFamily="34" charset="-122"/>
                <a:cs typeface="Courier New" pitchFamily="34" charset="-120"/>
              </a:rPr>
              <a:t>flags R-LAB as elevated (level: elevated)</a:t>
            </a:r>
            <a:endParaRPr lang="en-US" sz="1250" dirty="0"/>
          </a:p>
        </p:txBody>
      </p:sp>
      <p:sp>
        <p:nvSpPr>
          <p:cNvPr id="15" name="a3_ar"/>
          <p:cNvSpPr/>
          <p:nvPr/>
        </p:nvSpPr>
        <p:spPr>
          <a:xfrm>
            <a:off x="8796528" y="2514600"/>
            <a:ext cx="182880" cy="365760"/>
          </a:xfrm>
          <a:prstGeom prst="rightArrow">
            <a:avLst/>
          </a:prstGeom>
          <a:solidFill>
            <a:srgbClr val="19B5C8"/>
          </a:solidFill>
          <a:ln w="12700">
            <a:solidFill>
              <a:srgbClr val="19B5C8"/>
            </a:solidFill>
            <a:prstDash val="solid"/>
          </a:ln>
        </p:spPr>
      </p:sp>
      <p:sp>
        <p:nvSpPr>
          <p:cNvPr id="16" name="a4_card"/>
          <p:cNvSpPr/>
          <p:nvPr/>
        </p:nvSpPr>
        <p:spPr>
          <a:xfrm>
            <a:off x="8970264" y="1508760"/>
            <a:ext cx="2606040" cy="2468880"/>
          </a:xfrm>
          <a:prstGeom prst="roundRect">
            <a:avLst>
              <a:gd name="adj" fmla="val 3704"/>
            </a:avLst>
          </a:prstGeom>
          <a:solidFill>
            <a:srgbClr val="DCEAF6"/>
          </a:solidFill>
          <a:ln w="12700">
            <a:solidFill>
              <a:srgbClr val="B9CFE3"/>
            </a:solidFill>
            <a:prstDash val="solid"/>
          </a:ln>
        </p:spPr>
      </p:sp>
      <p:sp>
        <p:nvSpPr>
          <p:cNvPr id="17" name="a4_h"/>
          <p:cNvSpPr txBox="1"/>
          <p:nvPr/>
        </p:nvSpPr>
        <p:spPr>
          <a:xfrm>
            <a:off x="9171432" y="1645920"/>
            <a:ext cx="2194560" cy="411480"/>
          </a:xfrm>
          <a:prstGeom prst="rect">
            <a:avLst/>
          </a:prstGeom>
          <a:noFill/>
          <a:ln/>
        </p:spPr>
        <p:txBody>
          <a:bodyPr wrap="square" lIns="0" tIns="0" rIns="0" bIns="0" rtlCol="0" anchor="t"/>
          <a:lstStyle/>
          <a:p>
            <a:pPr indent="0" marL="0">
              <a:buNone/>
            </a:pPr>
            <a:r>
              <a:rPr lang="en-US" sz="1800" b="1" dirty="0">
                <a:solidFill>
                  <a:srgbClr val="173F6B"/>
                </a:solidFill>
                <a:latin typeface="Times New Roman" pitchFamily="34" charset="0"/>
                <a:ea typeface="Times New Roman" pitchFamily="34" charset="-122"/>
                <a:cs typeface="Times New Roman" pitchFamily="34" charset="-120"/>
              </a:rPr>
              <a:t>Tier placement</a:t>
            </a:r>
            <a:endParaRPr lang="en-US" sz="1800" dirty="0"/>
          </a:p>
        </p:txBody>
      </p:sp>
      <p:sp>
        <p:nvSpPr>
          <p:cNvPr id="18" name="a4_d"/>
          <p:cNvSpPr txBox="1"/>
          <p:nvPr/>
        </p:nvSpPr>
        <p:spPr>
          <a:xfrm>
            <a:off x="9171432" y="2194560"/>
            <a:ext cx="2240280" cy="1645920"/>
          </a:xfrm>
          <a:prstGeom prst="rect">
            <a:avLst/>
          </a:prstGeom>
          <a:noFill/>
          <a:ln/>
        </p:spPr>
        <p:txBody>
          <a:bodyPr wrap="square" lIns="0" tIns="0" rIns="0" bIns="0" rtlCol="0" anchor="t"/>
          <a:lstStyle/>
          <a:p>
            <a:pPr indent="0" marL="0">
              <a:buNone/>
            </a:pPr>
            <a:r>
              <a:rPr lang="en-US" sz="1250" dirty="0">
                <a:solidFill>
                  <a:srgbClr val="12233B"/>
                </a:solidFill>
                <a:latin typeface="Courier New" pitchFamily="34" charset="0"/>
                <a:ea typeface="Courier New" pitchFamily="34" charset="-122"/>
                <a:cs typeface="Courier New" pitchFamily="34" charset="-120"/>
              </a:rPr>
              <a:t>p class 4 + 1 = 5 (cap 5)</a:t>
            </a:r>
            <a:endParaRPr lang="en-US" sz="1250" dirty="0"/>
          </a:p>
          <a:p>
            <a:pPr indent="0" marL="0">
              <a:buNone/>
            </a:pPr>
            <a:r>
              <a:rPr lang="en-US" sz="1250" dirty="0">
                <a:solidFill>
                  <a:srgbClr val="12233B"/>
                </a:solidFill>
                <a:latin typeface="Courier New" pitchFamily="34" charset="0"/>
                <a:ea typeface="Courier New" pitchFamily="34" charset="-122"/>
                <a:cs typeface="Courier New" pitchFamily="34" charset="-120"/>
              </a:rPr>
              <a:t>impact class stays 4</a:t>
            </a:r>
            <a:endParaRPr lang="en-US" sz="1250" dirty="0"/>
          </a:p>
        </p:txBody>
      </p:sp>
      <p:sp>
        <p:nvSpPr>
          <p:cNvPr id="19" name="a5_res"/>
          <p:cNvSpPr/>
          <p:nvPr/>
        </p:nvSpPr>
        <p:spPr>
          <a:xfrm>
            <a:off x="548640" y="4251960"/>
            <a:ext cx="5486400" cy="1783080"/>
          </a:xfrm>
          <a:prstGeom prst="roundRect">
            <a:avLst>
              <a:gd name="adj" fmla="val 5128"/>
            </a:avLst>
          </a:prstGeom>
          <a:solidFill>
            <a:srgbClr val="173F6B"/>
          </a:solidFill>
          <a:ln w="12700">
            <a:solidFill>
              <a:srgbClr val="173F6B"/>
            </a:solidFill>
            <a:prstDash val="solid"/>
          </a:ln>
        </p:spPr>
      </p:sp>
      <p:sp>
        <p:nvSpPr>
          <p:cNvPr id="20" name="a5_rest"/>
          <p:cNvSpPr txBox="1"/>
          <p:nvPr/>
        </p:nvSpPr>
        <p:spPr>
          <a:xfrm>
            <a:off x="822960" y="4251960"/>
            <a:ext cx="4937760" cy="1783080"/>
          </a:xfrm>
          <a:prstGeom prst="rect">
            <a:avLst/>
          </a:prstGeom>
          <a:noFill/>
          <a:ln/>
        </p:spPr>
        <p:txBody>
          <a:bodyPr wrap="square" lIns="0" tIns="0" rIns="0" bIns="0" rtlCol="0" anchor="ctr"/>
          <a:lstStyle/>
          <a:p>
            <a:pPr indent="0" marL="0">
              <a:buNone/>
            </a:pPr>
            <a:r>
              <a:rPr lang="en-US" sz="1400" b="1" dirty="0">
                <a:solidFill>
                  <a:srgbClr val="19B5C8"/>
                </a:solidFill>
                <a:latin typeface="Calibri" pitchFamily="34" charset="0"/>
                <a:ea typeface="Calibri" pitchFamily="34" charset="-122"/>
                <a:cs typeface="Calibri" pitchFamily="34" charset="-120"/>
              </a:rPr>
              <a:t>R-LAB score for ordering</a:t>
            </a:r>
            <a:endParaRPr lang="en-US" sz="1600" dirty="0"/>
          </a:p>
          <a:p>
            <a:pPr indent="0" marL="0">
              <a:buNone/>
            </a:pPr>
            <a:r>
              <a:rPr lang="en-US" sz="2200" dirty="0">
                <a:solidFill>
                  <a:srgbClr val="FFFFFF"/>
                </a:solidFill>
                <a:latin typeface="Times New Roman" pitchFamily="34" charset="0"/>
                <a:ea typeface="Times New Roman" pitchFamily="34" charset="-122"/>
                <a:cs typeface="Times New Roman" pitchFamily="34" charset="-120"/>
              </a:rPr>
              <a:t>before: 4 x 4 = 16</a:t>
            </a:r>
            <a:endParaRPr lang="en-US" sz="1600" dirty="0"/>
          </a:p>
          <a:p>
            <a:pPr indent="0" marL="0">
              <a:buNone/>
            </a:pPr>
            <a:r>
              <a:rPr lang="en-US" sz="2200" b="1" dirty="0">
                <a:solidFill>
                  <a:srgbClr val="FFFFFF"/>
                </a:solidFill>
                <a:latin typeface="Times New Roman" pitchFamily="34" charset="0"/>
                <a:ea typeface="Times New Roman" pitchFamily="34" charset="-122"/>
                <a:cs typeface="Times New Roman" pitchFamily="34" charset="-120"/>
              </a:rPr>
              <a:t>after:  5 x 4 = 20</a:t>
            </a:r>
            <a:endParaRPr lang="en-US" sz="1600" dirty="0"/>
          </a:p>
        </p:txBody>
      </p:sp>
      <p:sp>
        <p:nvSpPr>
          <p:cNvPr id="21" name="a6_note"/>
          <p:cNvSpPr/>
          <p:nvPr/>
        </p:nvSpPr>
        <p:spPr>
          <a:xfrm>
            <a:off x="6309360" y="4251960"/>
            <a:ext cx="5349240" cy="1783080"/>
          </a:xfrm>
          <a:prstGeom prst="roundRect">
            <a:avLst>
              <a:gd name="adj" fmla="val 5128"/>
            </a:avLst>
          </a:prstGeom>
          <a:solidFill>
            <a:srgbClr val="DCEAF6"/>
          </a:solidFill>
          <a:ln w="12700">
            <a:solidFill>
              <a:srgbClr val="DCEAF6"/>
            </a:solidFill>
            <a:prstDash val="solid"/>
          </a:ln>
        </p:spPr>
      </p:sp>
      <p:sp>
        <p:nvSpPr>
          <p:cNvPr id="22" name="a6_notet"/>
          <p:cNvSpPr txBox="1"/>
          <p:nvPr/>
        </p:nvSpPr>
        <p:spPr>
          <a:xfrm>
            <a:off x="6537960" y="4251960"/>
            <a:ext cx="4937760" cy="1783080"/>
          </a:xfrm>
          <a:prstGeom prst="rect">
            <a:avLst/>
          </a:prstGeom>
          <a:noFill/>
          <a:ln/>
        </p:spPr>
        <p:txBody>
          <a:bodyPr wrap="square" lIns="0" tIns="0" rIns="0" bIns="0" rtlCol="0" anchor="ctr"/>
          <a:lstStyle/>
          <a:p>
            <a:pPr indent="0" marL="0">
              <a:buNone/>
            </a:pPr>
            <a:r>
              <a:rPr lang="en-US" sz="1400" b="1" dirty="0">
                <a:solidFill>
                  <a:srgbClr val="2F6C9A"/>
                </a:solidFill>
                <a:latin typeface="Calibri" pitchFamily="34" charset="0"/>
                <a:ea typeface="Calibri" pitchFamily="34" charset="-122"/>
                <a:cs typeface="Calibri" pitchFamily="34" charset="-120"/>
              </a:rPr>
              <a:t>Honest note</a:t>
            </a:r>
            <a:endParaRPr lang="en-US" sz="1400" dirty="0"/>
          </a:p>
          <a:p>
            <a:pPr indent="0" marL="0">
              <a:buNone/>
            </a:pPr>
            <a:r>
              <a:rPr lang="en-US" sz="1400" dirty="0">
                <a:solidFill>
                  <a:srgbClr val="12233B"/>
                </a:solidFill>
                <a:latin typeface="Calibri" pitchFamily="34" charset="0"/>
                <a:ea typeface="Calibri" pitchFamily="34" charset="-122"/>
                <a:cs typeface="Calibri" pitchFamily="34" charset="-120"/>
              </a:rPr>
              <a:t>The +1 step is an Assumption of the tool with no literature source. It is shown on the register as a rule flag and is on the list of open decisions. The score is kept for ordering only.</a:t>
            </a:r>
            <a:endParaRPr lang="en-US" sz="1400" dirty="0"/>
          </a:p>
        </p:txBody>
      </p:sp>
      <p:sp>
        <p:nvSpPr>
          <p:cNvPr id="23" name="Text 20"/>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data/rules_masonry.json (RL-LAB); seed_for('R-LAB', elevated=True); example case facts</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38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76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1" fill="hold">
                            <p:stCondLst>
                              <p:cond delay="114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childTnLst>
                          </p:cTn>
                        </p:par>
                        <p:par>
                          <p:cTn id="58" fill="hold">
                            <p:stCondLst>
                              <p:cond delay="1520"/>
                            </p:stCondLst>
                            <p:childTnLst>
                              <p:par>
                                <p:cTn id="52" presetID="10" presetClass="entr" presetSubtype="0" fill="hold" grpId="0" nodeType="after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5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childTnLst>
                          </p:cTn>
                        </p:par>
                        <p:par>
                          <p:cTn id="65" fill="hold">
                            <p:stCondLst>
                              <p:cond delay="1900"/>
                            </p:stCondLst>
                            <p:childTnLst>
                              <p:par>
                                <p:cTn id="59" presetID="10" presetClass="entr" presetSubtype="0" fill="hold" grpId="0" nodeType="after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Calculation 4: a delay range becomes an expected delay</a:t>
            </a:r>
            <a:endParaRPr lang="en-US" sz="3200" dirty="0"/>
          </a:p>
        </p:txBody>
      </p:sp>
      <p:sp>
        <p:nvSpPr>
          <p:cNvPr id="4" name="a1_fbg"/>
          <p:cNvSpPr/>
          <p:nvPr/>
        </p:nvSpPr>
        <p:spPr>
          <a:xfrm>
            <a:off x="548640" y="1371600"/>
            <a:ext cx="5852160" cy="868680"/>
          </a:xfrm>
          <a:prstGeom prst="roundRect">
            <a:avLst>
              <a:gd name="adj" fmla="val 10526"/>
            </a:avLst>
          </a:prstGeom>
          <a:solidFill>
            <a:srgbClr val="173F6B"/>
          </a:solidFill>
          <a:ln w="12700">
            <a:solidFill>
              <a:srgbClr val="173F6B"/>
            </a:solidFill>
            <a:prstDash val="solid"/>
          </a:ln>
        </p:spPr>
      </p:sp>
      <p:sp>
        <p:nvSpPr>
          <p:cNvPr id="5" name="a1_ft"/>
          <p:cNvSpPr txBox="1"/>
          <p:nvPr/>
        </p:nvSpPr>
        <p:spPr>
          <a:xfrm>
            <a:off x="731520" y="1371600"/>
            <a:ext cx="5486400" cy="868680"/>
          </a:xfrm>
          <a:prstGeom prst="rect">
            <a:avLst/>
          </a:prstGeom>
          <a:noFill/>
          <a:ln/>
        </p:spPr>
        <p:txBody>
          <a:bodyPr wrap="square" lIns="0" tIns="0" rIns="0" bIns="0" rtlCol="0" anchor="ctr"/>
          <a:lstStyle/>
          <a:p>
            <a:pPr algn="ctr" indent="0" marL="0">
              <a:buNone/>
            </a:pPr>
            <a:r>
              <a:rPr lang="en-US" sz="2200" i="1" dirty="0">
                <a:solidFill>
                  <a:srgbClr val="FFFFFF"/>
                </a:solidFill>
                <a:latin typeface="Times New Roman" pitchFamily="34" charset="0"/>
                <a:ea typeface="Times New Roman" pitchFamily="34" charset="-122"/>
                <a:cs typeface="Times New Roman" pitchFamily="34" charset="-120"/>
              </a:rPr>
              <a:t>E = (a + 4m + b) / 6</a:t>
            </a:r>
            <a:endParaRPr lang="en-US" sz="2200" dirty="0"/>
          </a:p>
        </p:txBody>
      </p:sp>
      <p:sp>
        <p:nvSpPr>
          <p:cNvPr id="6" name="a2_in0"/>
          <p:cNvSpPr/>
          <p:nvPr/>
        </p:nvSpPr>
        <p:spPr>
          <a:xfrm>
            <a:off x="548640" y="2468880"/>
            <a:ext cx="1828800" cy="1005840"/>
          </a:xfrm>
          <a:prstGeom prst="roundRect">
            <a:avLst>
              <a:gd name="adj" fmla="val 9091"/>
            </a:avLst>
          </a:prstGeom>
          <a:solidFill>
            <a:srgbClr val="173F6B"/>
          </a:solidFill>
          <a:ln w="12700">
            <a:solidFill>
              <a:srgbClr val="173F6B"/>
            </a:solidFill>
            <a:prstDash val="solid"/>
          </a:ln>
        </p:spPr>
      </p:sp>
      <p:sp>
        <p:nvSpPr>
          <p:cNvPr id="7" name="a2_int0"/>
          <p:cNvSpPr txBox="1"/>
          <p:nvPr/>
        </p:nvSpPr>
        <p:spPr>
          <a:xfrm>
            <a:off x="548640" y="2468880"/>
            <a:ext cx="1828800" cy="100584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a = 1 d</a:t>
            </a:r>
            <a:endParaRPr lang="en-US" sz="1600" dirty="0"/>
          </a:p>
          <a:p>
            <a:pPr algn="ctr" indent="0" marL="0">
              <a:buNone/>
            </a:pPr>
            <a:r>
              <a:rPr lang="en-US" sz="1300" dirty="0">
                <a:solidFill>
                  <a:srgbClr val="A9C7E0"/>
                </a:solidFill>
                <a:latin typeface="Calibri" pitchFamily="34" charset="0"/>
                <a:ea typeface="Calibri" pitchFamily="34" charset="-122"/>
                <a:cs typeface="Calibri" pitchFamily="34" charset="-120"/>
              </a:rPr>
              <a:t>minimum</a:t>
            </a:r>
            <a:endParaRPr lang="en-US" sz="1600" dirty="0"/>
          </a:p>
        </p:txBody>
      </p:sp>
      <p:sp>
        <p:nvSpPr>
          <p:cNvPr id="8" name="a2_in1"/>
          <p:cNvSpPr/>
          <p:nvPr/>
        </p:nvSpPr>
        <p:spPr>
          <a:xfrm>
            <a:off x="2560320" y="2468880"/>
            <a:ext cx="1828800" cy="1005840"/>
          </a:xfrm>
          <a:prstGeom prst="roundRect">
            <a:avLst>
              <a:gd name="adj" fmla="val 9091"/>
            </a:avLst>
          </a:prstGeom>
          <a:solidFill>
            <a:srgbClr val="173F6B"/>
          </a:solidFill>
          <a:ln w="12700">
            <a:solidFill>
              <a:srgbClr val="173F6B"/>
            </a:solidFill>
            <a:prstDash val="solid"/>
          </a:ln>
        </p:spPr>
      </p:sp>
      <p:sp>
        <p:nvSpPr>
          <p:cNvPr id="9" name="a2_int1"/>
          <p:cNvSpPr txBox="1"/>
          <p:nvPr/>
        </p:nvSpPr>
        <p:spPr>
          <a:xfrm>
            <a:off x="2560320" y="2468880"/>
            <a:ext cx="1828800" cy="100584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m = 3 d</a:t>
            </a:r>
            <a:endParaRPr lang="en-US" sz="1600" dirty="0"/>
          </a:p>
          <a:p>
            <a:pPr algn="ctr" indent="0" marL="0">
              <a:buNone/>
            </a:pPr>
            <a:r>
              <a:rPr lang="en-US" sz="1300" dirty="0">
                <a:solidFill>
                  <a:srgbClr val="A9C7E0"/>
                </a:solidFill>
                <a:latin typeface="Calibri" pitchFamily="34" charset="0"/>
                <a:ea typeface="Calibri" pitchFamily="34" charset="-122"/>
                <a:cs typeface="Calibri" pitchFamily="34" charset="-120"/>
              </a:rPr>
              <a:t>most likely</a:t>
            </a:r>
            <a:endParaRPr lang="en-US" sz="1600" dirty="0"/>
          </a:p>
        </p:txBody>
      </p:sp>
      <p:sp>
        <p:nvSpPr>
          <p:cNvPr id="10" name="a2_in2"/>
          <p:cNvSpPr/>
          <p:nvPr/>
        </p:nvSpPr>
        <p:spPr>
          <a:xfrm>
            <a:off x="4572000" y="2468880"/>
            <a:ext cx="1828800" cy="1005840"/>
          </a:xfrm>
          <a:prstGeom prst="roundRect">
            <a:avLst>
              <a:gd name="adj" fmla="val 9091"/>
            </a:avLst>
          </a:prstGeom>
          <a:solidFill>
            <a:srgbClr val="173F6B"/>
          </a:solidFill>
          <a:ln w="12700">
            <a:solidFill>
              <a:srgbClr val="173F6B"/>
            </a:solidFill>
            <a:prstDash val="solid"/>
          </a:ln>
        </p:spPr>
      </p:sp>
      <p:sp>
        <p:nvSpPr>
          <p:cNvPr id="11" name="a2_int2"/>
          <p:cNvSpPr txBox="1"/>
          <p:nvPr/>
        </p:nvSpPr>
        <p:spPr>
          <a:xfrm>
            <a:off x="4572000" y="2468880"/>
            <a:ext cx="1828800" cy="100584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b = 8 d</a:t>
            </a:r>
            <a:endParaRPr lang="en-US" sz="1600" dirty="0"/>
          </a:p>
          <a:p>
            <a:pPr algn="ctr" indent="0" marL="0">
              <a:buNone/>
            </a:pPr>
            <a:r>
              <a:rPr lang="en-US" sz="1300" dirty="0">
                <a:solidFill>
                  <a:srgbClr val="A9C7E0"/>
                </a:solidFill>
                <a:latin typeface="Calibri" pitchFamily="34" charset="0"/>
                <a:ea typeface="Calibri" pitchFamily="34" charset="-122"/>
                <a:cs typeface="Calibri" pitchFamily="34" charset="-120"/>
              </a:rPr>
              <a:t>maximum</a:t>
            </a:r>
            <a:endParaRPr lang="en-US" sz="1600" dirty="0"/>
          </a:p>
        </p:txBody>
      </p:sp>
      <p:sp>
        <p:nvSpPr>
          <p:cNvPr id="12" name="a3_calc"/>
          <p:cNvSpPr txBox="1"/>
          <p:nvPr/>
        </p:nvSpPr>
        <p:spPr>
          <a:xfrm>
            <a:off x="548640" y="3749040"/>
            <a:ext cx="5852160" cy="640080"/>
          </a:xfrm>
          <a:prstGeom prst="rect">
            <a:avLst/>
          </a:prstGeom>
          <a:noFill/>
          <a:ln/>
        </p:spPr>
        <p:txBody>
          <a:bodyPr wrap="square" lIns="0" tIns="0" rIns="0" bIns="0" rtlCol="0" anchor="t"/>
          <a:lstStyle/>
          <a:p>
            <a:pPr indent="0" marL="0">
              <a:buNone/>
            </a:pPr>
            <a:r>
              <a:rPr lang="en-US" sz="2800" b="1" dirty="0">
                <a:solidFill>
                  <a:srgbClr val="19B5C8"/>
                </a:solidFill>
                <a:latin typeface="Times New Roman" pitchFamily="34" charset="0"/>
                <a:ea typeface="Times New Roman" pitchFamily="34" charset="-122"/>
                <a:cs typeface="Times New Roman" pitchFamily="34" charset="-120"/>
              </a:rPr>
              <a:t>(1 + 4 · 3 + 8) / 6  =  21 / 6  =  3.5 days</a:t>
            </a:r>
            <a:endParaRPr lang="en-US" sz="2800" dirty="0"/>
          </a:p>
        </p:txBody>
      </p:sp>
      <p:sp>
        <p:nvSpPr>
          <p:cNvPr id="13" name="a3_calcn"/>
          <p:cNvSpPr txBox="1"/>
          <p:nvPr/>
        </p:nvSpPr>
        <p:spPr>
          <a:xfrm>
            <a:off x="548640" y="4572000"/>
            <a:ext cx="5852160" cy="1005840"/>
          </a:xfrm>
          <a:prstGeom prst="rect">
            <a:avLst/>
          </a:prstGeom>
          <a:noFill/>
          <a:ln/>
        </p:spPr>
        <p:txBody>
          <a:bodyPr wrap="square" lIns="0" tIns="0" rIns="0" bIns="0" rtlCol="0" anchor="t"/>
          <a:lstStyle/>
          <a:p>
            <a:pPr indent="0" marL="0">
              <a:buNone/>
            </a:pPr>
            <a:r>
              <a:rPr lang="en-US" sz="1500" dirty="0">
                <a:solidFill>
                  <a:srgbClr val="DCEAF6"/>
                </a:solidFill>
                <a:latin typeface="Calibri" pitchFamily="34" charset="0"/>
                <a:ea typeface="Calibri" pitchFamily="34" charset="-122"/>
                <a:cs typeface="Calibri" pitchFamily="34" charset="-120"/>
              </a:rPr>
              <a:t>Probability p = 0.5 is entered separately. Both numbers are labelled Assumption and ILLUSTRATIVE in the example case.</a:t>
            </a:r>
            <a:endParaRPr lang="en-US" sz="1500" dirty="0"/>
          </a:p>
        </p:txBody>
      </p:sp>
      <p:sp>
        <p:nvSpPr>
          <p:cNvPr id="14" name="a4_axis"/>
          <p:cNvSpPr/>
          <p:nvPr/>
        </p:nvSpPr>
        <p:spPr>
          <a:xfrm>
            <a:off x="6949440" y="3383280"/>
            <a:ext cx="4480560" cy="0"/>
          </a:xfrm>
          <a:prstGeom prst="line">
            <a:avLst/>
          </a:prstGeom>
          <a:noFill/>
          <a:ln w="38100">
            <a:solidFill>
              <a:srgbClr val="A9C7E0"/>
            </a:solidFill>
            <a:prstDash val="solid"/>
          </a:ln>
        </p:spPr>
      </p:sp>
      <p:sp>
        <p:nvSpPr>
          <p:cNvPr id="15" name="a5_pt0"/>
          <p:cNvSpPr/>
          <p:nvPr/>
        </p:nvSpPr>
        <p:spPr>
          <a:xfrm>
            <a:off x="6821424" y="3255264"/>
            <a:ext cx="256032" cy="256032"/>
          </a:xfrm>
          <a:prstGeom prst="ellipse">
            <a:avLst/>
          </a:prstGeom>
          <a:solidFill>
            <a:srgbClr val="2F6C9A"/>
          </a:solidFill>
          <a:ln w="12700">
            <a:solidFill>
              <a:srgbClr val="2F6C9A"/>
            </a:solidFill>
            <a:prstDash val="solid"/>
          </a:ln>
        </p:spPr>
      </p:sp>
      <p:sp>
        <p:nvSpPr>
          <p:cNvPr id="16" name="a5_ptl0"/>
          <p:cNvSpPr txBox="1"/>
          <p:nvPr/>
        </p:nvSpPr>
        <p:spPr>
          <a:xfrm>
            <a:off x="6400800" y="3657600"/>
            <a:ext cx="109728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17" name="a5_pt1"/>
          <p:cNvSpPr/>
          <p:nvPr/>
        </p:nvSpPr>
        <p:spPr>
          <a:xfrm>
            <a:off x="7319264" y="3255264"/>
            <a:ext cx="256032" cy="256032"/>
          </a:xfrm>
          <a:prstGeom prst="ellipse">
            <a:avLst/>
          </a:prstGeom>
          <a:solidFill>
            <a:srgbClr val="5FA8D3"/>
          </a:solidFill>
          <a:ln w="12700">
            <a:solidFill>
              <a:srgbClr val="5FA8D3"/>
            </a:solidFill>
            <a:prstDash val="solid"/>
          </a:ln>
        </p:spPr>
      </p:sp>
      <p:sp>
        <p:nvSpPr>
          <p:cNvPr id="18" name="a5_ptl1"/>
          <p:cNvSpPr txBox="1"/>
          <p:nvPr/>
        </p:nvSpPr>
        <p:spPr>
          <a:xfrm>
            <a:off x="6898640" y="3657600"/>
            <a:ext cx="109728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a = 1</a:t>
            </a:r>
            <a:endParaRPr lang="en-US" sz="1400" dirty="0"/>
          </a:p>
        </p:txBody>
      </p:sp>
      <p:sp>
        <p:nvSpPr>
          <p:cNvPr id="19" name="a5_pt2"/>
          <p:cNvSpPr/>
          <p:nvPr/>
        </p:nvSpPr>
        <p:spPr>
          <a:xfrm>
            <a:off x="8314944" y="3255264"/>
            <a:ext cx="256032" cy="256032"/>
          </a:xfrm>
          <a:prstGeom prst="ellipse">
            <a:avLst/>
          </a:prstGeom>
          <a:solidFill>
            <a:srgbClr val="2F6C9A"/>
          </a:solidFill>
          <a:ln w="12700">
            <a:solidFill>
              <a:srgbClr val="2F6C9A"/>
            </a:solidFill>
            <a:prstDash val="solid"/>
          </a:ln>
        </p:spPr>
      </p:sp>
      <p:sp>
        <p:nvSpPr>
          <p:cNvPr id="20" name="a5_ptl2"/>
          <p:cNvSpPr txBox="1"/>
          <p:nvPr/>
        </p:nvSpPr>
        <p:spPr>
          <a:xfrm>
            <a:off x="7894320" y="3657600"/>
            <a:ext cx="109728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m = 3</a:t>
            </a:r>
            <a:endParaRPr lang="en-US" sz="1400" dirty="0"/>
          </a:p>
        </p:txBody>
      </p:sp>
      <p:sp>
        <p:nvSpPr>
          <p:cNvPr id="21" name="a5_pt3"/>
          <p:cNvSpPr/>
          <p:nvPr/>
        </p:nvSpPr>
        <p:spPr>
          <a:xfrm>
            <a:off x="8563864" y="3255264"/>
            <a:ext cx="256032" cy="256032"/>
          </a:xfrm>
          <a:prstGeom prst="ellipse">
            <a:avLst/>
          </a:prstGeom>
          <a:solidFill>
            <a:srgbClr val="19B5C8"/>
          </a:solidFill>
          <a:ln w="12700">
            <a:solidFill>
              <a:srgbClr val="19B5C8"/>
            </a:solidFill>
            <a:prstDash val="solid"/>
          </a:ln>
        </p:spPr>
      </p:sp>
      <p:sp>
        <p:nvSpPr>
          <p:cNvPr id="22" name="a5_ptl3"/>
          <p:cNvSpPr txBox="1"/>
          <p:nvPr/>
        </p:nvSpPr>
        <p:spPr>
          <a:xfrm>
            <a:off x="8143240" y="2788920"/>
            <a:ext cx="1097280" cy="365760"/>
          </a:xfrm>
          <a:prstGeom prst="rect">
            <a:avLst/>
          </a:prstGeom>
          <a:noFill/>
          <a:ln/>
        </p:spPr>
        <p:txBody>
          <a:bodyPr wrap="square" lIns="0" tIns="0" rIns="0" bIns="0" rtlCol="0" anchor="t"/>
          <a:lstStyle/>
          <a:p>
            <a:pPr algn="ctr" indent="0" marL="0">
              <a:buNone/>
            </a:pPr>
            <a:r>
              <a:rPr lang="en-US" sz="1400" b="1" dirty="0">
                <a:solidFill>
                  <a:srgbClr val="19B5C8"/>
                </a:solidFill>
                <a:latin typeface="Calibri" pitchFamily="34" charset="0"/>
                <a:ea typeface="Calibri" pitchFamily="34" charset="-122"/>
                <a:cs typeface="Calibri" pitchFamily="34" charset="-120"/>
              </a:rPr>
              <a:t>E = 3.5</a:t>
            </a:r>
            <a:endParaRPr lang="en-US" sz="1400" dirty="0"/>
          </a:p>
        </p:txBody>
      </p:sp>
      <p:sp>
        <p:nvSpPr>
          <p:cNvPr id="23" name="a5_pt4"/>
          <p:cNvSpPr/>
          <p:nvPr/>
        </p:nvSpPr>
        <p:spPr>
          <a:xfrm>
            <a:off x="10804144" y="3255264"/>
            <a:ext cx="256032" cy="256032"/>
          </a:xfrm>
          <a:prstGeom prst="ellipse">
            <a:avLst/>
          </a:prstGeom>
          <a:solidFill>
            <a:srgbClr val="5FA8D3"/>
          </a:solidFill>
          <a:ln w="12700">
            <a:solidFill>
              <a:srgbClr val="5FA8D3"/>
            </a:solidFill>
            <a:prstDash val="solid"/>
          </a:ln>
        </p:spPr>
      </p:sp>
      <p:sp>
        <p:nvSpPr>
          <p:cNvPr id="24" name="a5_ptl4"/>
          <p:cNvSpPr txBox="1"/>
          <p:nvPr/>
        </p:nvSpPr>
        <p:spPr>
          <a:xfrm>
            <a:off x="10383520" y="3657600"/>
            <a:ext cx="109728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b = 8</a:t>
            </a:r>
            <a:endParaRPr lang="en-US" sz="1400" dirty="0"/>
          </a:p>
        </p:txBody>
      </p:sp>
      <p:sp>
        <p:nvSpPr>
          <p:cNvPr id="25" name="a5_axl"/>
          <p:cNvSpPr txBox="1"/>
          <p:nvPr/>
        </p:nvSpPr>
        <p:spPr>
          <a:xfrm>
            <a:off x="6949440" y="4251960"/>
            <a:ext cx="4480560" cy="365760"/>
          </a:xfrm>
          <a:prstGeom prst="rect">
            <a:avLst/>
          </a:prstGeom>
          <a:noFill/>
          <a:ln/>
        </p:spPr>
        <p:txBody>
          <a:bodyPr wrap="square" lIns="0" tIns="0" rIns="0" bIns="0" rtlCol="0" anchor="t"/>
          <a:lstStyle/>
          <a:p>
            <a:pPr algn="ctr" indent="0" marL="0">
              <a:buNone/>
            </a:pPr>
            <a:r>
              <a:rPr lang="en-US" sz="1300" i="1" dirty="0">
                <a:solidFill>
                  <a:srgbClr val="A9C7E0"/>
                </a:solidFill>
                <a:latin typeface="Calibri" pitchFamily="34" charset="0"/>
                <a:ea typeface="Calibri" pitchFamily="34" charset="-122"/>
                <a:cs typeface="Calibri" pitchFamily="34" charset="-120"/>
              </a:rPr>
              <a:t>days of delay if the risk occurs</a:t>
            </a:r>
            <a:endParaRPr lang="en-US" sz="1300" dirty="0"/>
          </a:p>
        </p:txBody>
      </p:sp>
      <p:sp>
        <p:nvSpPr>
          <p:cNvPr id="26" name="a6_imgframe"/>
          <p:cNvSpPr/>
          <p:nvPr/>
        </p:nvSpPr>
        <p:spPr>
          <a:xfrm>
            <a:off x="6949440" y="4572000"/>
            <a:ext cx="4572000" cy="1417320"/>
          </a:xfrm>
          <a:prstGeom prst="roundRect">
            <a:avLst>
              <a:gd name="adj" fmla="val 5161"/>
            </a:avLst>
          </a:prstGeom>
          <a:solidFill>
            <a:srgbClr val="EFF5FA"/>
          </a:solidFill>
          <a:ln w="15875">
            <a:solidFill>
              <a:srgbClr val="2F6C9A"/>
            </a:solidFill>
            <a:prstDash val="dash"/>
          </a:ln>
        </p:spPr>
      </p:sp>
      <p:sp>
        <p:nvSpPr>
          <p:cNvPr id="27" name="a6_imglabel"/>
          <p:cNvSpPr txBox="1"/>
          <p:nvPr/>
        </p:nvSpPr>
        <p:spPr>
          <a:xfrm>
            <a:off x="7086600" y="4572000"/>
            <a:ext cx="4297680" cy="141732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screenshot: delay range entry in the register</a:t>
            </a:r>
            <a:endParaRPr lang="en-US" sz="1600" dirty="0"/>
          </a:p>
        </p:txBody>
      </p:sp>
      <p:sp>
        <p:nvSpPr>
          <p:cNvPr id="28" name="Text 25"/>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A9C7E0"/>
                </a:solidFill>
                <a:latin typeface="Calibri" pitchFamily="34" charset="0"/>
                <a:ea typeface="Calibri" pitchFamily="34" charset="-122"/>
                <a:cs typeface="Calibri" pitchFamily="34" charset="-120"/>
              </a:rPr>
              <a:t>Source: ILLUSTRATIVE example case (app/service.py example_case); PERT three-point estimate (Malcolm et al., 1959)</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E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1"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28" fill="hold">
                            <p:stCondLst>
                              <p:cond delay="38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35" fill="hold">
                            <p:stCondLst>
                              <p:cond delay="76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childTnLst>
                          </p:cTn>
                        </p:par>
                        <p:par>
                          <p:cTn id="39" fill="hold">
                            <p:stCondLst>
                              <p:cond delay="114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childTnLst>
                          </p:cTn>
                        </p:par>
                        <p:par>
                          <p:cTn id="73" fill="hold">
                            <p:stCondLst>
                              <p:cond delay="1520"/>
                            </p:stCondLst>
                            <p:childTnLst>
                              <p:par>
                                <p:cTn id="40" presetID="10" presetClass="entr" presetSubtype="0" fill="hold" grpId="0" nodeType="after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5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5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childTnLst>
                          </p:cTn>
                        </p:par>
                        <p:par>
                          <p:cTn id="80" fill="hold">
                            <p:stCondLst>
                              <p:cond delay="1900"/>
                            </p:stCondLst>
                            <p:childTnLst>
                              <p:par>
                                <p:cTn id="74" presetID="10" presetClass="entr" presetSubtype="0" fill="hold" grpId="0" nodeType="after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450"/>
                                        <p:tgtEl>
                                          <p:spTgt spid="2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Calculation 5: probability class, impact class, level</a:t>
            </a:r>
            <a:endParaRPr lang="en-US" sz="3200" dirty="0"/>
          </a:p>
        </p:txBody>
      </p:sp>
      <p:sp>
        <p:nvSpPr>
          <p:cNvPr id="4" name="a1_card"/>
          <p:cNvSpPr/>
          <p:nvPr/>
        </p:nvSpPr>
        <p:spPr>
          <a:xfrm>
            <a:off x="548640" y="1417320"/>
            <a:ext cx="3520440" cy="3749040"/>
          </a:xfrm>
          <a:prstGeom prst="roundRect">
            <a:avLst>
              <a:gd name="adj" fmla="val 2597"/>
            </a:avLst>
          </a:prstGeom>
          <a:solidFill>
            <a:srgbClr val="EFF5FA"/>
          </a:solidFill>
          <a:ln w="12700">
            <a:solidFill>
              <a:srgbClr val="B9CFE3"/>
            </a:solidFill>
            <a:prstDash val="solid"/>
          </a:ln>
        </p:spPr>
      </p:sp>
      <p:sp>
        <p:nvSpPr>
          <p:cNvPr id="5" name="a1_nc"/>
          <p:cNvSpPr/>
          <p:nvPr/>
        </p:nvSpPr>
        <p:spPr>
          <a:xfrm>
            <a:off x="777240" y="1600200"/>
            <a:ext cx="594360" cy="594360"/>
          </a:xfrm>
          <a:prstGeom prst="ellipse">
            <a:avLst/>
          </a:prstGeom>
          <a:solidFill>
            <a:srgbClr val="2F6C9A"/>
          </a:solidFill>
          <a:ln w="12700">
            <a:solidFill>
              <a:srgbClr val="2F6C9A"/>
            </a:solidFill>
            <a:prstDash val="solid"/>
          </a:ln>
        </p:spPr>
      </p:sp>
      <p:sp>
        <p:nvSpPr>
          <p:cNvPr id="6" name="a1_nt"/>
          <p:cNvSpPr txBox="1"/>
          <p:nvPr/>
        </p:nvSpPr>
        <p:spPr>
          <a:xfrm>
            <a:off x="777240" y="16002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1</a:t>
            </a:r>
            <a:endParaRPr lang="en-US" sz="2000" dirty="0"/>
          </a:p>
        </p:txBody>
      </p:sp>
      <p:sp>
        <p:nvSpPr>
          <p:cNvPr id="7" name="a1_h"/>
          <p:cNvSpPr txBox="1"/>
          <p:nvPr/>
        </p:nvSpPr>
        <p:spPr>
          <a:xfrm>
            <a:off x="1508760" y="1691640"/>
            <a:ext cx="2377440" cy="457200"/>
          </a:xfrm>
          <a:prstGeom prst="rect">
            <a:avLst/>
          </a:prstGeom>
          <a:noFill/>
          <a:ln/>
        </p:spPr>
        <p:txBody>
          <a:bodyPr wrap="square" lIns="0" tIns="0" rIns="0" bIns="0" rtlCol="0" anchor="t"/>
          <a:lstStyle/>
          <a:p>
            <a:pPr indent="0" marL="0">
              <a:buNone/>
            </a:pPr>
            <a:r>
              <a:rPr lang="en-US" sz="2200" b="1" dirty="0">
                <a:solidFill>
                  <a:srgbClr val="12233B"/>
                </a:solidFill>
                <a:latin typeface="Times New Roman" pitchFamily="34" charset="0"/>
                <a:ea typeface="Times New Roman" pitchFamily="34" charset="-122"/>
                <a:cs typeface="Times New Roman" pitchFamily="34" charset="-120"/>
              </a:rPr>
              <a:t>Probability class</a:t>
            </a:r>
            <a:endParaRPr lang="en-US" sz="2200" dirty="0"/>
          </a:p>
        </p:txBody>
      </p:sp>
      <p:sp>
        <p:nvSpPr>
          <p:cNvPr id="8" name="a1_d"/>
          <p:cNvSpPr txBox="1"/>
          <p:nvPr/>
        </p:nvSpPr>
        <p:spPr>
          <a:xfrm>
            <a:off x="777240" y="2514600"/>
            <a:ext cx="3108960" cy="1554480"/>
          </a:xfrm>
          <a:prstGeom prst="rect">
            <a:avLst/>
          </a:prstGeom>
          <a:noFill/>
          <a:ln/>
        </p:spPr>
        <p:txBody>
          <a:bodyPr wrap="square" lIns="0" tIns="0" rIns="0" bIns="0" rtlCol="0" anchor="t"/>
          <a:lstStyle/>
          <a:p>
            <a:pPr indent="0" marL="0">
              <a:buNone/>
            </a:pPr>
            <a:r>
              <a:rPr lang="en-US" sz="1400" dirty="0">
                <a:solidFill>
                  <a:srgbClr val="12233B"/>
                </a:solidFill>
                <a:latin typeface="Courier New" pitchFamily="34" charset="0"/>
                <a:ea typeface="Courier New" pitchFamily="34" charset="-122"/>
                <a:cs typeface="Courier New" pitchFamily="34" charset="-120"/>
              </a:rPr>
              <a:t>p = 0.5</a:t>
            </a:r>
            <a:endParaRPr lang="en-US" sz="1400" dirty="0"/>
          </a:p>
          <a:p>
            <a:pPr indent="0" marL="0">
              <a:buNone/>
            </a:pPr>
            <a:r>
              <a:rPr lang="en-US" sz="1400" dirty="0">
                <a:solidFill>
                  <a:srgbClr val="12233B"/>
                </a:solidFill>
                <a:latin typeface="Courier New" pitchFamily="34" charset="0"/>
                <a:ea typeface="Courier New" pitchFamily="34" charset="-122"/>
                <a:cs typeface="Courier New" pitchFamily="34" charset="-120"/>
              </a:rPr>
              <a:t>edges 0.2 | 0.4 | 0.6 | 0.8</a:t>
            </a:r>
            <a:endParaRPr lang="en-US" sz="1400" dirty="0"/>
          </a:p>
          <a:p>
            <a:pPr indent="0" marL="0">
              <a:buNone/>
            </a:pPr>
            <a:r>
              <a:rPr lang="en-US" sz="1400" dirty="0">
                <a:solidFill>
                  <a:srgbClr val="12233B"/>
                </a:solidFill>
                <a:latin typeface="Courier New" pitchFamily="34" charset="0"/>
                <a:ea typeface="Courier New" pitchFamily="34" charset="-122"/>
                <a:cs typeface="Courier New" pitchFamily="34" charset="-120"/>
              </a:rPr>
              <a:t>reaches 0.2 and 0.4 = 2 edges</a:t>
            </a:r>
            <a:endParaRPr lang="en-US" sz="1400" dirty="0"/>
          </a:p>
        </p:txBody>
      </p:sp>
      <p:sp>
        <p:nvSpPr>
          <p:cNvPr id="9" name="a1_res"/>
          <p:cNvSpPr/>
          <p:nvPr/>
        </p:nvSpPr>
        <p:spPr>
          <a:xfrm>
            <a:off x="777240" y="4343400"/>
            <a:ext cx="3063240" cy="594360"/>
          </a:xfrm>
          <a:prstGeom prst="roundRect">
            <a:avLst>
              <a:gd name="adj" fmla="val 15385"/>
            </a:avLst>
          </a:prstGeom>
          <a:solidFill>
            <a:srgbClr val="FFFFFF"/>
          </a:solidFill>
          <a:ln w="12700">
            <a:solidFill>
              <a:srgbClr val="FFFFFF"/>
            </a:solidFill>
            <a:prstDash val="solid"/>
          </a:ln>
        </p:spPr>
      </p:sp>
      <p:sp>
        <p:nvSpPr>
          <p:cNvPr id="10" name="a1_rest"/>
          <p:cNvSpPr txBox="1"/>
          <p:nvPr/>
        </p:nvSpPr>
        <p:spPr>
          <a:xfrm>
            <a:off x="777240" y="4343400"/>
            <a:ext cx="3063240" cy="594360"/>
          </a:xfrm>
          <a:prstGeom prst="rect">
            <a:avLst/>
          </a:prstGeom>
          <a:noFill/>
          <a:ln/>
        </p:spPr>
        <p:txBody>
          <a:bodyPr wrap="square" lIns="0" tIns="0" rIns="0" bIns="0" rtlCol="0" anchor="ctr"/>
          <a:lstStyle/>
          <a:p>
            <a:pPr algn="ctr" indent="0" marL="0">
              <a:buNone/>
            </a:pPr>
            <a:r>
              <a:rPr lang="en-US" sz="1900" b="1" dirty="0">
                <a:solidFill>
                  <a:srgbClr val="12233B"/>
                </a:solidFill>
                <a:latin typeface="Times New Roman" pitchFamily="34" charset="0"/>
                <a:ea typeface="Times New Roman" pitchFamily="34" charset="-122"/>
                <a:cs typeface="Times New Roman" pitchFamily="34" charset="-120"/>
              </a:rPr>
              <a:t>class = 2 + 1 = 3</a:t>
            </a:r>
            <a:endParaRPr lang="en-US" sz="1900" dirty="0"/>
          </a:p>
        </p:txBody>
      </p:sp>
      <p:sp>
        <p:nvSpPr>
          <p:cNvPr id="11" name="a1_ar"/>
          <p:cNvSpPr/>
          <p:nvPr/>
        </p:nvSpPr>
        <p:spPr>
          <a:xfrm>
            <a:off x="4087368" y="3108960"/>
            <a:ext cx="182880" cy="365760"/>
          </a:xfrm>
          <a:prstGeom prst="rightArrow">
            <a:avLst/>
          </a:prstGeom>
          <a:solidFill>
            <a:srgbClr val="19B5C8"/>
          </a:solidFill>
          <a:ln w="12700">
            <a:solidFill>
              <a:srgbClr val="19B5C8"/>
            </a:solidFill>
            <a:prstDash val="solid"/>
          </a:ln>
        </p:spPr>
      </p:sp>
      <p:sp>
        <p:nvSpPr>
          <p:cNvPr id="12" name="a2_card"/>
          <p:cNvSpPr/>
          <p:nvPr/>
        </p:nvSpPr>
        <p:spPr>
          <a:xfrm>
            <a:off x="4297680" y="1417320"/>
            <a:ext cx="3520440" cy="3749040"/>
          </a:xfrm>
          <a:prstGeom prst="roundRect">
            <a:avLst>
              <a:gd name="adj" fmla="val 2597"/>
            </a:avLst>
          </a:prstGeom>
          <a:solidFill>
            <a:srgbClr val="DCEAF6"/>
          </a:solidFill>
          <a:ln w="12700">
            <a:solidFill>
              <a:srgbClr val="B9CFE3"/>
            </a:solidFill>
            <a:prstDash val="solid"/>
          </a:ln>
        </p:spPr>
      </p:sp>
      <p:sp>
        <p:nvSpPr>
          <p:cNvPr id="13" name="a2_nc"/>
          <p:cNvSpPr/>
          <p:nvPr/>
        </p:nvSpPr>
        <p:spPr>
          <a:xfrm>
            <a:off x="4526280" y="1600200"/>
            <a:ext cx="594360" cy="594360"/>
          </a:xfrm>
          <a:prstGeom prst="ellipse">
            <a:avLst/>
          </a:prstGeom>
          <a:solidFill>
            <a:srgbClr val="2F6C9A"/>
          </a:solidFill>
          <a:ln w="12700">
            <a:solidFill>
              <a:srgbClr val="2F6C9A"/>
            </a:solidFill>
            <a:prstDash val="solid"/>
          </a:ln>
        </p:spPr>
      </p:sp>
      <p:sp>
        <p:nvSpPr>
          <p:cNvPr id="14" name="a2_nt"/>
          <p:cNvSpPr txBox="1"/>
          <p:nvPr/>
        </p:nvSpPr>
        <p:spPr>
          <a:xfrm>
            <a:off x="4526280" y="16002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2</a:t>
            </a:r>
            <a:endParaRPr lang="en-US" sz="2000" dirty="0"/>
          </a:p>
        </p:txBody>
      </p:sp>
      <p:sp>
        <p:nvSpPr>
          <p:cNvPr id="15" name="a2_h"/>
          <p:cNvSpPr txBox="1"/>
          <p:nvPr/>
        </p:nvSpPr>
        <p:spPr>
          <a:xfrm>
            <a:off x="5257800" y="1691640"/>
            <a:ext cx="2377440" cy="457200"/>
          </a:xfrm>
          <a:prstGeom prst="rect">
            <a:avLst/>
          </a:prstGeom>
          <a:noFill/>
          <a:ln/>
        </p:spPr>
        <p:txBody>
          <a:bodyPr wrap="square" lIns="0" tIns="0" rIns="0" bIns="0" rtlCol="0" anchor="t"/>
          <a:lstStyle/>
          <a:p>
            <a:pPr indent="0" marL="0">
              <a:buNone/>
            </a:pPr>
            <a:r>
              <a:rPr lang="en-US" sz="2200" b="1" dirty="0">
                <a:solidFill>
                  <a:srgbClr val="12233B"/>
                </a:solidFill>
                <a:latin typeface="Times New Roman" pitchFamily="34" charset="0"/>
                <a:ea typeface="Times New Roman" pitchFamily="34" charset="-122"/>
                <a:cs typeface="Times New Roman" pitchFamily="34" charset="-120"/>
              </a:rPr>
              <a:t>Impact class</a:t>
            </a:r>
            <a:endParaRPr lang="en-US" sz="2200" dirty="0"/>
          </a:p>
        </p:txBody>
      </p:sp>
      <p:sp>
        <p:nvSpPr>
          <p:cNvPr id="16" name="a2_d"/>
          <p:cNvSpPr txBox="1"/>
          <p:nvPr/>
        </p:nvSpPr>
        <p:spPr>
          <a:xfrm>
            <a:off x="4526280" y="2514600"/>
            <a:ext cx="3108960" cy="1554480"/>
          </a:xfrm>
          <a:prstGeom prst="rect">
            <a:avLst/>
          </a:prstGeom>
          <a:noFill/>
          <a:ln/>
        </p:spPr>
        <p:txBody>
          <a:bodyPr wrap="square" lIns="0" tIns="0" rIns="0" bIns="0" rtlCol="0" anchor="t"/>
          <a:lstStyle/>
          <a:p>
            <a:pPr indent="0" marL="0">
              <a:buNone/>
            </a:pPr>
            <a:r>
              <a:rPr lang="en-US" sz="1400" dirty="0">
                <a:solidFill>
                  <a:srgbClr val="12233B"/>
                </a:solidFill>
                <a:latin typeface="Courier New" pitchFamily="34" charset="0"/>
                <a:ea typeface="Courier New" pitchFamily="34" charset="-122"/>
                <a:cs typeface="Courier New" pitchFamily="34" charset="-120"/>
              </a:rPr>
              <a:t>3.5 d / 16 d = 0.21875</a:t>
            </a:r>
            <a:endParaRPr lang="en-US" sz="1400" dirty="0"/>
          </a:p>
          <a:p>
            <a:pPr indent="0" marL="0">
              <a:buNone/>
            </a:pPr>
            <a:r>
              <a:rPr lang="en-US" sz="1400" dirty="0">
                <a:solidFill>
                  <a:srgbClr val="12233B"/>
                </a:solidFill>
                <a:latin typeface="Courier New" pitchFamily="34" charset="0"/>
                <a:ea typeface="Courier New" pitchFamily="34" charset="-122"/>
                <a:cs typeface="Courier New" pitchFamily="34" charset="-120"/>
              </a:rPr>
              <a:t>edges 0.02 | 0.05 | 0.10 | 0.20</a:t>
            </a:r>
            <a:endParaRPr lang="en-US" sz="1400" dirty="0"/>
          </a:p>
          <a:p>
            <a:pPr indent="0" marL="0">
              <a:buNone/>
            </a:pPr>
            <a:r>
              <a:rPr lang="en-US" sz="1400" dirty="0">
                <a:solidFill>
                  <a:srgbClr val="12233B"/>
                </a:solidFill>
                <a:latin typeface="Courier New" pitchFamily="34" charset="0"/>
                <a:ea typeface="Courier New" pitchFamily="34" charset="-122"/>
                <a:cs typeface="Courier New" pitchFamily="34" charset="-120"/>
              </a:rPr>
              <a:t>reaches all 4 edges</a:t>
            </a:r>
            <a:endParaRPr lang="en-US" sz="1400" dirty="0"/>
          </a:p>
        </p:txBody>
      </p:sp>
      <p:sp>
        <p:nvSpPr>
          <p:cNvPr id="17" name="a2_res"/>
          <p:cNvSpPr/>
          <p:nvPr/>
        </p:nvSpPr>
        <p:spPr>
          <a:xfrm>
            <a:off x="4526280" y="4343400"/>
            <a:ext cx="3063240" cy="594360"/>
          </a:xfrm>
          <a:prstGeom prst="roundRect">
            <a:avLst>
              <a:gd name="adj" fmla="val 15385"/>
            </a:avLst>
          </a:prstGeom>
          <a:solidFill>
            <a:srgbClr val="FFFFFF"/>
          </a:solidFill>
          <a:ln w="12700">
            <a:solidFill>
              <a:srgbClr val="FFFFFF"/>
            </a:solidFill>
            <a:prstDash val="solid"/>
          </a:ln>
        </p:spPr>
      </p:sp>
      <p:sp>
        <p:nvSpPr>
          <p:cNvPr id="18" name="a2_rest"/>
          <p:cNvSpPr txBox="1"/>
          <p:nvPr/>
        </p:nvSpPr>
        <p:spPr>
          <a:xfrm>
            <a:off x="4526280" y="4343400"/>
            <a:ext cx="3063240" cy="594360"/>
          </a:xfrm>
          <a:prstGeom prst="rect">
            <a:avLst/>
          </a:prstGeom>
          <a:noFill/>
          <a:ln/>
        </p:spPr>
        <p:txBody>
          <a:bodyPr wrap="square" lIns="0" tIns="0" rIns="0" bIns="0" rtlCol="0" anchor="ctr"/>
          <a:lstStyle/>
          <a:p>
            <a:pPr algn="ctr" indent="0" marL="0">
              <a:buNone/>
            </a:pPr>
            <a:r>
              <a:rPr lang="en-US" sz="1900" b="1" dirty="0">
                <a:solidFill>
                  <a:srgbClr val="12233B"/>
                </a:solidFill>
                <a:latin typeface="Times New Roman" pitchFamily="34" charset="0"/>
                <a:ea typeface="Times New Roman" pitchFamily="34" charset="-122"/>
                <a:cs typeface="Times New Roman" pitchFamily="34" charset="-120"/>
              </a:rPr>
              <a:t>class = 4 + 1 = 5</a:t>
            </a:r>
            <a:endParaRPr lang="en-US" sz="1900" dirty="0"/>
          </a:p>
        </p:txBody>
      </p:sp>
      <p:sp>
        <p:nvSpPr>
          <p:cNvPr id="19" name="a2_ar"/>
          <p:cNvSpPr/>
          <p:nvPr/>
        </p:nvSpPr>
        <p:spPr>
          <a:xfrm>
            <a:off x="7836408" y="3108960"/>
            <a:ext cx="182880" cy="365760"/>
          </a:xfrm>
          <a:prstGeom prst="rightArrow">
            <a:avLst/>
          </a:prstGeom>
          <a:solidFill>
            <a:srgbClr val="19B5C8"/>
          </a:solidFill>
          <a:ln w="12700">
            <a:solidFill>
              <a:srgbClr val="19B5C8"/>
            </a:solidFill>
            <a:prstDash val="solid"/>
          </a:ln>
        </p:spPr>
      </p:sp>
      <p:sp>
        <p:nvSpPr>
          <p:cNvPr id="20" name="a3_card"/>
          <p:cNvSpPr/>
          <p:nvPr/>
        </p:nvSpPr>
        <p:spPr>
          <a:xfrm>
            <a:off x="8046720" y="1417320"/>
            <a:ext cx="3520440" cy="3749040"/>
          </a:xfrm>
          <a:prstGeom prst="roundRect">
            <a:avLst>
              <a:gd name="adj" fmla="val 2597"/>
            </a:avLst>
          </a:prstGeom>
          <a:solidFill>
            <a:srgbClr val="0A1F3C"/>
          </a:solidFill>
          <a:ln w="12700">
            <a:solidFill>
              <a:srgbClr val="B9CFE3"/>
            </a:solidFill>
            <a:prstDash val="solid"/>
          </a:ln>
        </p:spPr>
      </p:sp>
      <p:sp>
        <p:nvSpPr>
          <p:cNvPr id="21" name="a3_nc"/>
          <p:cNvSpPr/>
          <p:nvPr/>
        </p:nvSpPr>
        <p:spPr>
          <a:xfrm>
            <a:off x="8275320" y="1600200"/>
            <a:ext cx="594360" cy="594360"/>
          </a:xfrm>
          <a:prstGeom prst="ellipse">
            <a:avLst/>
          </a:prstGeom>
          <a:solidFill>
            <a:srgbClr val="19B5C8"/>
          </a:solidFill>
          <a:ln w="12700">
            <a:solidFill>
              <a:srgbClr val="19B5C8"/>
            </a:solidFill>
            <a:prstDash val="solid"/>
          </a:ln>
        </p:spPr>
      </p:sp>
      <p:sp>
        <p:nvSpPr>
          <p:cNvPr id="22" name="a3_nt"/>
          <p:cNvSpPr txBox="1"/>
          <p:nvPr/>
        </p:nvSpPr>
        <p:spPr>
          <a:xfrm>
            <a:off x="8275320" y="1600200"/>
            <a:ext cx="594360" cy="594360"/>
          </a:xfrm>
          <a:prstGeom prst="rect">
            <a:avLst/>
          </a:prstGeom>
          <a:noFill/>
          <a:ln/>
        </p:spPr>
        <p:txBody>
          <a:bodyPr wrap="square" lIns="0" tIns="0" rIns="0" bIns="0" rtlCol="0" anchor="ctr"/>
          <a:lstStyle/>
          <a:p>
            <a:pPr algn="ctr" indent="0" marL="0">
              <a:buNone/>
            </a:pPr>
            <a:r>
              <a:rPr lang="en-US" sz="2000" b="1" dirty="0">
                <a:solidFill>
                  <a:srgbClr val="12233B"/>
                </a:solidFill>
                <a:latin typeface="Times New Roman" pitchFamily="34" charset="0"/>
                <a:ea typeface="Times New Roman" pitchFamily="34" charset="-122"/>
                <a:cs typeface="Times New Roman" pitchFamily="34" charset="-120"/>
              </a:rPr>
              <a:t>3</a:t>
            </a:r>
            <a:endParaRPr lang="en-US" sz="2000" dirty="0"/>
          </a:p>
        </p:txBody>
      </p:sp>
      <p:sp>
        <p:nvSpPr>
          <p:cNvPr id="23" name="a3_h"/>
          <p:cNvSpPr txBox="1"/>
          <p:nvPr/>
        </p:nvSpPr>
        <p:spPr>
          <a:xfrm>
            <a:off x="9006840" y="1691640"/>
            <a:ext cx="2377440" cy="457200"/>
          </a:xfrm>
          <a:prstGeom prst="rect">
            <a:avLst/>
          </a:prstGeom>
          <a:noFill/>
          <a:ln/>
        </p:spPr>
        <p:txBody>
          <a:bodyPr wrap="square" lIns="0" tIns="0" rIns="0" bIns="0" rtlCol="0" anchor="t"/>
          <a:lstStyle/>
          <a:p>
            <a:pPr indent="0" marL="0">
              <a:buNone/>
            </a:pPr>
            <a:r>
              <a:rPr lang="en-US" sz="2200" b="1" dirty="0">
                <a:solidFill>
                  <a:srgbClr val="FFFFFF"/>
                </a:solidFill>
                <a:latin typeface="Times New Roman" pitchFamily="34" charset="0"/>
                <a:ea typeface="Times New Roman" pitchFamily="34" charset="-122"/>
                <a:cs typeface="Times New Roman" pitchFamily="34" charset="-120"/>
              </a:rPr>
              <a:t>Level</a:t>
            </a:r>
            <a:endParaRPr lang="en-US" sz="2200" dirty="0"/>
          </a:p>
        </p:txBody>
      </p:sp>
      <p:sp>
        <p:nvSpPr>
          <p:cNvPr id="24" name="a3_d"/>
          <p:cNvSpPr txBox="1"/>
          <p:nvPr/>
        </p:nvSpPr>
        <p:spPr>
          <a:xfrm>
            <a:off x="8275320" y="2514600"/>
            <a:ext cx="3108960" cy="1554480"/>
          </a:xfrm>
          <a:prstGeom prst="rect">
            <a:avLst/>
          </a:prstGeom>
          <a:noFill/>
          <a:ln/>
        </p:spPr>
        <p:txBody>
          <a:bodyPr wrap="square" lIns="0" tIns="0" rIns="0" bIns="0" rtlCol="0" anchor="t"/>
          <a:lstStyle/>
          <a:p>
            <a:pPr indent="0" marL="0">
              <a:buNone/>
            </a:pPr>
            <a:r>
              <a:rPr lang="en-US" sz="1400" dirty="0">
                <a:solidFill>
                  <a:srgbClr val="DCEAF6"/>
                </a:solidFill>
                <a:latin typeface="Courier New" pitchFamily="34" charset="0"/>
                <a:ea typeface="Courier New" pitchFamily="34" charset="-122"/>
                <a:cs typeface="Courier New" pitchFamily="34" charset="-120"/>
              </a:rPr>
              <a:t>score = 3 x 5 = 15</a:t>
            </a:r>
            <a:endParaRPr lang="en-US" sz="1400" dirty="0"/>
          </a:p>
          <a:p>
            <a:pPr indent="0" marL="0">
              <a:buNone/>
            </a:pPr>
            <a:r>
              <a:rPr lang="en-US" sz="1400" dirty="0">
                <a:solidFill>
                  <a:srgbClr val="DCEAF6"/>
                </a:solidFill>
                <a:latin typeface="Courier New" pitchFamily="34" charset="0"/>
                <a:ea typeface="Courier New" pitchFamily="34" charset="-122"/>
                <a:cs typeface="Courier New" pitchFamily="34" charset="-120"/>
              </a:rPr>
              <a:t>Low ≤ 5, Moderate 6 to 10</a:t>
            </a:r>
            <a:endParaRPr lang="en-US" sz="1400" dirty="0"/>
          </a:p>
          <a:p>
            <a:pPr indent="0" marL="0">
              <a:buNone/>
            </a:pPr>
            <a:r>
              <a:rPr lang="en-US" sz="1400" dirty="0">
                <a:solidFill>
                  <a:srgbClr val="DCEAF6"/>
                </a:solidFill>
                <a:latin typeface="Courier New" pitchFamily="34" charset="0"/>
                <a:ea typeface="Courier New" pitchFamily="34" charset="-122"/>
                <a:cs typeface="Courier New" pitchFamily="34" charset="-120"/>
              </a:rPr>
              <a:t>High 11 to 15, Extreme ≥ 16</a:t>
            </a:r>
            <a:endParaRPr lang="en-US" sz="1400" dirty="0"/>
          </a:p>
        </p:txBody>
      </p:sp>
      <p:sp>
        <p:nvSpPr>
          <p:cNvPr id="25" name="a3_res"/>
          <p:cNvSpPr/>
          <p:nvPr/>
        </p:nvSpPr>
        <p:spPr>
          <a:xfrm>
            <a:off x="8275320" y="4343400"/>
            <a:ext cx="3063240" cy="594360"/>
          </a:xfrm>
          <a:prstGeom prst="roundRect">
            <a:avLst>
              <a:gd name="adj" fmla="val 15385"/>
            </a:avLst>
          </a:prstGeom>
          <a:solidFill>
            <a:srgbClr val="19B5C8"/>
          </a:solidFill>
          <a:ln w="12700">
            <a:solidFill>
              <a:srgbClr val="19B5C8"/>
            </a:solidFill>
            <a:prstDash val="solid"/>
          </a:ln>
        </p:spPr>
      </p:sp>
      <p:sp>
        <p:nvSpPr>
          <p:cNvPr id="26" name="a3_rest"/>
          <p:cNvSpPr txBox="1"/>
          <p:nvPr/>
        </p:nvSpPr>
        <p:spPr>
          <a:xfrm>
            <a:off x="8275320" y="4343400"/>
            <a:ext cx="3063240" cy="594360"/>
          </a:xfrm>
          <a:prstGeom prst="rect">
            <a:avLst/>
          </a:prstGeom>
          <a:noFill/>
          <a:ln/>
        </p:spPr>
        <p:txBody>
          <a:bodyPr wrap="square" lIns="0" tIns="0" rIns="0" bIns="0" rtlCol="0" anchor="ctr"/>
          <a:lstStyle/>
          <a:p>
            <a:pPr algn="ctr" indent="0" marL="0">
              <a:buNone/>
            </a:pPr>
            <a:r>
              <a:rPr lang="en-US" sz="1900" b="1" dirty="0">
                <a:solidFill>
                  <a:srgbClr val="12233B"/>
                </a:solidFill>
                <a:latin typeface="Times New Roman" pitchFamily="34" charset="0"/>
                <a:ea typeface="Times New Roman" pitchFamily="34" charset="-122"/>
                <a:cs typeface="Times New Roman" pitchFamily="34" charset="-120"/>
              </a:rPr>
              <a:t>level = HIGH</a:t>
            </a:r>
            <a:endParaRPr lang="en-US" sz="1900" dirty="0"/>
          </a:p>
        </p:txBody>
      </p:sp>
      <p:sp>
        <p:nvSpPr>
          <p:cNvPr id="27" name="a4_foot"/>
          <p:cNvSpPr txBox="1"/>
          <p:nvPr/>
        </p:nvSpPr>
        <p:spPr>
          <a:xfrm>
            <a:off x="548640" y="5440680"/>
            <a:ext cx="11064240" cy="548640"/>
          </a:xfrm>
          <a:prstGeom prst="rect">
            <a:avLst/>
          </a:prstGeom>
          <a:noFill/>
          <a:ln/>
        </p:spPr>
        <p:txBody>
          <a:bodyPr wrap="square" lIns="0" tIns="0" rIns="0" bIns="0" rtlCol="0" anchor="t"/>
          <a:lstStyle/>
          <a:p>
            <a:pPr indent="0" marL="0">
              <a:buNone/>
            </a:pPr>
            <a:r>
              <a:rPr lang="en-US" sz="1500" i="1" dirty="0">
                <a:solidFill>
                  <a:srgbClr val="55708A"/>
                </a:solidFill>
                <a:latin typeface="Calibri" pitchFamily="34" charset="0"/>
                <a:ea typeface="Calibri" pitchFamily="34" charset="-122"/>
                <a:cs typeface="Calibri" pitchFamily="34" charset="-120"/>
              </a:rPr>
              <a:t>A value exactly on an edge goes to the higher class; a 1e-9 tolerance absorbs floating-point error (1.2 d on 12 d is exactly 0.10).</a:t>
            </a:r>
            <a:endParaRPr lang="en-US" sz="1500" dirty="0"/>
          </a:p>
        </p:txBody>
      </p:sp>
      <p:sp>
        <p:nvSpPr>
          <p:cNvPr id="28" name="Text 25"/>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app/engine/matrix.py; example case output: R-MAT p3 x i5 = 15, High</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27"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childTnLst>
                          </p:cTn>
                        </p:par>
                        <p:par>
                          <p:cTn id="52" fill="hold">
                            <p:stCondLst>
                              <p:cond delay="380"/>
                            </p:stCondLst>
                            <p:childTnLst>
                              <p:par>
                                <p:cTn id="28" presetID="10" presetClass="entr" presetSubtype="0" fill="hold" grpId="0" nodeType="after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50"/>
                                        <p:tgtEl>
                                          <p:spTgt spid="19"/>
                                        </p:tgtEl>
                                      </p:cBhvr>
                                    </p:animEffect>
                                  </p:childTnLst>
                                </p:cTn>
                              </p:par>
                            </p:childTnLst>
                          </p:cTn>
                        </p:par>
                        <p:par>
                          <p:cTn id="74" fill="hold">
                            <p:stCondLst>
                              <p:cond delay="760"/>
                            </p:stCondLst>
                            <p:childTnLst>
                              <p:par>
                                <p:cTn id="53" presetID="10" presetClass="entr" presetSubtype="0" fill="hold" grpId="0" nodeType="after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childTnLst>
                          </p:cTn>
                        </p:par>
                        <p:par>
                          <p:cTn id="78" fill="hold">
                            <p:stCondLst>
                              <p:cond delay="1140"/>
                            </p:stCondLst>
                            <p:childTnLst>
                              <p:par>
                                <p:cTn id="75" presetID="10" presetClass="entr" presetSubtype="0" fill="hold" grpId="0" nodeType="after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The 5x5 matrix with the example risks placed</a:t>
            </a:r>
            <a:endParaRPr lang="en-US" sz="3200" dirty="0"/>
          </a:p>
        </p:txBody>
      </p:sp>
      <p:sp>
        <p:nvSpPr>
          <p:cNvPr id="4" name="a1_cell00"/>
          <p:cNvSpPr/>
          <p:nvPr/>
        </p:nvSpPr>
        <p:spPr>
          <a:xfrm>
            <a:off x="1417320" y="1325880"/>
            <a:ext cx="1024128" cy="822960"/>
          </a:xfrm>
          <a:prstGeom prst="rect">
            <a:avLst/>
          </a:prstGeom>
          <a:solidFill>
            <a:srgbClr val="CFE6F3"/>
          </a:solidFill>
          <a:ln w="12700">
            <a:solidFill>
              <a:srgbClr val="CFE6F3"/>
            </a:solidFill>
            <a:prstDash val="solid"/>
          </a:ln>
        </p:spPr>
      </p:sp>
      <p:sp>
        <p:nvSpPr>
          <p:cNvPr id="5" name="a1_cl00"/>
          <p:cNvSpPr txBox="1"/>
          <p:nvPr/>
        </p:nvSpPr>
        <p:spPr>
          <a:xfrm>
            <a:off x="1417320" y="187452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6" name="a1_cell01"/>
          <p:cNvSpPr/>
          <p:nvPr/>
        </p:nvSpPr>
        <p:spPr>
          <a:xfrm>
            <a:off x="2487168" y="1325880"/>
            <a:ext cx="1024128" cy="822960"/>
          </a:xfrm>
          <a:prstGeom prst="rect">
            <a:avLst/>
          </a:prstGeom>
          <a:solidFill>
            <a:srgbClr val="7FB5D9"/>
          </a:solidFill>
          <a:ln w="12700">
            <a:solidFill>
              <a:srgbClr val="7FB5D9"/>
            </a:solidFill>
            <a:prstDash val="solid"/>
          </a:ln>
        </p:spPr>
      </p:sp>
      <p:sp>
        <p:nvSpPr>
          <p:cNvPr id="7" name="a1_cl01"/>
          <p:cNvSpPr txBox="1"/>
          <p:nvPr/>
        </p:nvSpPr>
        <p:spPr>
          <a:xfrm>
            <a:off x="2487168" y="187452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8" name="a1_cell02"/>
          <p:cNvSpPr/>
          <p:nvPr/>
        </p:nvSpPr>
        <p:spPr>
          <a:xfrm>
            <a:off x="3557016" y="1325880"/>
            <a:ext cx="1024128" cy="822960"/>
          </a:xfrm>
          <a:prstGeom prst="rect">
            <a:avLst/>
          </a:prstGeom>
          <a:solidFill>
            <a:srgbClr val="3E73B5"/>
          </a:solidFill>
          <a:ln w="12700">
            <a:solidFill>
              <a:srgbClr val="3E73B5"/>
            </a:solidFill>
            <a:prstDash val="solid"/>
          </a:ln>
        </p:spPr>
      </p:sp>
      <p:sp>
        <p:nvSpPr>
          <p:cNvPr id="9" name="a1_cl02"/>
          <p:cNvSpPr txBox="1"/>
          <p:nvPr/>
        </p:nvSpPr>
        <p:spPr>
          <a:xfrm>
            <a:off x="3557016" y="187452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High</a:t>
            </a:r>
            <a:endParaRPr lang="en-US" sz="1000" dirty="0"/>
          </a:p>
        </p:txBody>
      </p:sp>
      <p:sp>
        <p:nvSpPr>
          <p:cNvPr id="10" name="a1_cell03"/>
          <p:cNvSpPr/>
          <p:nvPr/>
        </p:nvSpPr>
        <p:spPr>
          <a:xfrm>
            <a:off x="4626864" y="1325880"/>
            <a:ext cx="1024128" cy="822960"/>
          </a:xfrm>
          <a:prstGeom prst="rect">
            <a:avLst/>
          </a:prstGeom>
          <a:solidFill>
            <a:srgbClr val="1B2D78"/>
          </a:solidFill>
          <a:ln w="12700">
            <a:solidFill>
              <a:srgbClr val="1B2D78"/>
            </a:solidFill>
            <a:prstDash val="solid"/>
          </a:ln>
        </p:spPr>
      </p:sp>
      <p:sp>
        <p:nvSpPr>
          <p:cNvPr id="11" name="a1_cl03"/>
          <p:cNvSpPr txBox="1"/>
          <p:nvPr/>
        </p:nvSpPr>
        <p:spPr>
          <a:xfrm>
            <a:off x="4626864" y="187452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Extreme</a:t>
            </a:r>
            <a:endParaRPr lang="en-US" sz="1000" dirty="0"/>
          </a:p>
        </p:txBody>
      </p:sp>
      <p:sp>
        <p:nvSpPr>
          <p:cNvPr id="12" name="a1_cell04"/>
          <p:cNvSpPr/>
          <p:nvPr/>
        </p:nvSpPr>
        <p:spPr>
          <a:xfrm>
            <a:off x="5696712" y="1325880"/>
            <a:ext cx="1024128" cy="822960"/>
          </a:xfrm>
          <a:prstGeom prst="rect">
            <a:avLst/>
          </a:prstGeom>
          <a:solidFill>
            <a:srgbClr val="1B2D78"/>
          </a:solidFill>
          <a:ln w="12700">
            <a:solidFill>
              <a:srgbClr val="1B2D78"/>
            </a:solidFill>
            <a:prstDash val="solid"/>
          </a:ln>
        </p:spPr>
      </p:sp>
      <p:sp>
        <p:nvSpPr>
          <p:cNvPr id="13" name="a1_cl04"/>
          <p:cNvSpPr txBox="1"/>
          <p:nvPr/>
        </p:nvSpPr>
        <p:spPr>
          <a:xfrm>
            <a:off x="5696712" y="187452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Extreme</a:t>
            </a:r>
            <a:endParaRPr lang="en-US" sz="1000" dirty="0"/>
          </a:p>
        </p:txBody>
      </p:sp>
      <p:sp>
        <p:nvSpPr>
          <p:cNvPr id="14" name="a1_cell10"/>
          <p:cNvSpPr/>
          <p:nvPr/>
        </p:nvSpPr>
        <p:spPr>
          <a:xfrm>
            <a:off x="1417320" y="2194560"/>
            <a:ext cx="1024128" cy="822960"/>
          </a:xfrm>
          <a:prstGeom prst="rect">
            <a:avLst/>
          </a:prstGeom>
          <a:solidFill>
            <a:srgbClr val="CFE6F3"/>
          </a:solidFill>
          <a:ln w="12700">
            <a:solidFill>
              <a:srgbClr val="CFE6F3"/>
            </a:solidFill>
            <a:prstDash val="solid"/>
          </a:ln>
        </p:spPr>
      </p:sp>
      <p:sp>
        <p:nvSpPr>
          <p:cNvPr id="15" name="a1_cl10"/>
          <p:cNvSpPr txBox="1"/>
          <p:nvPr/>
        </p:nvSpPr>
        <p:spPr>
          <a:xfrm>
            <a:off x="1417320" y="274320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16" name="a1_cell11"/>
          <p:cNvSpPr/>
          <p:nvPr/>
        </p:nvSpPr>
        <p:spPr>
          <a:xfrm>
            <a:off x="2487168" y="2194560"/>
            <a:ext cx="1024128" cy="822960"/>
          </a:xfrm>
          <a:prstGeom prst="rect">
            <a:avLst/>
          </a:prstGeom>
          <a:solidFill>
            <a:srgbClr val="7FB5D9"/>
          </a:solidFill>
          <a:ln w="12700">
            <a:solidFill>
              <a:srgbClr val="7FB5D9"/>
            </a:solidFill>
            <a:prstDash val="solid"/>
          </a:ln>
        </p:spPr>
      </p:sp>
      <p:sp>
        <p:nvSpPr>
          <p:cNvPr id="17" name="a1_cl11"/>
          <p:cNvSpPr txBox="1"/>
          <p:nvPr/>
        </p:nvSpPr>
        <p:spPr>
          <a:xfrm>
            <a:off x="2487168" y="274320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18" name="a1_cell12"/>
          <p:cNvSpPr/>
          <p:nvPr/>
        </p:nvSpPr>
        <p:spPr>
          <a:xfrm>
            <a:off x="3557016" y="2194560"/>
            <a:ext cx="1024128" cy="822960"/>
          </a:xfrm>
          <a:prstGeom prst="rect">
            <a:avLst/>
          </a:prstGeom>
          <a:solidFill>
            <a:srgbClr val="3E73B5"/>
          </a:solidFill>
          <a:ln w="12700">
            <a:solidFill>
              <a:srgbClr val="3E73B5"/>
            </a:solidFill>
            <a:prstDash val="solid"/>
          </a:ln>
        </p:spPr>
      </p:sp>
      <p:sp>
        <p:nvSpPr>
          <p:cNvPr id="19" name="a1_cl12"/>
          <p:cNvSpPr txBox="1"/>
          <p:nvPr/>
        </p:nvSpPr>
        <p:spPr>
          <a:xfrm>
            <a:off x="3557016" y="274320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High</a:t>
            </a:r>
            <a:endParaRPr lang="en-US" sz="1000" dirty="0"/>
          </a:p>
        </p:txBody>
      </p:sp>
      <p:sp>
        <p:nvSpPr>
          <p:cNvPr id="20" name="a1_cell13"/>
          <p:cNvSpPr/>
          <p:nvPr/>
        </p:nvSpPr>
        <p:spPr>
          <a:xfrm>
            <a:off x="4626864" y="2194560"/>
            <a:ext cx="1024128" cy="822960"/>
          </a:xfrm>
          <a:prstGeom prst="rect">
            <a:avLst/>
          </a:prstGeom>
          <a:solidFill>
            <a:srgbClr val="1B2D78"/>
          </a:solidFill>
          <a:ln w="12700">
            <a:solidFill>
              <a:srgbClr val="1B2D78"/>
            </a:solidFill>
            <a:prstDash val="solid"/>
          </a:ln>
        </p:spPr>
      </p:sp>
      <p:sp>
        <p:nvSpPr>
          <p:cNvPr id="21" name="a1_cl13"/>
          <p:cNvSpPr txBox="1"/>
          <p:nvPr/>
        </p:nvSpPr>
        <p:spPr>
          <a:xfrm>
            <a:off x="4626864" y="274320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Extreme</a:t>
            </a:r>
            <a:endParaRPr lang="en-US" sz="1000" dirty="0"/>
          </a:p>
        </p:txBody>
      </p:sp>
      <p:sp>
        <p:nvSpPr>
          <p:cNvPr id="22" name="a1_cell14"/>
          <p:cNvSpPr/>
          <p:nvPr/>
        </p:nvSpPr>
        <p:spPr>
          <a:xfrm>
            <a:off x="5696712" y="2194560"/>
            <a:ext cx="1024128" cy="822960"/>
          </a:xfrm>
          <a:prstGeom prst="rect">
            <a:avLst/>
          </a:prstGeom>
          <a:solidFill>
            <a:srgbClr val="1B2D78"/>
          </a:solidFill>
          <a:ln w="12700">
            <a:solidFill>
              <a:srgbClr val="1B2D78"/>
            </a:solidFill>
            <a:prstDash val="solid"/>
          </a:ln>
        </p:spPr>
      </p:sp>
      <p:sp>
        <p:nvSpPr>
          <p:cNvPr id="23" name="a1_cl14"/>
          <p:cNvSpPr txBox="1"/>
          <p:nvPr/>
        </p:nvSpPr>
        <p:spPr>
          <a:xfrm>
            <a:off x="5696712" y="274320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Extreme</a:t>
            </a:r>
            <a:endParaRPr lang="en-US" sz="1000" dirty="0"/>
          </a:p>
        </p:txBody>
      </p:sp>
      <p:sp>
        <p:nvSpPr>
          <p:cNvPr id="24" name="a2_cell20"/>
          <p:cNvSpPr/>
          <p:nvPr/>
        </p:nvSpPr>
        <p:spPr>
          <a:xfrm>
            <a:off x="1417320" y="3063240"/>
            <a:ext cx="1024128" cy="822960"/>
          </a:xfrm>
          <a:prstGeom prst="rect">
            <a:avLst/>
          </a:prstGeom>
          <a:solidFill>
            <a:srgbClr val="CFE6F3"/>
          </a:solidFill>
          <a:ln w="12700">
            <a:solidFill>
              <a:srgbClr val="CFE6F3"/>
            </a:solidFill>
            <a:prstDash val="solid"/>
          </a:ln>
        </p:spPr>
      </p:sp>
      <p:sp>
        <p:nvSpPr>
          <p:cNvPr id="25" name="a2_cl20"/>
          <p:cNvSpPr txBox="1"/>
          <p:nvPr/>
        </p:nvSpPr>
        <p:spPr>
          <a:xfrm>
            <a:off x="1417320" y="361188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26" name="a2_cell21"/>
          <p:cNvSpPr/>
          <p:nvPr/>
        </p:nvSpPr>
        <p:spPr>
          <a:xfrm>
            <a:off x="2487168" y="3063240"/>
            <a:ext cx="1024128" cy="822960"/>
          </a:xfrm>
          <a:prstGeom prst="rect">
            <a:avLst/>
          </a:prstGeom>
          <a:solidFill>
            <a:srgbClr val="7FB5D9"/>
          </a:solidFill>
          <a:ln w="12700">
            <a:solidFill>
              <a:srgbClr val="7FB5D9"/>
            </a:solidFill>
            <a:prstDash val="solid"/>
          </a:ln>
        </p:spPr>
      </p:sp>
      <p:sp>
        <p:nvSpPr>
          <p:cNvPr id="27" name="a2_cl21"/>
          <p:cNvSpPr txBox="1"/>
          <p:nvPr/>
        </p:nvSpPr>
        <p:spPr>
          <a:xfrm>
            <a:off x="2487168" y="361188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28" name="a2_cell22"/>
          <p:cNvSpPr/>
          <p:nvPr/>
        </p:nvSpPr>
        <p:spPr>
          <a:xfrm>
            <a:off x="3557016" y="3063240"/>
            <a:ext cx="1024128" cy="822960"/>
          </a:xfrm>
          <a:prstGeom prst="rect">
            <a:avLst/>
          </a:prstGeom>
          <a:solidFill>
            <a:srgbClr val="7FB5D9"/>
          </a:solidFill>
          <a:ln w="12700">
            <a:solidFill>
              <a:srgbClr val="7FB5D9"/>
            </a:solidFill>
            <a:prstDash val="solid"/>
          </a:ln>
        </p:spPr>
      </p:sp>
      <p:sp>
        <p:nvSpPr>
          <p:cNvPr id="29" name="a2_cl22"/>
          <p:cNvSpPr txBox="1"/>
          <p:nvPr/>
        </p:nvSpPr>
        <p:spPr>
          <a:xfrm>
            <a:off x="3557016" y="361188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30" name="a2_cell23"/>
          <p:cNvSpPr/>
          <p:nvPr/>
        </p:nvSpPr>
        <p:spPr>
          <a:xfrm>
            <a:off x="4626864" y="3063240"/>
            <a:ext cx="1024128" cy="822960"/>
          </a:xfrm>
          <a:prstGeom prst="rect">
            <a:avLst/>
          </a:prstGeom>
          <a:solidFill>
            <a:srgbClr val="3E73B5"/>
          </a:solidFill>
          <a:ln w="12700">
            <a:solidFill>
              <a:srgbClr val="3E73B5"/>
            </a:solidFill>
            <a:prstDash val="solid"/>
          </a:ln>
        </p:spPr>
      </p:sp>
      <p:sp>
        <p:nvSpPr>
          <p:cNvPr id="31" name="a2_cl23"/>
          <p:cNvSpPr txBox="1"/>
          <p:nvPr/>
        </p:nvSpPr>
        <p:spPr>
          <a:xfrm>
            <a:off x="4626864" y="361188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High</a:t>
            </a:r>
            <a:endParaRPr lang="en-US" sz="1000" dirty="0"/>
          </a:p>
        </p:txBody>
      </p:sp>
      <p:sp>
        <p:nvSpPr>
          <p:cNvPr id="32" name="a2_cell24"/>
          <p:cNvSpPr/>
          <p:nvPr/>
        </p:nvSpPr>
        <p:spPr>
          <a:xfrm>
            <a:off x="5696712" y="3063240"/>
            <a:ext cx="1024128" cy="822960"/>
          </a:xfrm>
          <a:prstGeom prst="rect">
            <a:avLst/>
          </a:prstGeom>
          <a:solidFill>
            <a:srgbClr val="3E73B5"/>
          </a:solidFill>
          <a:ln w="12700">
            <a:solidFill>
              <a:srgbClr val="3E73B5"/>
            </a:solidFill>
            <a:prstDash val="solid"/>
          </a:ln>
        </p:spPr>
      </p:sp>
      <p:sp>
        <p:nvSpPr>
          <p:cNvPr id="33" name="a2_cl24"/>
          <p:cNvSpPr txBox="1"/>
          <p:nvPr/>
        </p:nvSpPr>
        <p:spPr>
          <a:xfrm>
            <a:off x="5696712" y="3611880"/>
            <a:ext cx="1024128" cy="237744"/>
          </a:xfrm>
          <a:prstGeom prst="rect">
            <a:avLst/>
          </a:prstGeom>
          <a:noFill/>
          <a:ln/>
        </p:spPr>
        <p:txBody>
          <a:bodyPr wrap="square" lIns="0" tIns="0" rIns="0" bIns="0" rtlCol="0" anchor="t"/>
          <a:lstStyle/>
          <a:p>
            <a:pPr algn="ctr" indent="0" marL="0">
              <a:buNone/>
            </a:pPr>
            <a:r>
              <a:rPr lang="en-US" sz="1000" b="1" dirty="0">
                <a:solidFill>
                  <a:srgbClr val="FFFFFF"/>
                </a:solidFill>
                <a:latin typeface="Calibri" pitchFamily="34" charset="0"/>
                <a:ea typeface="Calibri" pitchFamily="34" charset="-122"/>
                <a:cs typeface="Calibri" pitchFamily="34" charset="-120"/>
              </a:rPr>
              <a:t>High</a:t>
            </a:r>
            <a:endParaRPr lang="en-US" sz="1000" dirty="0"/>
          </a:p>
        </p:txBody>
      </p:sp>
      <p:sp>
        <p:nvSpPr>
          <p:cNvPr id="34" name="a4_risk24"/>
          <p:cNvSpPr txBox="1"/>
          <p:nvPr/>
        </p:nvSpPr>
        <p:spPr>
          <a:xfrm>
            <a:off x="5733288" y="3108960"/>
            <a:ext cx="950976"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R-MAT</a:t>
            </a:r>
            <a:endParaRPr lang="en-US" sz="1300" dirty="0"/>
          </a:p>
        </p:txBody>
      </p:sp>
      <p:sp>
        <p:nvSpPr>
          <p:cNvPr id="35" name="a2_cell30"/>
          <p:cNvSpPr/>
          <p:nvPr/>
        </p:nvSpPr>
        <p:spPr>
          <a:xfrm>
            <a:off x="1417320" y="3931920"/>
            <a:ext cx="1024128" cy="822960"/>
          </a:xfrm>
          <a:prstGeom prst="rect">
            <a:avLst/>
          </a:prstGeom>
          <a:solidFill>
            <a:srgbClr val="CFE6F3"/>
          </a:solidFill>
          <a:ln w="12700">
            <a:solidFill>
              <a:srgbClr val="CFE6F3"/>
            </a:solidFill>
            <a:prstDash val="solid"/>
          </a:ln>
        </p:spPr>
      </p:sp>
      <p:sp>
        <p:nvSpPr>
          <p:cNvPr id="36" name="a2_cl30"/>
          <p:cNvSpPr txBox="1"/>
          <p:nvPr/>
        </p:nvSpPr>
        <p:spPr>
          <a:xfrm>
            <a:off x="1417320" y="448056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37" name="a2_cell31"/>
          <p:cNvSpPr/>
          <p:nvPr/>
        </p:nvSpPr>
        <p:spPr>
          <a:xfrm>
            <a:off x="2487168" y="3931920"/>
            <a:ext cx="1024128" cy="822960"/>
          </a:xfrm>
          <a:prstGeom prst="rect">
            <a:avLst/>
          </a:prstGeom>
          <a:solidFill>
            <a:srgbClr val="CFE6F3"/>
          </a:solidFill>
          <a:ln w="12700">
            <a:solidFill>
              <a:srgbClr val="CFE6F3"/>
            </a:solidFill>
            <a:prstDash val="solid"/>
          </a:ln>
        </p:spPr>
      </p:sp>
      <p:sp>
        <p:nvSpPr>
          <p:cNvPr id="38" name="a2_cl31"/>
          <p:cNvSpPr txBox="1"/>
          <p:nvPr/>
        </p:nvSpPr>
        <p:spPr>
          <a:xfrm>
            <a:off x="2487168" y="448056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39" name="a2_cell32"/>
          <p:cNvSpPr/>
          <p:nvPr/>
        </p:nvSpPr>
        <p:spPr>
          <a:xfrm>
            <a:off x="3557016" y="3931920"/>
            <a:ext cx="1024128" cy="822960"/>
          </a:xfrm>
          <a:prstGeom prst="rect">
            <a:avLst/>
          </a:prstGeom>
          <a:solidFill>
            <a:srgbClr val="7FB5D9"/>
          </a:solidFill>
          <a:ln w="12700">
            <a:solidFill>
              <a:srgbClr val="7FB5D9"/>
            </a:solidFill>
            <a:prstDash val="solid"/>
          </a:ln>
        </p:spPr>
      </p:sp>
      <p:sp>
        <p:nvSpPr>
          <p:cNvPr id="40" name="a2_cl32"/>
          <p:cNvSpPr txBox="1"/>
          <p:nvPr/>
        </p:nvSpPr>
        <p:spPr>
          <a:xfrm>
            <a:off x="3557016" y="448056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41" name="a2_cell33"/>
          <p:cNvSpPr/>
          <p:nvPr/>
        </p:nvSpPr>
        <p:spPr>
          <a:xfrm>
            <a:off x="4626864" y="3931920"/>
            <a:ext cx="1024128" cy="822960"/>
          </a:xfrm>
          <a:prstGeom prst="rect">
            <a:avLst/>
          </a:prstGeom>
          <a:solidFill>
            <a:srgbClr val="7FB5D9"/>
          </a:solidFill>
          <a:ln w="12700">
            <a:solidFill>
              <a:srgbClr val="7FB5D9"/>
            </a:solidFill>
            <a:prstDash val="solid"/>
          </a:ln>
        </p:spPr>
      </p:sp>
      <p:sp>
        <p:nvSpPr>
          <p:cNvPr id="42" name="a2_cl33"/>
          <p:cNvSpPr txBox="1"/>
          <p:nvPr/>
        </p:nvSpPr>
        <p:spPr>
          <a:xfrm>
            <a:off x="4626864" y="448056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43" name="a4_risk33"/>
          <p:cNvSpPr txBox="1"/>
          <p:nvPr/>
        </p:nvSpPr>
        <p:spPr>
          <a:xfrm>
            <a:off x="4663440" y="3977640"/>
            <a:ext cx="950976" cy="502920"/>
          </a:xfrm>
          <a:prstGeom prst="rect">
            <a:avLst/>
          </a:prstGeom>
          <a:noFill/>
          <a:ln/>
        </p:spPr>
        <p:txBody>
          <a:bodyPr wrap="square" lIns="0" tIns="0" rIns="0" bIns="0" rtlCol="0" anchor="ctr"/>
          <a:lstStyle/>
          <a:p>
            <a:pPr algn="ctr" indent="0" marL="0">
              <a:buNone/>
            </a:pPr>
            <a:r>
              <a:rPr lang="en-US" sz="1000" b="1" dirty="0">
                <a:solidFill>
                  <a:srgbClr val="12233B"/>
                </a:solidFill>
                <a:latin typeface="Calibri" pitchFamily="34" charset="0"/>
                <a:ea typeface="Calibri" pitchFamily="34" charset="-122"/>
                <a:cs typeface="Calibri" pitchFamily="34" charset="-120"/>
              </a:rPr>
              <a:t>R-LAB, R-RWK, R-WX, R-SAFE, R-SKILL</a:t>
            </a:r>
            <a:endParaRPr lang="en-US" sz="1000" dirty="0"/>
          </a:p>
        </p:txBody>
      </p:sp>
      <p:sp>
        <p:nvSpPr>
          <p:cNvPr id="44" name="a2_cell34"/>
          <p:cNvSpPr/>
          <p:nvPr/>
        </p:nvSpPr>
        <p:spPr>
          <a:xfrm>
            <a:off x="5696712" y="3931920"/>
            <a:ext cx="1024128" cy="822960"/>
          </a:xfrm>
          <a:prstGeom prst="rect">
            <a:avLst/>
          </a:prstGeom>
          <a:solidFill>
            <a:srgbClr val="7FB5D9"/>
          </a:solidFill>
          <a:ln w="12700">
            <a:solidFill>
              <a:srgbClr val="7FB5D9"/>
            </a:solidFill>
            <a:prstDash val="solid"/>
          </a:ln>
        </p:spPr>
      </p:sp>
      <p:sp>
        <p:nvSpPr>
          <p:cNvPr id="45" name="a2_cl34"/>
          <p:cNvSpPr txBox="1"/>
          <p:nvPr/>
        </p:nvSpPr>
        <p:spPr>
          <a:xfrm>
            <a:off x="5696712" y="448056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Moderate</a:t>
            </a:r>
            <a:endParaRPr lang="en-US" sz="1000" dirty="0"/>
          </a:p>
        </p:txBody>
      </p:sp>
      <p:sp>
        <p:nvSpPr>
          <p:cNvPr id="46" name="a3_cell40"/>
          <p:cNvSpPr/>
          <p:nvPr/>
        </p:nvSpPr>
        <p:spPr>
          <a:xfrm>
            <a:off x="1417320" y="4800600"/>
            <a:ext cx="1024128" cy="822960"/>
          </a:xfrm>
          <a:prstGeom prst="rect">
            <a:avLst/>
          </a:prstGeom>
          <a:solidFill>
            <a:srgbClr val="CFE6F3"/>
          </a:solidFill>
          <a:ln w="12700">
            <a:solidFill>
              <a:srgbClr val="CFE6F3"/>
            </a:solidFill>
            <a:prstDash val="solid"/>
          </a:ln>
        </p:spPr>
      </p:sp>
      <p:sp>
        <p:nvSpPr>
          <p:cNvPr id="47" name="a3_cl40"/>
          <p:cNvSpPr txBox="1"/>
          <p:nvPr/>
        </p:nvSpPr>
        <p:spPr>
          <a:xfrm>
            <a:off x="1417320" y="534924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48" name="a3_cell41"/>
          <p:cNvSpPr/>
          <p:nvPr/>
        </p:nvSpPr>
        <p:spPr>
          <a:xfrm>
            <a:off x="2487168" y="4800600"/>
            <a:ext cx="1024128" cy="822960"/>
          </a:xfrm>
          <a:prstGeom prst="rect">
            <a:avLst/>
          </a:prstGeom>
          <a:solidFill>
            <a:srgbClr val="CFE6F3"/>
          </a:solidFill>
          <a:ln w="12700">
            <a:solidFill>
              <a:srgbClr val="CFE6F3"/>
            </a:solidFill>
            <a:prstDash val="solid"/>
          </a:ln>
        </p:spPr>
      </p:sp>
      <p:sp>
        <p:nvSpPr>
          <p:cNvPr id="49" name="a3_cl41"/>
          <p:cNvSpPr txBox="1"/>
          <p:nvPr/>
        </p:nvSpPr>
        <p:spPr>
          <a:xfrm>
            <a:off x="2487168" y="534924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50" name="a3_cell42"/>
          <p:cNvSpPr/>
          <p:nvPr/>
        </p:nvSpPr>
        <p:spPr>
          <a:xfrm>
            <a:off x="3557016" y="4800600"/>
            <a:ext cx="1024128" cy="822960"/>
          </a:xfrm>
          <a:prstGeom prst="rect">
            <a:avLst/>
          </a:prstGeom>
          <a:solidFill>
            <a:srgbClr val="CFE6F3"/>
          </a:solidFill>
          <a:ln w="12700">
            <a:solidFill>
              <a:srgbClr val="CFE6F3"/>
            </a:solidFill>
            <a:prstDash val="solid"/>
          </a:ln>
        </p:spPr>
      </p:sp>
      <p:sp>
        <p:nvSpPr>
          <p:cNvPr id="51" name="a3_cl42"/>
          <p:cNvSpPr txBox="1"/>
          <p:nvPr/>
        </p:nvSpPr>
        <p:spPr>
          <a:xfrm>
            <a:off x="3557016" y="534924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52" name="a4_risk42"/>
          <p:cNvSpPr txBox="1"/>
          <p:nvPr/>
        </p:nvSpPr>
        <p:spPr>
          <a:xfrm>
            <a:off x="3593592" y="4846320"/>
            <a:ext cx="950976" cy="502920"/>
          </a:xfrm>
          <a:prstGeom prst="rect">
            <a:avLst/>
          </a:prstGeom>
          <a:noFill/>
          <a:ln/>
        </p:spPr>
        <p:txBody>
          <a:bodyPr wrap="square" lIns="0" tIns="0" rIns="0" bIns="0" rtlCol="0" anchor="ctr"/>
          <a:lstStyle/>
          <a:p>
            <a:pPr algn="ctr" indent="0" marL="0">
              <a:buNone/>
            </a:pPr>
            <a:r>
              <a:rPr lang="en-US" sz="1300" b="1" dirty="0">
                <a:solidFill>
                  <a:srgbClr val="12233B"/>
                </a:solidFill>
                <a:latin typeface="Calibri" pitchFamily="34" charset="0"/>
                <a:ea typeface="Calibri" pitchFamily="34" charset="-122"/>
                <a:cs typeface="Calibri" pitchFamily="34" charset="-120"/>
              </a:rPr>
              <a:t>R-PLAN</a:t>
            </a:r>
            <a:endParaRPr lang="en-US" sz="1300" dirty="0"/>
          </a:p>
        </p:txBody>
      </p:sp>
      <p:sp>
        <p:nvSpPr>
          <p:cNvPr id="53" name="a3_cell43"/>
          <p:cNvSpPr/>
          <p:nvPr/>
        </p:nvSpPr>
        <p:spPr>
          <a:xfrm>
            <a:off x="4626864" y="4800600"/>
            <a:ext cx="1024128" cy="822960"/>
          </a:xfrm>
          <a:prstGeom prst="rect">
            <a:avLst/>
          </a:prstGeom>
          <a:solidFill>
            <a:srgbClr val="CFE6F3"/>
          </a:solidFill>
          <a:ln w="12700">
            <a:solidFill>
              <a:srgbClr val="CFE6F3"/>
            </a:solidFill>
            <a:prstDash val="solid"/>
          </a:ln>
        </p:spPr>
      </p:sp>
      <p:sp>
        <p:nvSpPr>
          <p:cNvPr id="54" name="a3_cl43"/>
          <p:cNvSpPr txBox="1"/>
          <p:nvPr/>
        </p:nvSpPr>
        <p:spPr>
          <a:xfrm>
            <a:off x="4626864" y="534924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55" name="a3_cell44"/>
          <p:cNvSpPr/>
          <p:nvPr/>
        </p:nvSpPr>
        <p:spPr>
          <a:xfrm>
            <a:off x="5696712" y="4800600"/>
            <a:ext cx="1024128" cy="822960"/>
          </a:xfrm>
          <a:prstGeom prst="rect">
            <a:avLst/>
          </a:prstGeom>
          <a:solidFill>
            <a:srgbClr val="CFE6F3"/>
          </a:solidFill>
          <a:ln w="12700">
            <a:solidFill>
              <a:srgbClr val="CFE6F3"/>
            </a:solidFill>
            <a:prstDash val="solid"/>
          </a:ln>
        </p:spPr>
      </p:sp>
      <p:sp>
        <p:nvSpPr>
          <p:cNvPr id="56" name="a3_cl44"/>
          <p:cNvSpPr txBox="1"/>
          <p:nvPr/>
        </p:nvSpPr>
        <p:spPr>
          <a:xfrm>
            <a:off x="5696712" y="5349240"/>
            <a:ext cx="1024128" cy="237744"/>
          </a:xfrm>
          <a:prstGeom prst="rect">
            <a:avLst/>
          </a:prstGeom>
          <a:noFill/>
          <a:ln/>
        </p:spPr>
        <p:txBody>
          <a:bodyPr wrap="square" lIns="0" tIns="0" rIns="0" bIns="0" rtlCol="0" anchor="t"/>
          <a:lstStyle/>
          <a:p>
            <a:pPr algn="ctr" indent="0" marL="0">
              <a:buNone/>
            </a:pPr>
            <a:r>
              <a:rPr lang="en-US" sz="1000" b="1" dirty="0">
                <a:solidFill>
                  <a:srgbClr val="12233B"/>
                </a:solidFill>
                <a:latin typeface="Calibri" pitchFamily="34" charset="0"/>
                <a:ea typeface="Calibri" pitchFamily="34" charset="-122"/>
                <a:cs typeface="Calibri" pitchFamily="34" charset="-120"/>
              </a:rPr>
              <a:t>Low</a:t>
            </a:r>
            <a:endParaRPr lang="en-US" sz="1000" dirty="0"/>
          </a:p>
        </p:txBody>
      </p:sp>
      <p:sp>
        <p:nvSpPr>
          <p:cNvPr id="57" name="a5_xl1"/>
          <p:cNvSpPr txBox="1"/>
          <p:nvPr/>
        </p:nvSpPr>
        <p:spPr>
          <a:xfrm>
            <a:off x="1417320" y="5687568"/>
            <a:ext cx="1024128" cy="274320"/>
          </a:xfrm>
          <a:prstGeom prst="rect">
            <a:avLst/>
          </a:prstGeom>
          <a:noFill/>
          <a:ln/>
        </p:spPr>
        <p:txBody>
          <a:bodyPr wrap="square" lIns="0" tIns="0" rIns="0" bIns="0" rtlCol="0" anchor="t"/>
          <a:lstStyle/>
          <a:p>
            <a:pPr algn="ctr" indent="0" marL="0">
              <a:buNone/>
            </a:pPr>
            <a:r>
              <a:rPr lang="en-US" sz="1400" b="1" dirty="0">
                <a:solidFill>
                  <a:srgbClr val="55708A"/>
                </a:solidFill>
                <a:latin typeface="Calibri" pitchFamily="34" charset="0"/>
                <a:ea typeface="Calibri" pitchFamily="34" charset="-122"/>
                <a:cs typeface="Calibri" pitchFamily="34" charset="-120"/>
              </a:rPr>
              <a:t>1</a:t>
            </a:r>
            <a:endParaRPr lang="en-US" sz="1400" dirty="0"/>
          </a:p>
        </p:txBody>
      </p:sp>
      <p:sp>
        <p:nvSpPr>
          <p:cNvPr id="58" name="a5_yl1"/>
          <p:cNvSpPr txBox="1"/>
          <p:nvPr/>
        </p:nvSpPr>
        <p:spPr>
          <a:xfrm>
            <a:off x="1051560" y="1325880"/>
            <a:ext cx="274320" cy="822960"/>
          </a:xfrm>
          <a:prstGeom prst="rect">
            <a:avLst/>
          </a:prstGeom>
          <a:noFill/>
          <a:ln/>
        </p:spPr>
        <p:txBody>
          <a:bodyPr wrap="square" lIns="0" tIns="0" rIns="0" bIns="0" rtlCol="0" anchor="ctr"/>
          <a:lstStyle/>
          <a:p>
            <a:pPr algn="ctr" indent="0" marL="0">
              <a:buNone/>
            </a:pPr>
            <a:r>
              <a:rPr lang="en-US" sz="1400" b="1" dirty="0">
                <a:solidFill>
                  <a:srgbClr val="55708A"/>
                </a:solidFill>
                <a:latin typeface="Calibri" pitchFamily="34" charset="0"/>
                <a:ea typeface="Calibri" pitchFamily="34" charset="-122"/>
                <a:cs typeface="Calibri" pitchFamily="34" charset="-120"/>
              </a:rPr>
              <a:t>5</a:t>
            </a:r>
            <a:endParaRPr lang="en-US" sz="1400" dirty="0"/>
          </a:p>
        </p:txBody>
      </p:sp>
      <p:sp>
        <p:nvSpPr>
          <p:cNvPr id="59" name="a5_xl2"/>
          <p:cNvSpPr txBox="1"/>
          <p:nvPr/>
        </p:nvSpPr>
        <p:spPr>
          <a:xfrm>
            <a:off x="2487168" y="5687568"/>
            <a:ext cx="1024128" cy="274320"/>
          </a:xfrm>
          <a:prstGeom prst="rect">
            <a:avLst/>
          </a:prstGeom>
          <a:noFill/>
          <a:ln/>
        </p:spPr>
        <p:txBody>
          <a:bodyPr wrap="square" lIns="0" tIns="0" rIns="0" bIns="0" rtlCol="0" anchor="t"/>
          <a:lstStyle/>
          <a:p>
            <a:pPr algn="ctr" indent="0" marL="0">
              <a:buNone/>
            </a:pPr>
            <a:r>
              <a:rPr lang="en-US" sz="1400" b="1" dirty="0">
                <a:solidFill>
                  <a:srgbClr val="55708A"/>
                </a:solidFill>
                <a:latin typeface="Calibri" pitchFamily="34" charset="0"/>
                <a:ea typeface="Calibri" pitchFamily="34" charset="-122"/>
                <a:cs typeface="Calibri" pitchFamily="34" charset="-120"/>
              </a:rPr>
              <a:t>2</a:t>
            </a:r>
            <a:endParaRPr lang="en-US" sz="1400" dirty="0"/>
          </a:p>
        </p:txBody>
      </p:sp>
      <p:sp>
        <p:nvSpPr>
          <p:cNvPr id="60" name="a5_yl2"/>
          <p:cNvSpPr txBox="1"/>
          <p:nvPr/>
        </p:nvSpPr>
        <p:spPr>
          <a:xfrm>
            <a:off x="1051560" y="2194560"/>
            <a:ext cx="274320" cy="822960"/>
          </a:xfrm>
          <a:prstGeom prst="rect">
            <a:avLst/>
          </a:prstGeom>
          <a:noFill/>
          <a:ln/>
        </p:spPr>
        <p:txBody>
          <a:bodyPr wrap="square" lIns="0" tIns="0" rIns="0" bIns="0" rtlCol="0" anchor="ctr"/>
          <a:lstStyle/>
          <a:p>
            <a:pPr algn="ctr" indent="0" marL="0">
              <a:buNone/>
            </a:pPr>
            <a:r>
              <a:rPr lang="en-US" sz="1400" b="1" dirty="0">
                <a:solidFill>
                  <a:srgbClr val="55708A"/>
                </a:solidFill>
                <a:latin typeface="Calibri" pitchFamily="34" charset="0"/>
                <a:ea typeface="Calibri" pitchFamily="34" charset="-122"/>
                <a:cs typeface="Calibri" pitchFamily="34" charset="-120"/>
              </a:rPr>
              <a:t>4</a:t>
            </a:r>
            <a:endParaRPr lang="en-US" sz="1400" dirty="0"/>
          </a:p>
        </p:txBody>
      </p:sp>
      <p:sp>
        <p:nvSpPr>
          <p:cNvPr id="61" name="a5_xl3"/>
          <p:cNvSpPr txBox="1"/>
          <p:nvPr/>
        </p:nvSpPr>
        <p:spPr>
          <a:xfrm>
            <a:off x="3557016" y="5687568"/>
            <a:ext cx="1024128" cy="274320"/>
          </a:xfrm>
          <a:prstGeom prst="rect">
            <a:avLst/>
          </a:prstGeom>
          <a:noFill/>
          <a:ln/>
        </p:spPr>
        <p:txBody>
          <a:bodyPr wrap="square" lIns="0" tIns="0" rIns="0" bIns="0" rtlCol="0" anchor="t"/>
          <a:lstStyle/>
          <a:p>
            <a:pPr algn="ctr" indent="0" marL="0">
              <a:buNone/>
            </a:pPr>
            <a:r>
              <a:rPr lang="en-US" sz="1400" b="1" dirty="0">
                <a:solidFill>
                  <a:srgbClr val="55708A"/>
                </a:solidFill>
                <a:latin typeface="Calibri" pitchFamily="34" charset="0"/>
                <a:ea typeface="Calibri" pitchFamily="34" charset="-122"/>
                <a:cs typeface="Calibri" pitchFamily="34" charset="-120"/>
              </a:rPr>
              <a:t>3</a:t>
            </a:r>
            <a:endParaRPr lang="en-US" sz="1400" dirty="0"/>
          </a:p>
        </p:txBody>
      </p:sp>
      <p:sp>
        <p:nvSpPr>
          <p:cNvPr id="62" name="a5_yl3"/>
          <p:cNvSpPr txBox="1"/>
          <p:nvPr/>
        </p:nvSpPr>
        <p:spPr>
          <a:xfrm>
            <a:off x="1051560" y="3063240"/>
            <a:ext cx="274320" cy="822960"/>
          </a:xfrm>
          <a:prstGeom prst="rect">
            <a:avLst/>
          </a:prstGeom>
          <a:noFill/>
          <a:ln/>
        </p:spPr>
        <p:txBody>
          <a:bodyPr wrap="square" lIns="0" tIns="0" rIns="0" bIns="0" rtlCol="0" anchor="ctr"/>
          <a:lstStyle/>
          <a:p>
            <a:pPr algn="ctr" indent="0" marL="0">
              <a:buNone/>
            </a:pPr>
            <a:r>
              <a:rPr lang="en-US" sz="1400" b="1" dirty="0">
                <a:solidFill>
                  <a:srgbClr val="55708A"/>
                </a:solidFill>
                <a:latin typeface="Calibri" pitchFamily="34" charset="0"/>
                <a:ea typeface="Calibri" pitchFamily="34" charset="-122"/>
                <a:cs typeface="Calibri" pitchFamily="34" charset="-120"/>
              </a:rPr>
              <a:t>3</a:t>
            </a:r>
            <a:endParaRPr lang="en-US" sz="1400" dirty="0"/>
          </a:p>
        </p:txBody>
      </p:sp>
      <p:sp>
        <p:nvSpPr>
          <p:cNvPr id="63" name="a5_xl4"/>
          <p:cNvSpPr txBox="1"/>
          <p:nvPr/>
        </p:nvSpPr>
        <p:spPr>
          <a:xfrm>
            <a:off x="4626864" y="5687568"/>
            <a:ext cx="1024128" cy="274320"/>
          </a:xfrm>
          <a:prstGeom prst="rect">
            <a:avLst/>
          </a:prstGeom>
          <a:noFill/>
          <a:ln/>
        </p:spPr>
        <p:txBody>
          <a:bodyPr wrap="square" lIns="0" tIns="0" rIns="0" bIns="0" rtlCol="0" anchor="t"/>
          <a:lstStyle/>
          <a:p>
            <a:pPr algn="ctr" indent="0" marL="0">
              <a:buNone/>
            </a:pPr>
            <a:r>
              <a:rPr lang="en-US" sz="1400" b="1" dirty="0">
                <a:solidFill>
                  <a:srgbClr val="55708A"/>
                </a:solidFill>
                <a:latin typeface="Calibri" pitchFamily="34" charset="0"/>
                <a:ea typeface="Calibri" pitchFamily="34" charset="-122"/>
                <a:cs typeface="Calibri" pitchFamily="34" charset="-120"/>
              </a:rPr>
              <a:t>4</a:t>
            </a:r>
            <a:endParaRPr lang="en-US" sz="1400" dirty="0"/>
          </a:p>
        </p:txBody>
      </p:sp>
      <p:sp>
        <p:nvSpPr>
          <p:cNvPr id="64" name="a5_yl4"/>
          <p:cNvSpPr txBox="1"/>
          <p:nvPr/>
        </p:nvSpPr>
        <p:spPr>
          <a:xfrm>
            <a:off x="1051560" y="3931920"/>
            <a:ext cx="274320" cy="822960"/>
          </a:xfrm>
          <a:prstGeom prst="rect">
            <a:avLst/>
          </a:prstGeom>
          <a:noFill/>
          <a:ln/>
        </p:spPr>
        <p:txBody>
          <a:bodyPr wrap="square" lIns="0" tIns="0" rIns="0" bIns="0" rtlCol="0" anchor="ctr"/>
          <a:lstStyle/>
          <a:p>
            <a:pPr algn="ctr" indent="0" marL="0">
              <a:buNone/>
            </a:pPr>
            <a:r>
              <a:rPr lang="en-US" sz="1400" b="1" dirty="0">
                <a:solidFill>
                  <a:srgbClr val="55708A"/>
                </a:solidFill>
                <a:latin typeface="Calibri" pitchFamily="34" charset="0"/>
                <a:ea typeface="Calibri" pitchFamily="34" charset="-122"/>
                <a:cs typeface="Calibri" pitchFamily="34" charset="-120"/>
              </a:rPr>
              <a:t>2</a:t>
            </a:r>
            <a:endParaRPr lang="en-US" sz="1400" dirty="0"/>
          </a:p>
        </p:txBody>
      </p:sp>
      <p:sp>
        <p:nvSpPr>
          <p:cNvPr id="65" name="a5_xl5"/>
          <p:cNvSpPr txBox="1"/>
          <p:nvPr/>
        </p:nvSpPr>
        <p:spPr>
          <a:xfrm>
            <a:off x="5696712" y="5687568"/>
            <a:ext cx="1024128" cy="274320"/>
          </a:xfrm>
          <a:prstGeom prst="rect">
            <a:avLst/>
          </a:prstGeom>
          <a:noFill/>
          <a:ln/>
        </p:spPr>
        <p:txBody>
          <a:bodyPr wrap="square" lIns="0" tIns="0" rIns="0" bIns="0" rtlCol="0" anchor="t"/>
          <a:lstStyle/>
          <a:p>
            <a:pPr algn="ctr" indent="0" marL="0">
              <a:buNone/>
            </a:pPr>
            <a:r>
              <a:rPr lang="en-US" sz="1400" b="1" dirty="0">
                <a:solidFill>
                  <a:srgbClr val="55708A"/>
                </a:solidFill>
                <a:latin typeface="Calibri" pitchFamily="34" charset="0"/>
                <a:ea typeface="Calibri" pitchFamily="34" charset="-122"/>
                <a:cs typeface="Calibri" pitchFamily="34" charset="-120"/>
              </a:rPr>
              <a:t>5</a:t>
            </a:r>
            <a:endParaRPr lang="en-US" sz="1400" dirty="0"/>
          </a:p>
        </p:txBody>
      </p:sp>
      <p:sp>
        <p:nvSpPr>
          <p:cNvPr id="66" name="a5_yl5"/>
          <p:cNvSpPr txBox="1"/>
          <p:nvPr/>
        </p:nvSpPr>
        <p:spPr>
          <a:xfrm>
            <a:off x="1051560" y="4800600"/>
            <a:ext cx="274320" cy="822960"/>
          </a:xfrm>
          <a:prstGeom prst="rect">
            <a:avLst/>
          </a:prstGeom>
          <a:noFill/>
          <a:ln/>
        </p:spPr>
        <p:txBody>
          <a:bodyPr wrap="square" lIns="0" tIns="0" rIns="0" bIns="0" rtlCol="0" anchor="ctr"/>
          <a:lstStyle/>
          <a:p>
            <a:pPr algn="ctr" indent="0" marL="0">
              <a:buNone/>
            </a:pPr>
            <a:r>
              <a:rPr lang="en-US" sz="1400" b="1" dirty="0">
                <a:solidFill>
                  <a:srgbClr val="55708A"/>
                </a:solidFill>
                <a:latin typeface="Calibri" pitchFamily="34" charset="0"/>
                <a:ea typeface="Calibri" pitchFamily="34" charset="-122"/>
                <a:cs typeface="Calibri" pitchFamily="34" charset="-120"/>
              </a:rPr>
              <a:t>1</a:t>
            </a:r>
            <a:endParaRPr lang="en-US" sz="1400" dirty="0"/>
          </a:p>
        </p:txBody>
      </p:sp>
      <p:sp>
        <p:nvSpPr>
          <p:cNvPr id="67" name="a5_xt"/>
          <p:cNvSpPr txBox="1"/>
          <p:nvPr/>
        </p:nvSpPr>
        <p:spPr>
          <a:xfrm>
            <a:off x="1417320" y="5961888"/>
            <a:ext cx="5349240" cy="274320"/>
          </a:xfrm>
          <a:prstGeom prst="rect">
            <a:avLst/>
          </a:prstGeom>
          <a:noFill/>
          <a:ln/>
        </p:spPr>
        <p:txBody>
          <a:bodyPr wrap="square" lIns="0" tIns="0" rIns="0" bIns="0" rtlCol="0" anchor="t"/>
          <a:lstStyle/>
          <a:p>
            <a:pPr algn="ctr" indent="0" marL="0">
              <a:buNone/>
            </a:pPr>
            <a:r>
              <a:rPr lang="en-US" sz="1200" i="1" dirty="0">
                <a:solidFill>
                  <a:srgbClr val="55708A"/>
                </a:solidFill>
                <a:latin typeface="Calibri" pitchFamily="34" charset="0"/>
                <a:ea typeface="Calibri" pitchFamily="34" charset="-122"/>
                <a:cs typeface="Calibri" pitchFamily="34" charset="-120"/>
              </a:rPr>
              <a:t>Impact class (expected delay as a fraction of planned duration)</a:t>
            </a:r>
            <a:endParaRPr lang="en-US" sz="1200" dirty="0"/>
          </a:p>
        </p:txBody>
      </p:sp>
      <p:sp>
        <p:nvSpPr>
          <p:cNvPr id="68" name="a5_yt"/>
          <p:cNvSpPr txBox="1"/>
          <p:nvPr/>
        </p:nvSpPr>
        <p:spPr>
          <a:xfrm>
            <a:off x="502920" y="2926080"/>
            <a:ext cx="640080" cy="274320"/>
          </a:xfrm>
          <a:prstGeom prst="rect">
            <a:avLst/>
          </a:prstGeom>
          <a:noFill/>
          <a:ln/>
        </p:spPr>
        <p:txBody>
          <a:bodyPr wrap="square" lIns="0" tIns="0" rIns="0" bIns="0" rtlCol="0" anchor="t"/>
          <a:lstStyle/>
          <a:p>
            <a:pPr indent="0" marL="0">
              <a:buNone/>
            </a:pPr>
            <a:r>
              <a:rPr lang="en-US" sz="1200" i="1" dirty="0">
                <a:solidFill>
                  <a:srgbClr val="55708A"/>
                </a:solidFill>
                <a:latin typeface="Calibri" pitchFamily="34" charset="0"/>
                <a:ea typeface="Calibri" pitchFamily="34" charset="-122"/>
                <a:cs typeface="Calibri" pitchFamily="34" charset="-120"/>
              </a:rPr>
              <a:t>p class</a:t>
            </a:r>
            <a:endParaRPr lang="en-US" sz="1200" dirty="0"/>
          </a:p>
        </p:txBody>
      </p:sp>
      <p:sp>
        <p:nvSpPr>
          <p:cNvPr id="69" name="a6_lg0"/>
          <p:cNvSpPr/>
          <p:nvPr/>
        </p:nvSpPr>
        <p:spPr>
          <a:xfrm>
            <a:off x="7589520" y="1417320"/>
            <a:ext cx="274320" cy="274320"/>
          </a:xfrm>
          <a:prstGeom prst="rect">
            <a:avLst/>
          </a:prstGeom>
          <a:solidFill>
            <a:srgbClr val="CFE6F3"/>
          </a:solidFill>
          <a:ln w="12700">
            <a:solidFill>
              <a:srgbClr val="CFE6F3"/>
            </a:solidFill>
            <a:prstDash val="solid"/>
          </a:ln>
        </p:spPr>
      </p:sp>
      <p:sp>
        <p:nvSpPr>
          <p:cNvPr id="70" name="a6_lgt0"/>
          <p:cNvSpPr txBox="1"/>
          <p:nvPr/>
        </p:nvSpPr>
        <p:spPr>
          <a:xfrm>
            <a:off x="8001000" y="1371600"/>
            <a:ext cx="3474720" cy="365760"/>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Low  (score ≤ 5)</a:t>
            </a:r>
            <a:endParaRPr lang="en-US" sz="1400" dirty="0"/>
          </a:p>
        </p:txBody>
      </p:sp>
      <p:sp>
        <p:nvSpPr>
          <p:cNvPr id="71" name="a6_lg1"/>
          <p:cNvSpPr/>
          <p:nvPr/>
        </p:nvSpPr>
        <p:spPr>
          <a:xfrm>
            <a:off x="7589520" y="1874520"/>
            <a:ext cx="274320" cy="274320"/>
          </a:xfrm>
          <a:prstGeom prst="rect">
            <a:avLst/>
          </a:prstGeom>
          <a:solidFill>
            <a:srgbClr val="7FB5D9"/>
          </a:solidFill>
          <a:ln w="12700">
            <a:solidFill>
              <a:srgbClr val="7FB5D9"/>
            </a:solidFill>
            <a:prstDash val="solid"/>
          </a:ln>
        </p:spPr>
      </p:sp>
      <p:sp>
        <p:nvSpPr>
          <p:cNvPr id="72" name="a6_lgt1"/>
          <p:cNvSpPr txBox="1"/>
          <p:nvPr/>
        </p:nvSpPr>
        <p:spPr>
          <a:xfrm>
            <a:off x="8001000" y="1828800"/>
            <a:ext cx="3474720" cy="365760"/>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Moderate  (6 to 10)</a:t>
            </a:r>
            <a:endParaRPr lang="en-US" sz="1400" dirty="0"/>
          </a:p>
        </p:txBody>
      </p:sp>
      <p:sp>
        <p:nvSpPr>
          <p:cNvPr id="73" name="a6_lg2"/>
          <p:cNvSpPr/>
          <p:nvPr/>
        </p:nvSpPr>
        <p:spPr>
          <a:xfrm>
            <a:off x="7589520" y="2331720"/>
            <a:ext cx="274320" cy="274320"/>
          </a:xfrm>
          <a:prstGeom prst="rect">
            <a:avLst/>
          </a:prstGeom>
          <a:solidFill>
            <a:srgbClr val="3E73B5"/>
          </a:solidFill>
          <a:ln w="12700">
            <a:solidFill>
              <a:srgbClr val="3E73B5"/>
            </a:solidFill>
            <a:prstDash val="solid"/>
          </a:ln>
        </p:spPr>
      </p:sp>
      <p:sp>
        <p:nvSpPr>
          <p:cNvPr id="74" name="a6_lgt2"/>
          <p:cNvSpPr txBox="1"/>
          <p:nvPr/>
        </p:nvSpPr>
        <p:spPr>
          <a:xfrm>
            <a:off x="8001000" y="2286000"/>
            <a:ext cx="3474720" cy="365760"/>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High  (11 to 15)</a:t>
            </a:r>
            <a:endParaRPr lang="en-US" sz="1400" dirty="0"/>
          </a:p>
        </p:txBody>
      </p:sp>
      <p:sp>
        <p:nvSpPr>
          <p:cNvPr id="75" name="a6_lg3"/>
          <p:cNvSpPr/>
          <p:nvPr/>
        </p:nvSpPr>
        <p:spPr>
          <a:xfrm>
            <a:off x="7589520" y="2788920"/>
            <a:ext cx="274320" cy="274320"/>
          </a:xfrm>
          <a:prstGeom prst="rect">
            <a:avLst/>
          </a:prstGeom>
          <a:solidFill>
            <a:srgbClr val="1B2D78"/>
          </a:solidFill>
          <a:ln w="12700">
            <a:solidFill>
              <a:srgbClr val="1B2D78"/>
            </a:solidFill>
            <a:prstDash val="solid"/>
          </a:ln>
        </p:spPr>
      </p:sp>
      <p:sp>
        <p:nvSpPr>
          <p:cNvPr id="76" name="a6_lgt3"/>
          <p:cNvSpPr txBox="1"/>
          <p:nvPr/>
        </p:nvSpPr>
        <p:spPr>
          <a:xfrm>
            <a:off x="8001000" y="2743200"/>
            <a:ext cx="3474720" cy="365760"/>
          </a:xfrm>
          <a:prstGeom prst="rect">
            <a:avLst/>
          </a:prstGeom>
          <a:noFill/>
          <a:ln/>
        </p:spPr>
        <p:txBody>
          <a:bodyPr wrap="square" lIns="0" tIns="0" rIns="0" bIns="0" rtlCol="0" anchor="ctr"/>
          <a:lstStyle/>
          <a:p>
            <a:pPr indent="0" marL="0">
              <a:buNone/>
            </a:pPr>
            <a:r>
              <a:rPr lang="en-US" sz="1400" dirty="0">
                <a:solidFill>
                  <a:srgbClr val="12233B"/>
                </a:solidFill>
                <a:latin typeface="Calibri" pitchFamily="34" charset="0"/>
                <a:ea typeface="Calibri" pitchFamily="34" charset="-122"/>
                <a:cs typeface="Calibri" pitchFamily="34" charset="-120"/>
              </a:rPr>
              <a:t>Extreme  (≥ 16)</a:t>
            </a:r>
            <a:endParaRPr lang="en-US" sz="1400" dirty="0"/>
          </a:p>
        </p:txBody>
      </p:sp>
      <p:sp>
        <p:nvSpPr>
          <p:cNvPr id="77" name="a7_note"/>
          <p:cNvSpPr/>
          <p:nvPr/>
        </p:nvSpPr>
        <p:spPr>
          <a:xfrm>
            <a:off x="7589520" y="3383280"/>
            <a:ext cx="4069080" cy="960120"/>
          </a:xfrm>
          <a:prstGeom prst="roundRect">
            <a:avLst>
              <a:gd name="adj" fmla="val 9524"/>
            </a:avLst>
          </a:prstGeom>
          <a:solidFill>
            <a:srgbClr val="DCEAF6"/>
          </a:solidFill>
          <a:ln w="12700">
            <a:solidFill>
              <a:srgbClr val="DCEAF6"/>
            </a:solidFill>
            <a:prstDash val="solid"/>
          </a:ln>
        </p:spPr>
      </p:sp>
      <p:sp>
        <p:nvSpPr>
          <p:cNvPr id="78" name="a7_notet"/>
          <p:cNvSpPr txBox="1"/>
          <p:nvPr/>
        </p:nvSpPr>
        <p:spPr>
          <a:xfrm>
            <a:off x="7772400" y="3383280"/>
            <a:ext cx="3703320" cy="960120"/>
          </a:xfrm>
          <a:prstGeom prst="rect">
            <a:avLst/>
          </a:prstGeom>
          <a:noFill/>
          <a:ln/>
        </p:spPr>
        <p:txBody>
          <a:bodyPr wrap="square" lIns="0" tIns="0" rIns="0" bIns="0" rtlCol="0" anchor="ctr"/>
          <a:lstStyle/>
          <a:p>
            <a:pPr indent="0" marL="0">
              <a:buNone/>
            </a:pPr>
            <a:r>
              <a:rPr lang="en-US" sz="1200" dirty="0">
                <a:solidFill>
                  <a:srgbClr val="12233B"/>
                </a:solidFill>
                <a:latin typeface="Calibri" pitchFamily="34" charset="0"/>
                <a:ea typeface="Calibri" pitchFamily="34" charset="-122"/>
                <a:cs typeface="Calibri" pitchFamily="34" charset="-120"/>
              </a:rPr>
              <a:t>A risk in p class 1 is Low whatever its impact (a known weakness of multiplicative matrices, Cox 2008). The tool lists impact-class-5 risks separately.</a:t>
            </a:r>
            <a:endParaRPr lang="en-US" sz="1200" dirty="0"/>
          </a:p>
        </p:txBody>
      </p:sp>
      <p:sp>
        <p:nvSpPr>
          <p:cNvPr id="79" name="a8_imgframe"/>
          <p:cNvSpPr/>
          <p:nvPr/>
        </p:nvSpPr>
        <p:spPr>
          <a:xfrm>
            <a:off x="7589520" y="4526280"/>
            <a:ext cx="4069080" cy="1508760"/>
          </a:xfrm>
          <a:prstGeom prst="roundRect">
            <a:avLst>
              <a:gd name="adj" fmla="val 4848"/>
            </a:avLst>
          </a:prstGeom>
          <a:solidFill>
            <a:srgbClr val="EFF5FA"/>
          </a:solidFill>
          <a:ln w="15875">
            <a:solidFill>
              <a:srgbClr val="2F6C9A"/>
            </a:solidFill>
            <a:prstDash val="dash"/>
          </a:ln>
        </p:spPr>
      </p:sp>
      <p:sp>
        <p:nvSpPr>
          <p:cNvPr id="80" name="a8_imglabel"/>
          <p:cNvSpPr txBox="1"/>
          <p:nvPr/>
        </p:nvSpPr>
        <p:spPr>
          <a:xfrm>
            <a:off x="7726680" y="4526280"/>
            <a:ext cx="3794760" cy="150876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screenshot: matrix screen of the live tool</a:t>
            </a:r>
            <a:endParaRPr lang="en-US" sz="1600" dirty="0"/>
          </a:p>
        </p:txBody>
      </p:sp>
      <p:sp>
        <p:nvSpPr>
          <p:cNvPr id="81" name="Text 78"/>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ILLUSTRATIVE example case; levels computed with the tool thresholds 5 / 10 / 15</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2" fill="hold">
                      <p:stCondLst>
                        <p:cond delay="indefinite"/>
                        <p:cond evt="onBegin" delay="0">
                          <p:tn val="2"/>
                        </p:cond>
                      </p:stCondLst>
                      <p:childTnLst>
                        <p:par>
                          <p:cTn id="63"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5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5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5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50"/>
                                        <p:tgtEl>
                                          <p:spTgt spid="1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50"/>
                                        <p:tgtEl>
                                          <p:spTgt spid="1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50"/>
                                        <p:tgtEl>
                                          <p:spTgt spid="1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50"/>
                                        <p:tgtEl>
                                          <p:spTgt spid="2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50"/>
                                        <p:tgtEl>
                                          <p:spTgt spid="23"/>
                                        </p:tgtEl>
                                      </p:cBhvr>
                                    </p:animEffect>
                                  </p:childTnLst>
                                </p:cTn>
                              </p:par>
                            </p:childTnLst>
                          </p:cTn>
                        </p:par>
                        <p:par>
                          <p:cTn id="124" fill="hold">
                            <p:stCondLst>
                              <p:cond delay="380"/>
                            </p:stCondLst>
                            <p:childTnLst>
                              <p:par>
                                <p:cTn id="64" presetID="10" presetClass="entr" presetSubtype="0" fill="hold" grpId="0" nodeType="after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450"/>
                                        <p:tgtEl>
                                          <p:spTgt spid="24"/>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450"/>
                                        <p:tgtEl>
                                          <p:spTgt spid="25"/>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450"/>
                                        <p:tgtEl>
                                          <p:spTgt spid="2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450"/>
                                        <p:tgtEl>
                                          <p:spTgt spid="2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450"/>
                                        <p:tgtEl>
                                          <p:spTgt spid="28"/>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9"/>
                                        </p:tgtEl>
                                        <p:attrNameLst>
                                          <p:attrName>style.visibility</p:attrName>
                                        </p:attrNameLst>
                                      </p:cBhvr>
                                      <p:to>
                                        <p:strVal val="visible"/>
                                      </p:to>
                                    </p:set>
                                    <p:animEffect transition="in" filter="fade">
                                      <p:cBhvr>
                                        <p:cTn id="81" dur="450"/>
                                        <p:tgtEl>
                                          <p:spTgt spid="29"/>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50"/>
                                        <p:tgtEl>
                                          <p:spTgt spid="30"/>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450"/>
                                        <p:tgtEl>
                                          <p:spTgt spid="3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450"/>
                                        <p:tgtEl>
                                          <p:spTgt spid="3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450"/>
                                        <p:tgtEl>
                                          <p:spTgt spid="3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450"/>
                                        <p:tgtEl>
                                          <p:spTgt spid="3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450"/>
                                        <p:tgtEl>
                                          <p:spTgt spid="3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7"/>
                                        </p:tgtEl>
                                        <p:attrNameLst>
                                          <p:attrName>style.visibility</p:attrName>
                                        </p:attrNameLst>
                                      </p:cBhvr>
                                      <p:to>
                                        <p:strVal val="visible"/>
                                      </p:to>
                                    </p:set>
                                    <p:animEffect transition="in" filter="fade">
                                      <p:cBhvr>
                                        <p:cTn id="102" dur="450"/>
                                        <p:tgtEl>
                                          <p:spTgt spid="37"/>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450"/>
                                        <p:tgtEl>
                                          <p:spTgt spid="38"/>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9"/>
                                        </p:tgtEl>
                                        <p:attrNameLst>
                                          <p:attrName>style.visibility</p:attrName>
                                        </p:attrNameLst>
                                      </p:cBhvr>
                                      <p:to>
                                        <p:strVal val="visible"/>
                                      </p:to>
                                    </p:set>
                                    <p:animEffect transition="in" filter="fade">
                                      <p:cBhvr>
                                        <p:cTn id="108" dur="450"/>
                                        <p:tgtEl>
                                          <p:spTgt spid="39"/>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450"/>
                                        <p:tgtEl>
                                          <p:spTgt spid="40"/>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1"/>
                                        </p:tgtEl>
                                        <p:attrNameLst>
                                          <p:attrName>style.visibility</p:attrName>
                                        </p:attrNameLst>
                                      </p:cBhvr>
                                      <p:to>
                                        <p:strVal val="visible"/>
                                      </p:to>
                                    </p:set>
                                    <p:animEffect transition="in" filter="fade">
                                      <p:cBhvr>
                                        <p:cTn id="114" dur="450"/>
                                        <p:tgtEl>
                                          <p:spTgt spid="41"/>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2"/>
                                        </p:tgtEl>
                                        <p:attrNameLst>
                                          <p:attrName>style.visibility</p:attrName>
                                        </p:attrNameLst>
                                      </p:cBhvr>
                                      <p:to>
                                        <p:strVal val="visible"/>
                                      </p:to>
                                    </p:set>
                                    <p:animEffect transition="in" filter="fade">
                                      <p:cBhvr>
                                        <p:cTn id="117" dur="450"/>
                                        <p:tgtEl>
                                          <p:spTgt spid="42"/>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4"/>
                                        </p:tgtEl>
                                        <p:attrNameLst>
                                          <p:attrName>style.visibility</p:attrName>
                                        </p:attrNameLst>
                                      </p:cBhvr>
                                      <p:to>
                                        <p:strVal val="visible"/>
                                      </p:to>
                                    </p:set>
                                    <p:animEffect transition="in" filter="fade">
                                      <p:cBhvr>
                                        <p:cTn id="120" dur="450"/>
                                        <p:tgtEl>
                                          <p:spTgt spid="44"/>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450"/>
                                        <p:tgtEl>
                                          <p:spTgt spid="45"/>
                                        </p:tgtEl>
                                      </p:cBhvr>
                                    </p:animEffect>
                                  </p:childTnLst>
                                </p:cTn>
                              </p:par>
                            </p:childTnLst>
                          </p:cTn>
                        </p:par>
                        <p:par>
                          <p:cTn id="155" fill="hold">
                            <p:stCondLst>
                              <p:cond delay="760"/>
                            </p:stCondLst>
                            <p:childTnLst>
                              <p:par>
                                <p:cTn id="125" presetID="10" presetClass="entr" presetSubtype="0" fill="hold" grpId="0" nodeType="after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7" dur="450"/>
                                        <p:tgtEl>
                                          <p:spTgt spid="46"/>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450"/>
                                        <p:tgtEl>
                                          <p:spTgt spid="47"/>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8"/>
                                        </p:tgtEl>
                                        <p:attrNameLst>
                                          <p:attrName>style.visibility</p:attrName>
                                        </p:attrNameLst>
                                      </p:cBhvr>
                                      <p:to>
                                        <p:strVal val="visible"/>
                                      </p:to>
                                    </p:set>
                                    <p:animEffect transition="in" filter="fade">
                                      <p:cBhvr>
                                        <p:cTn id="133" dur="450"/>
                                        <p:tgtEl>
                                          <p:spTgt spid="48"/>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9"/>
                                        </p:tgtEl>
                                        <p:attrNameLst>
                                          <p:attrName>style.visibility</p:attrName>
                                        </p:attrNameLst>
                                      </p:cBhvr>
                                      <p:to>
                                        <p:strVal val="visible"/>
                                      </p:to>
                                    </p:set>
                                    <p:animEffect transition="in" filter="fade">
                                      <p:cBhvr>
                                        <p:cTn id="136" dur="450"/>
                                        <p:tgtEl>
                                          <p:spTgt spid="49"/>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50"/>
                                        </p:tgtEl>
                                        <p:attrNameLst>
                                          <p:attrName>style.visibility</p:attrName>
                                        </p:attrNameLst>
                                      </p:cBhvr>
                                      <p:to>
                                        <p:strVal val="visible"/>
                                      </p:to>
                                    </p:set>
                                    <p:animEffect transition="in" filter="fade">
                                      <p:cBhvr>
                                        <p:cTn id="139" dur="450"/>
                                        <p:tgtEl>
                                          <p:spTgt spid="50"/>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51"/>
                                        </p:tgtEl>
                                        <p:attrNameLst>
                                          <p:attrName>style.visibility</p:attrName>
                                        </p:attrNameLst>
                                      </p:cBhvr>
                                      <p:to>
                                        <p:strVal val="visible"/>
                                      </p:to>
                                    </p:set>
                                    <p:animEffect transition="in" filter="fade">
                                      <p:cBhvr>
                                        <p:cTn id="142" dur="450"/>
                                        <p:tgtEl>
                                          <p:spTgt spid="51"/>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fade">
                                      <p:cBhvr>
                                        <p:cTn id="145" dur="450"/>
                                        <p:tgtEl>
                                          <p:spTgt spid="53"/>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54"/>
                                        </p:tgtEl>
                                        <p:attrNameLst>
                                          <p:attrName>style.visibility</p:attrName>
                                        </p:attrNameLst>
                                      </p:cBhvr>
                                      <p:to>
                                        <p:strVal val="visible"/>
                                      </p:to>
                                    </p:set>
                                    <p:animEffect transition="in" filter="fade">
                                      <p:cBhvr>
                                        <p:cTn id="148" dur="450"/>
                                        <p:tgtEl>
                                          <p:spTgt spid="54"/>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450"/>
                                        <p:tgtEl>
                                          <p:spTgt spid="55"/>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56"/>
                                        </p:tgtEl>
                                        <p:attrNameLst>
                                          <p:attrName>style.visibility</p:attrName>
                                        </p:attrNameLst>
                                      </p:cBhvr>
                                      <p:to>
                                        <p:strVal val="visible"/>
                                      </p:to>
                                    </p:set>
                                    <p:animEffect transition="in" filter="fade">
                                      <p:cBhvr>
                                        <p:cTn id="154" dur="450"/>
                                        <p:tgtEl>
                                          <p:spTgt spid="56"/>
                                        </p:tgtEl>
                                      </p:cBhvr>
                                    </p:animEffect>
                                  </p:childTnLst>
                                </p:cTn>
                              </p:par>
                            </p:childTnLst>
                          </p:cTn>
                        </p:par>
                        <p:par>
                          <p:cTn id="165" fill="hold">
                            <p:stCondLst>
                              <p:cond delay="1140"/>
                            </p:stCondLst>
                            <p:childTnLst>
                              <p:par>
                                <p:cTn id="156" presetID="10" presetClass="entr" presetSubtype="0" fill="hold" grpId="0" nodeType="afterEffect">
                                  <p:stCondLst>
                                    <p:cond delay="0"/>
                                  </p:stCondLst>
                                  <p:childTnLst>
                                    <p:set>
                                      <p:cBhvr>
                                        <p:cTn id="157" dur="1" fill="hold">
                                          <p:stCondLst>
                                            <p:cond delay="0"/>
                                          </p:stCondLst>
                                        </p:cTn>
                                        <p:tgtEl>
                                          <p:spTgt spid="34"/>
                                        </p:tgtEl>
                                        <p:attrNameLst>
                                          <p:attrName>style.visibility</p:attrName>
                                        </p:attrNameLst>
                                      </p:cBhvr>
                                      <p:to>
                                        <p:strVal val="visible"/>
                                      </p:to>
                                    </p:set>
                                    <p:animEffect transition="in" filter="fade">
                                      <p:cBhvr>
                                        <p:cTn id="158" dur="450"/>
                                        <p:tgtEl>
                                          <p:spTgt spid="34"/>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2"/>
                                        </p:tgtEl>
                                        <p:attrNameLst>
                                          <p:attrName>style.visibility</p:attrName>
                                        </p:attrNameLst>
                                      </p:cBhvr>
                                      <p:to>
                                        <p:strVal val="visible"/>
                                      </p:to>
                                    </p:set>
                                    <p:animEffect transition="in" filter="fade">
                                      <p:cBhvr>
                                        <p:cTn id="164" dur="450"/>
                                        <p:tgtEl>
                                          <p:spTgt spid="52"/>
                                        </p:tgtEl>
                                      </p:cBhvr>
                                    </p:animEffect>
                                  </p:childTnLst>
                                </p:cTn>
                              </p:par>
                            </p:childTnLst>
                          </p:cTn>
                        </p:par>
                        <p:par>
                          <p:cTn id="202" fill="hold">
                            <p:stCondLst>
                              <p:cond delay="1520"/>
                            </p:stCondLst>
                            <p:childTnLst>
                              <p:par>
                                <p:cTn id="166" presetID="10" presetClass="entr" presetSubtype="0" fill="hold" grpId="0" nodeType="after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450"/>
                                        <p:tgtEl>
                                          <p:spTgt spid="5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450"/>
                                        <p:tgtEl>
                                          <p:spTgt spid="5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450"/>
                                        <p:tgtEl>
                                          <p:spTgt spid="5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450"/>
                                        <p:tgtEl>
                                          <p:spTgt spid="6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450"/>
                                        <p:tgtEl>
                                          <p:spTgt spid="6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450"/>
                                        <p:tgtEl>
                                          <p:spTgt spid="6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450"/>
                                        <p:tgtEl>
                                          <p:spTgt spid="63"/>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4"/>
                                        </p:tgtEl>
                                        <p:attrNameLst>
                                          <p:attrName>style.visibility</p:attrName>
                                        </p:attrNameLst>
                                      </p:cBhvr>
                                      <p:to>
                                        <p:strVal val="visible"/>
                                      </p:to>
                                    </p:set>
                                    <p:animEffect transition="in" filter="fade">
                                      <p:cBhvr>
                                        <p:cTn id="189" dur="450"/>
                                        <p:tgtEl>
                                          <p:spTgt spid="64"/>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5"/>
                                        </p:tgtEl>
                                        <p:attrNameLst>
                                          <p:attrName>style.visibility</p:attrName>
                                        </p:attrNameLst>
                                      </p:cBhvr>
                                      <p:to>
                                        <p:strVal val="visible"/>
                                      </p:to>
                                    </p:set>
                                    <p:animEffect transition="in" filter="fade">
                                      <p:cBhvr>
                                        <p:cTn id="192" dur="450"/>
                                        <p:tgtEl>
                                          <p:spTgt spid="65"/>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6"/>
                                        </p:tgtEl>
                                        <p:attrNameLst>
                                          <p:attrName>style.visibility</p:attrName>
                                        </p:attrNameLst>
                                      </p:cBhvr>
                                      <p:to>
                                        <p:strVal val="visible"/>
                                      </p:to>
                                    </p:set>
                                    <p:animEffect transition="in" filter="fade">
                                      <p:cBhvr>
                                        <p:cTn id="195" dur="450"/>
                                        <p:tgtEl>
                                          <p:spTgt spid="66"/>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7"/>
                                        </p:tgtEl>
                                        <p:attrNameLst>
                                          <p:attrName>style.visibility</p:attrName>
                                        </p:attrNameLst>
                                      </p:cBhvr>
                                      <p:to>
                                        <p:strVal val="visible"/>
                                      </p:to>
                                    </p:set>
                                    <p:animEffect transition="in" filter="fade">
                                      <p:cBhvr>
                                        <p:cTn id="198" dur="450"/>
                                        <p:tgtEl>
                                          <p:spTgt spid="67"/>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68"/>
                                        </p:tgtEl>
                                        <p:attrNameLst>
                                          <p:attrName>style.visibility</p:attrName>
                                        </p:attrNameLst>
                                      </p:cBhvr>
                                      <p:to>
                                        <p:strVal val="visible"/>
                                      </p:to>
                                    </p:set>
                                    <p:animEffect transition="in" filter="fade">
                                      <p:cBhvr>
                                        <p:cTn id="201" dur="450"/>
                                        <p:tgtEl>
                                          <p:spTgt spid="68"/>
                                        </p:tgtEl>
                                      </p:cBhvr>
                                    </p:animEffect>
                                  </p:childTnLst>
                                </p:cTn>
                              </p:par>
                            </p:childTnLst>
                          </p:cTn>
                        </p:par>
                        <p:par>
                          <p:cTn id="227" fill="hold">
                            <p:stCondLst>
                              <p:cond delay="1900"/>
                            </p:stCondLst>
                            <p:childTnLst>
                              <p:par>
                                <p:cTn id="203" presetID="10" presetClass="entr" presetSubtype="0" fill="hold" grpId="0" nodeType="afterEffect">
                                  <p:stCondLst>
                                    <p:cond delay="0"/>
                                  </p:stCondLst>
                                  <p:childTnLst>
                                    <p:set>
                                      <p:cBhvr>
                                        <p:cTn id="204" dur="1" fill="hold">
                                          <p:stCondLst>
                                            <p:cond delay="0"/>
                                          </p:stCondLst>
                                        </p:cTn>
                                        <p:tgtEl>
                                          <p:spTgt spid="69"/>
                                        </p:tgtEl>
                                        <p:attrNameLst>
                                          <p:attrName>style.visibility</p:attrName>
                                        </p:attrNameLst>
                                      </p:cBhvr>
                                      <p:to>
                                        <p:strVal val="visible"/>
                                      </p:to>
                                    </p:set>
                                    <p:animEffect transition="in" filter="fade">
                                      <p:cBhvr>
                                        <p:cTn id="205" dur="450"/>
                                        <p:tgtEl>
                                          <p:spTgt spid="69"/>
                                        </p:tgtEl>
                                      </p:cBhvr>
                                    </p:animEffect>
                                  </p:childTnLst>
                                </p:cTn>
                              </p:par>
                              <p:par>
                                <p:cTn id="206" presetID="10" presetClass="entr" presetSubtype="0" fill="hold" grpId="0" nodeType="withEffect">
                                  <p:stCondLst>
                                    <p:cond delay="0"/>
                                  </p:stCondLst>
                                  <p:childTnLst>
                                    <p:set>
                                      <p:cBhvr>
                                        <p:cTn id="207" dur="1" fill="hold">
                                          <p:stCondLst>
                                            <p:cond delay="0"/>
                                          </p:stCondLst>
                                        </p:cTn>
                                        <p:tgtEl>
                                          <p:spTgt spid="70"/>
                                        </p:tgtEl>
                                        <p:attrNameLst>
                                          <p:attrName>style.visibility</p:attrName>
                                        </p:attrNameLst>
                                      </p:cBhvr>
                                      <p:to>
                                        <p:strVal val="visible"/>
                                      </p:to>
                                    </p:set>
                                    <p:animEffect transition="in" filter="fade">
                                      <p:cBhvr>
                                        <p:cTn id="208" dur="450"/>
                                        <p:tgtEl>
                                          <p:spTgt spid="70"/>
                                        </p:tgtEl>
                                      </p:cBhvr>
                                    </p:animEffect>
                                  </p:childTnLst>
                                </p:cTn>
                              </p:par>
                              <p:par>
                                <p:cTn id="209" presetID="10" presetClass="entr" presetSubtype="0" fill="hold" grpId="0" nodeType="withEffect">
                                  <p:stCondLst>
                                    <p:cond delay="0"/>
                                  </p:stCondLst>
                                  <p:childTnLst>
                                    <p:set>
                                      <p:cBhvr>
                                        <p:cTn id="210" dur="1" fill="hold">
                                          <p:stCondLst>
                                            <p:cond delay="0"/>
                                          </p:stCondLst>
                                        </p:cTn>
                                        <p:tgtEl>
                                          <p:spTgt spid="71"/>
                                        </p:tgtEl>
                                        <p:attrNameLst>
                                          <p:attrName>style.visibility</p:attrName>
                                        </p:attrNameLst>
                                      </p:cBhvr>
                                      <p:to>
                                        <p:strVal val="visible"/>
                                      </p:to>
                                    </p:set>
                                    <p:animEffect transition="in" filter="fade">
                                      <p:cBhvr>
                                        <p:cTn id="211" dur="450"/>
                                        <p:tgtEl>
                                          <p:spTgt spid="71"/>
                                        </p:tgtEl>
                                      </p:cBhvr>
                                    </p:animEffect>
                                  </p:childTnLst>
                                </p:cTn>
                              </p:par>
                              <p:par>
                                <p:cTn id="212" presetID="10" presetClass="entr" presetSubtype="0" fill="hold" grpId="0" nodeType="withEffect">
                                  <p:stCondLst>
                                    <p:cond delay="0"/>
                                  </p:stCondLst>
                                  <p:childTnLst>
                                    <p:set>
                                      <p:cBhvr>
                                        <p:cTn id="213" dur="1" fill="hold">
                                          <p:stCondLst>
                                            <p:cond delay="0"/>
                                          </p:stCondLst>
                                        </p:cTn>
                                        <p:tgtEl>
                                          <p:spTgt spid="72"/>
                                        </p:tgtEl>
                                        <p:attrNameLst>
                                          <p:attrName>style.visibility</p:attrName>
                                        </p:attrNameLst>
                                      </p:cBhvr>
                                      <p:to>
                                        <p:strVal val="visible"/>
                                      </p:to>
                                    </p:set>
                                    <p:animEffect transition="in" filter="fade">
                                      <p:cBhvr>
                                        <p:cTn id="214" dur="450"/>
                                        <p:tgtEl>
                                          <p:spTgt spid="72"/>
                                        </p:tgtEl>
                                      </p:cBhvr>
                                    </p:animEffect>
                                  </p:childTnLst>
                                </p:cTn>
                              </p:par>
                              <p:par>
                                <p:cTn id="215" presetID="10" presetClass="entr" presetSubtype="0" fill="hold" grpId="0" nodeType="withEffect">
                                  <p:stCondLst>
                                    <p:cond delay="0"/>
                                  </p:stCondLst>
                                  <p:childTnLst>
                                    <p:set>
                                      <p:cBhvr>
                                        <p:cTn id="216" dur="1" fill="hold">
                                          <p:stCondLst>
                                            <p:cond delay="0"/>
                                          </p:stCondLst>
                                        </p:cTn>
                                        <p:tgtEl>
                                          <p:spTgt spid="73"/>
                                        </p:tgtEl>
                                        <p:attrNameLst>
                                          <p:attrName>style.visibility</p:attrName>
                                        </p:attrNameLst>
                                      </p:cBhvr>
                                      <p:to>
                                        <p:strVal val="visible"/>
                                      </p:to>
                                    </p:set>
                                    <p:animEffect transition="in" filter="fade">
                                      <p:cBhvr>
                                        <p:cTn id="217" dur="450"/>
                                        <p:tgtEl>
                                          <p:spTgt spid="73"/>
                                        </p:tgtEl>
                                      </p:cBhvr>
                                    </p:animEffect>
                                  </p:childTnLst>
                                </p:cTn>
                              </p:par>
                              <p:par>
                                <p:cTn id="218" presetID="10" presetClass="entr" presetSubtype="0" fill="hold" grpId="0" nodeType="withEffect">
                                  <p:stCondLst>
                                    <p:cond delay="0"/>
                                  </p:stCondLst>
                                  <p:childTnLst>
                                    <p:set>
                                      <p:cBhvr>
                                        <p:cTn id="219" dur="1" fill="hold">
                                          <p:stCondLst>
                                            <p:cond delay="0"/>
                                          </p:stCondLst>
                                        </p:cTn>
                                        <p:tgtEl>
                                          <p:spTgt spid="74"/>
                                        </p:tgtEl>
                                        <p:attrNameLst>
                                          <p:attrName>style.visibility</p:attrName>
                                        </p:attrNameLst>
                                      </p:cBhvr>
                                      <p:to>
                                        <p:strVal val="visible"/>
                                      </p:to>
                                    </p:set>
                                    <p:animEffect transition="in" filter="fade">
                                      <p:cBhvr>
                                        <p:cTn id="220" dur="450"/>
                                        <p:tgtEl>
                                          <p:spTgt spid="74"/>
                                        </p:tgtEl>
                                      </p:cBhvr>
                                    </p:animEffect>
                                  </p:childTnLst>
                                </p:cTn>
                              </p:par>
                              <p:par>
                                <p:cTn id="221" presetID="10" presetClass="entr" presetSubtype="0" fill="hold" grpId="0" nodeType="withEffect">
                                  <p:stCondLst>
                                    <p:cond delay="0"/>
                                  </p:stCondLst>
                                  <p:childTnLst>
                                    <p:set>
                                      <p:cBhvr>
                                        <p:cTn id="222" dur="1" fill="hold">
                                          <p:stCondLst>
                                            <p:cond delay="0"/>
                                          </p:stCondLst>
                                        </p:cTn>
                                        <p:tgtEl>
                                          <p:spTgt spid="75"/>
                                        </p:tgtEl>
                                        <p:attrNameLst>
                                          <p:attrName>style.visibility</p:attrName>
                                        </p:attrNameLst>
                                      </p:cBhvr>
                                      <p:to>
                                        <p:strVal val="visible"/>
                                      </p:to>
                                    </p:set>
                                    <p:animEffect transition="in" filter="fade">
                                      <p:cBhvr>
                                        <p:cTn id="223" dur="450"/>
                                        <p:tgtEl>
                                          <p:spTgt spid="75"/>
                                        </p:tgtEl>
                                      </p:cBhvr>
                                    </p:animEffect>
                                  </p:childTnLst>
                                </p:cTn>
                              </p:par>
                              <p:par>
                                <p:cTn id="224" presetID="10" presetClass="entr" presetSubtype="0" fill="hold" grpId="0" nodeType="withEffect">
                                  <p:stCondLst>
                                    <p:cond delay="0"/>
                                  </p:stCondLst>
                                  <p:childTnLst>
                                    <p:set>
                                      <p:cBhvr>
                                        <p:cTn id="225" dur="1" fill="hold">
                                          <p:stCondLst>
                                            <p:cond delay="0"/>
                                          </p:stCondLst>
                                        </p:cTn>
                                        <p:tgtEl>
                                          <p:spTgt spid="76"/>
                                        </p:tgtEl>
                                        <p:attrNameLst>
                                          <p:attrName>style.visibility</p:attrName>
                                        </p:attrNameLst>
                                      </p:cBhvr>
                                      <p:to>
                                        <p:strVal val="visible"/>
                                      </p:to>
                                    </p:set>
                                    <p:animEffect transition="in" filter="fade">
                                      <p:cBhvr>
                                        <p:cTn id="226" dur="450"/>
                                        <p:tgtEl>
                                          <p:spTgt spid="76"/>
                                        </p:tgtEl>
                                      </p:cBhvr>
                                    </p:animEffect>
                                  </p:childTnLst>
                                </p:cTn>
                              </p:par>
                            </p:childTnLst>
                          </p:cTn>
                        </p:par>
                        <p:par>
                          <p:cTn id="234" fill="hold">
                            <p:stCondLst>
                              <p:cond delay="2280"/>
                            </p:stCondLst>
                            <p:childTnLst>
                              <p:par>
                                <p:cTn id="228" presetID="10" presetClass="entr" presetSubtype="0" fill="hold" grpId="0" nodeType="afterEffect">
                                  <p:stCondLst>
                                    <p:cond delay="0"/>
                                  </p:stCondLst>
                                  <p:childTnLst>
                                    <p:set>
                                      <p:cBhvr>
                                        <p:cTn id="229" dur="1" fill="hold">
                                          <p:stCondLst>
                                            <p:cond delay="0"/>
                                          </p:stCondLst>
                                        </p:cTn>
                                        <p:tgtEl>
                                          <p:spTgt spid="77"/>
                                        </p:tgtEl>
                                        <p:attrNameLst>
                                          <p:attrName>style.visibility</p:attrName>
                                        </p:attrNameLst>
                                      </p:cBhvr>
                                      <p:to>
                                        <p:strVal val="visible"/>
                                      </p:to>
                                    </p:set>
                                    <p:animEffect transition="in" filter="fade">
                                      <p:cBhvr>
                                        <p:cTn id="230" dur="450"/>
                                        <p:tgtEl>
                                          <p:spTgt spid="77"/>
                                        </p:tgtEl>
                                      </p:cBhvr>
                                    </p:animEffect>
                                  </p:childTnLst>
                                </p:cTn>
                              </p:par>
                              <p:par>
                                <p:cTn id="231" presetID="10" presetClass="entr" presetSubtype="0" fill="hold" grpId="0" nodeType="withEffect">
                                  <p:stCondLst>
                                    <p:cond delay="0"/>
                                  </p:stCondLst>
                                  <p:childTnLst>
                                    <p:set>
                                      <p:cBhvr>
                                        <p:cTn id="232" dur="1" fill="hold">
                                          <p:stCondLst>
                                            <p:cond delay="0"/>
                                          </p:stCondLst>
                                        </p:cTn>
                                        <p:tgtEl>
                                          <p:spTgt spid="78"/>
                                        </p:tgtEl>
                                        <p:attrNameLst>
                                          <p:attrName>style.visibility</p:attrName>
                                        </p:attrNameLst>
                                      </p:cBhvr>
                                      <p:to>
                                        <p:strVal val="visible"/>
                                      </p:to>
                                    </p:set>
                                    <p:animEffect transition="in" filter="fade">
                                      <p:cBhvr>
                                        <p:cTn id="233" dur="450"/>
                                        <p:tgtEl>
                                          <p:spTgt spid="78"/>
                                        </p:tgtEl>
                                      </p:cBhvr>
                                    </p:animEffect>
                                  </p:childTnLst>
                                </p:cTn>
                              </p:par>
                            </p:childTnLst>
                          </p:cTn>
                        </p:par>
                        <p:par>
                          <p:cTn id="241" fill="hold">
                            <p:stCondLst>
                              <p:cond delay="2660"/>
                            </p:stCondLst>
                            <p:childTnLst>
                              <p:par>
                                <p:cTn id="235" presetID="10" presetClass="entr" presetSubtype="0" fill="hold" grpId="0" nodeType="afterEffect">
                                  <p:stCondLst>
                                    <p:cond delay="0"/>
                                  </p:stCondLst>
                                  <p:childTnLst>
                                    <p:set>
                                      <p:cBhvr>
                                        <p:cTn id="236" dur="1" fill="hold">
                                          <p:stCondLst>
                                            <p:cond delay="0"/>
                                          </p:stCondLst>
                                        </p:cTn>
                                        <p:tgtEl>
                                          <p:spTgt spid="79"/>
                                        </p:tgtEl>
                                        <p:attrNameLst>
                                          <p:attrName>style.visibility</p:attrName>
                                        </p:attrNameLst>
                                      </p:cBhvr>
                                      <p:to>
                                        <p:strVal val="visible"/>
                                      </p:to>
                                    </p:set>
                                    <p:animEffect transition="in" filter="fade">
                                      <p:cBhvr>
                                        <p:cTn id="237" dur="450"/>
                                        <p:tgtEl>
                                          <p:spTgt spid="79"/>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80"/>
                                        </p:tgtEl>
                                        <p:attrNameLst>
                                          <p:attrName>style.visibility</p:attrName>
                                        </p:attrNameLst>
                                      </p:cBhvr>
                                      <p:to>
                                        <p:strVal val="visible"/>
                                      </p:to>
                                    </p:set>
                                    <p:animEffect transition="in" filter="fade">
                                      <p:cBhvr>
                                        <p:cTn id="240" dur="45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Calculation 6: agreement between two surveys</a:t>
            </a:r>
            <a:endParaRPr lang="en-US" sz="3200" dirty="0"/>
          </a:p>
        </p:txBody>
      </p:sp>
      <p:graphicFrame>
        <p:nvGraphicFramePr>
          <p:cNvPr id="19" name="a1_table"/>
          <p:cNvGraphicFramePr>
            <a:graphicFrameLocks noGrp="1"/>
          </p:cNvGraphicFramePr>
          <p:nvPr>
            <p:extLst>
              <p:ext uri="{D42A27DB-BD31-4B8C-83A1-F6EECF244321}">
                <p14:modId xmlns:p14="http://schemas.microsoft.com/office/powerpoint/2010/main" val="1579011935"/>
              </p:ext>
            </p:extLst>
          </p:nvPr>
        </p:nvGraphicFramePr>
        <p:xfrm>
          <a:off x="4434840" y="685800"/>
          <a:ext cx="7223760" cy="914400"/>
        </p:xfrm>
        <a:graphic>
          <a:graphicData uri="http://schemas.openxmlformats.org/drawingml/2006/table">
            <a:tbl>
              <a:tblPr/>
              <a:tblGrid>
                <a:gridCol w="1188720"/>
                <a:gridCol w="1005840"/>
                <a:gridCol w="1005840"/>
                <a:gridCol w="1005840"/>
                <a:gridCol w="1005840"/>
                <a:gridCol w="914400"/>
                <a:gridCol w="1097280"/>
              </a:tblGrid>
              <a:tr h="32918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RII M01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RII M06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rank M01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rank M06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d²</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R-DES</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0.732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0.785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R-MGT</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0.709</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0.757</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R-OVT</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0.725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0.688</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R-PAY</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0.773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0.771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R-PLAN</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0.791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0.763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R-RWK</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0.736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0.776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R-WX</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0.764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0.657</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329184">
                <a:tc>
                  <a:txBody>
                    <a:bodyPr/>
                    <a:lstStyle/>
                    <a:p>
                      <a:pPr algn="ct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Σ</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bl>
          </a:graphicData>
        </a:graphic>
      </p:graphicFrame>
      <p:sp>
        <p:nvSpPr>
          <p:cNvPr id="5" name="a2_fbg"/>
          <p:cNvSpPr/>
          <p:nvPr/>
        </p:nvSpPr>
        <p:spPr>
          <a:xfrm>
            <a:off x="4434840" y="3840480"/>
            <a:ext cx="7223760" cy="822960"/>
          </a:xfrm>
          <a:prstGeom prst="roundRect">
            <a:avLst>
              <a:gd name="adj" fmla="val 11111"/>
            </a:avLst>
          </a:prstGeom>
          <a:solidFill>
            <a:srgbClr val="DCEAF6"/>
          </a:solidFill>
          <a:ln w="12700">
            <a:solidFill>
              <a:srgbClr val="DCEAF6"/>
            </a:solidFill>
            <a:prstDash val="solid"/>
          </a:ln>
        </p:spPr>
      </p:sp>
      <p:sp>
        <p:nvSpPr>
          <p:cNvPr id="6" name="a2_ft"/>
          <p:cNvSpPr txBox="1"/>
          <p:nvPr/>
        </p:nvSpPr>
        <p:spPr>
          <a:xfrm>
            <a:off x="4617720" y="3840480"/>
            <a:ext cx="6858000" cy="822960"/>
          </a:xfrm>
          <a:prstGeom prst="rect">
            <a:avLst/>
          </a:prstGeom>
          <a:noFill/>
          <a:ln/>
        </p:spPr>
        <p:txBody>
          <a:bodyPr wrap="square" lIns="0" tIns="0" rIns="0" bIns="0" rtlCol="0" anchor="ctr"/>
          <a:lstStyle/>
          <a:p>
            <a:pPr algn="ctr" indent="0" marL="0">
              <a:buNone/>
            </a:pPr>
            <a:r>
              <a:rPr lang="en-US" sz="2200" i="1" dirty="0">
                <a:solidFill>
                  <a:srgbClr val="12233B"/>
                </a:solidFill>
                <a:latin typeface="Times New Roman" pitchFamily="34" charset="0"/>
                <a:ea typeface="Times New Roman" pitchFamily="34" charset="-122"/>
                <a:cs typeface="Times New Roman" pitchFamily="34" charset="-120"/>
              </a:rPr>
              <a:t>ρ = 1 − 6Σd² / [n(n²−1)] = 1 − 300 / 336 = 0.107</a:t>
            </a:r>
            <a:endParaRPr lang="en-US" sz="2200" dirty="0"/>
          </a:p>
        </p:txBody>
      </p:sp>
      <p:sp>
        <p:nvSpPr>
          <p:cNvPr id="7" name="a3_chip0"/>
          <p:cNvSpPr/>
          <p:nvPr/>
        </p:nvSpPr>
        <p:spPr>
          <a:xfrm>
            <a:off x="4434840" y="4846320"/>
            <a:ext cx="2286000" cy="1188720"/>
          </a:xfrm>
          <a:prstGeom prst="roundRect">
            <a:avLst>
              <a:gd name="adj" fmla="val 7692"/>
            </a:avLst>
          </a:prstGeom>
          <a:solidFill>
            <a:srgbClr val="173F6B"/>
          </a:solidFill>
          <a:ln w="12700">
            <a:solidFill>
              <a:srgbClr val="173F6B"/>
            </a:solidFill>
            <a:prstDash val="solid"/>
          </a:ln>
        </p:spPr>
      </p:sp>
      <p:sp>
        <p:nvSpPr>
          <p:cNvPr id="8" name="a3_chipt0"/>
          <p:cNvSpPr txBox="1"/>
          <p:nvPr/>
        </p:nvSpPr>
        <p:spPr>
          <a:xfrm>
            <a:off x="4434840" y="4846320"/>
            <a:ext cx="2286000"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n = 7</a:t>
            </a:r>
            <a:endParaRPr lang="en-US" sz="1600" dirty="0"/>
          </a:p>
          <a:p>
            <a:pPr algn="ctr" indent="0" marL="0">
              <a:buNone/>
            </a:pPr>
            <a:r>
              <a:rPr lang="en-US" sz="1300" dirty="0">
                <a:solidFill>
                  <a:srgbClr val="A9C7E0"/>
                </a:solidFill>
                <a:latin typeface="Calibri" pitchFamily="34" charset="0"/>
                <a:ea typeface="Calibri" pitchFamily="34" charset="-122"/>
                <a:cs typeface="Calibri" pitchFamily="34" charset="-120"/>
              </a:rPr>
              <a:t>shared risks</a:t>
            </a:r>
            <a:endParaRPr lang="en-US" sz="1600" dirty="0"/>
          </a:p>
        </p:txBody>
      </p:sp>
      <p:sp>
        <p:nvSpPr>
          <p:cNvPr id="9" name="a3_chip1"/>
          <p:cNvSpPr/>
          <p:nvPr/>
        </p:nvSpPr>
        <p:spPr>
          <a:xfrm>
            <a:off x="6903720" y="4846320"/>
            <a:ext cx="2286000" cy="1188720"/>
          </a:xfrm>
          <a:prstGeom prst="roundRect">
            <a:avLst>
              <a:gd name="adj" fmla="val 7692"/>
            </a:avLst>
          </a:prstGeom>
          <a:solidFill>
            <a:srgbClr val="173F6B"/>
          </a:solidFill>
          <a:ln w="12700">
            <a:solidFill>
              <a:srgbClr val="173F6B"/>
            </a:solidFill>
            <a:prstDash val="solid"/>
          </a:ln>
        </p:spPr>
      </p:sp>
      <p:sp>
        <p:nvSpPr>
          <p:cNvPr id="10" name="a3_chipt1"/>
          <p:cNvSpPr txBox="1"/>
          <p:nvPr/>
        </p:nvSpPr>
        <p:spPr>
          <a:xfrm>
            <a:off x="6903720" y="4846320"/>
            <a:ext cx="2286000"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ρ = 0.107</a:t>
            </a:r>
            <a:endParaRPr lang="en-US" sz="1600" dirty="0"/>
          </a:p>
          <a:p>
            <a:pPr algn="ctr" indent="0" marL="0">
              <a:buNone/>
            </a:pPr>
            <a:r>
              <a:rPr lang="en-US" sz="1300" dirty="0">
                <a:solidFill>
                  <a:srgbClr val="A9C7E0"/>
                </a:solidFill>
                <a:latin typeface="Calibri" pitchFamily="34" charset="0"/>
                <a:ea typeface="Calibri" pitchFamily="34" charset="-122"/>
                <a:cs typeface="Calibri" pitchFamily="34" charset="-120"/>
              </a:rPr>
              <a:t>weak agreement</a:t>
            </a:r>
            <a:endParaRPr lang="en-US" sz="1600" dirty="0"/>
          </a:p>
        </p:txBody>
      </p:sp>
      <p:sp>
        <p:nvSpPr>
          <p:cNvPr id="11" name="a3_chip2"/>
          <p:cNvSpPr/>
          <p:nvPr/>
        </p:nvSpPr>
        <p:spPr>
          <a:xfrm>
            <a:off x="9372600" y="4846320"/>
            <a:ext cx="2286000" cy="1188720"/>
          </a:xfrm>
          <a:prstGeom prst="roundRect">
            <a:avLst>
              <a:gd name="adj" fmla="val 7692"/>
            </a:avLst>
          </a:prstGeom>
          <a:solidFill>
            <a:srgbClr val="173F6B"/>
          </a:solidFill>
          <a:ln w="12700">
            <a:solidFill>
              <a:srgbClr val="173F6B"/>
            </a:solidFill>
            <a:prstDash val="solid"/>
          </a:ln>
        </p:spPr>
      </p:sp>
      <p:sp>
        <p:nvSpPr>
          <p:cNvPr id="12" name="a3_chipt2"/>
          <p:cNvSpPr txBox="1"/>
          <p:nvPr/>
        </p:nvSpPr>
        <p:spPr>
          <a:xfrm>
            <a:off x="9372600" y="4846320"/>
            <a:ext cx="2286000"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p = 0.82</a:t>
            </a:r>
            <a:endParaRPr lang="en-US" sz="1600" dirty="0"/>
          </a:p>
          <a:p>
            <a:pPr algn="ctr" indent="0" marL="0">
              <a:buNone/>
            </a:pPr>
            <a:r>
              <a:rPr lang="en-US" sz="1300" dirty="0">
                <a:solidFill>
                  <a:srgbClr val="A9C7E0"/>
                </a:solidFill>
                <a:latin typeface="Calibri" pitchFamily="34" charset="0"/>
                <a:ea typeface="Calibri" pitchFamily="34" charset="-122"/>
                <a:cs typeface="Calibri" pitchFamily="34" charset="-120"/>
              </a:rPr>
              <a:t>not significant</a:t>
            </a:r>
            <a:endParaRPr lang="en-US" sz="1600" dirty="0"/>
          </a:p>
        </p:txBody>
      </p:sp>
      <p:sp>
        <p:nvSpPr>
          <p:cNvPr id="13" name="a4_why"/>
          <p:cNvSpPr txBox="1"/>
          <p:nvPr/>
        </p:nvSpPr>
        <p:spPr>
          <a:xfrm>
            <a:off x="457200" y="3657600"/>
            <a:ext cx="3200400" cy="2468880"/>
          </a:xfrm>
          <a:prstGeom prst="rect">
            <a:avLst/>
          </a:prstGeom>
          <a:noFill/>
          <a:ln/>
        </p:spPr>
        <p:txBody>
          <a:bodyPr wrap="square" lIns="0" tIns="0" rIns="0" bIns="0" rtlCol="0" anchor="t"/>
          <a:lstStyle/>
          <a:p>
            <a:pPr indent="0" marL="0">
              <a:buNone/>
            </a:pPr>
            <a:r>
              <a:rPr lang="en-US" sz="1500" i="1" dirty="0">
                <a:solidFill>
                  <a:srgbClr val="DCEAF6"/>
                </a:solidFill>
                <a:latin typeface="Calibri" pitchFamily="34" charset="0"/>
                <a:ea typeface="Calibri" pitchFamily="34" charset="-122"/>
                <a:cs typeface="Calibri" pitchFamily="34" charset="-120"/>
              </a:rPr>
              <a:t>Why it matters: if two surveys disagree, a single ranking is a weak basis for a prediction. It is a reason for the framework, not for a forecast.</a:t>
            </a:r>
            <a:endParaRPr lang="en-US" sz="1500" dirty="0"/>
          </a:p>
        </p:txBody>
      </p:sp>
      <p:sp>
        <p:nvSpPr>
          <p:cNvPr id="14" name="Text 10"/>
          <p:cNvSpPr txBox="1"/>
          <p:nvPr/>
        </p:nvSpPr>
        <p:spPr>
          <a:xfrm>
            <a:off x="4434840" y="6144768"/>
            <a:ext cx="722376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data/literature_seed.json, M01 and M06 direct rows; docs/rii_statistics.json (rho 0.107, n 7, p 0.819)</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6"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wipe(left)">
                                      <p:cBhvr>
                                        <p:cTn id="5" dur="450"/>
                                        <p:tgtEl>
                                          <p:spTgt spid="19"/>
                                        </p:tgtEl>
                                      </p:cBhvr>
                                    </p:animEffect>
                                  </p:childTnLst>
                                </p:cTn>
                              </p:par>
                            </p:childTnLst>
                          </p:cTn>
                        </p:par>
                        <p:par>
                          <p:cTn id="13"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32"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36" fill="hold">
                            <p:stCondLst>
                              <p:cond delay="114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Calculation 7: several tests, one correction (Holm)</a:t>
            </a:r>
            <a:endParaRPr lang="en-US" sz="3200" dirty="0"/>
          </a:p>
        </p:txBody>
      </p:sp>
      <p:graphicFrame>
        <p:nvGraphicFramePr>
          <p:cNvPr id="20" name="a1_table"/>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1371600"/>
                <a:gridCol w="640080"/>
                <a:gridCol w="914400"/>
                <a:gridCol w="1097280"/>
                <a:gridCol w="1005840"/>
                <a:gridCol w="1005840"/>
              </a:tblGrid>
              <a:tr h="4572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Held-out study</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ρ</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raw p</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multiplier</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Holm p</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2F6C9A"/>
                    </a:solidFill>
                  </a:tcPr>
                </a:tc>
              </a:tr>
              <a:tr h="457200">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M15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0.04465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 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0.134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457200">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M10</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0.282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0.24035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 2</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0.481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r h="457200">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M14</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−0.181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0.55305</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2233B"/>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2233B"/>
                          </a:solidFill>
                          <a:latin typeface="Calibri" pitchFamily="34" charset="0"/>
                          <a:ea typeface="Calibri" pitchFamily="34" charset="-122"/>
                          <a:cs typeface="Calibri" pitchFamily="34" charset="-120"/>
                        </a:rPr>
                        <a:t>0.553</a:t>
                      </a:r>
                      <a:endParaRPr lang="en-US" sz="1200" dirty="0">
                        <a:latin typeface="Calibri" charset="0"/>
                        <a:ea typeface="Calibri" charset="0"/>
                        <a:cs typeface="Calibri" charset="0"/>
                      </a:endParaRPr>
                    </a:p>
                  </a:txBody>
                  <a:tcPr marL="91440" marR="91440" marT="45720" marB="45720">
                    <a:lnL w="9525" cap="flat" cmpd="sng" algn="ctr">
                      <a:solidFill>
                        <a:srgbClr val="B9CFE3"/>
                      </a:solidFill>
                      <a:prstDash val="solid"/>
                      <a:round/>
                      <a:headEnd type="none" w="med" len="med"/>
                      <a:tailEnd type="none" w="med" len="med"/>
                    </a:lnL>
                    <a:lnR w="9525" cap="flat" cmpd="sng" algn="ctr">
                      <a:solidFill>
                        <a:srgbClr val="B9CFE3"/>
                      </a:solidFill>
                      <a:prstDash val="solid"/>
                      <a:round/>
                      <a:headEnd type="none" w="med" len="med"/>
                      <a:tailEnd type="none" w="med" len="med"/>
                    </a:lnR>
                    <a:lnT w="9525" cap="flat" cmpd="sng" algn="ctr">
                      <a:solidFill>
                        <a:srgbClr val="B9CFE3"/>
                      </a:solidFill>
                      <a:prstDash val="solid"/>
                      <a:round/>
                      <a:headEnd type="none" w="med" len="med"/>
                      <a:tailEnd type="none" w="med" len="med"/>
                    </a:lnT>
                    <a:lnB w="9525" cap="flat" cmpd="sng" algn="ctr">
                      <a:solidFill>
                        <a:srgbClr val="B9CFE3"/>
                      </a:solidFill>
                      <a:prstDash val="solid"/>
                      <a:round/>
                      <a:headEnd type="none" w="med" len="med"/>
                      <a:tailEnd type="none" w="med" len="med"/>
                    </a:lnB>
                    <a:solidFill>
                      <a:srgbClr val="FFFFFF"/>
                    </a:solidFill>
                  </a:tcPr>
                </a:tc>
              </a:tr>
            </a:tbl>
          </a:graphicData>
        </a:graphic>
      </p:graphicFrame>
      <p:sp>
        <p:nvSpPr>
          <p:cNvPr id="5" name="a2_fbg"/>
          <p:cNvSpPr/>
          <p:nvPr/>
        </p:nvSpPr>
        <p:spPr>
          <a:xfrm>
            <a:off x="548640" y="3703320"/>
            <a:ext cx="6035040" cy="777240"/>
          </a:xfrm>
          <a:prstGeom prst="roundRect">
            <a:avLst>
              <a:gd name="adj" fmla="val 11765"/>
            </a:avLst>
          </a:prstGeom>
          <a:solidFill>
            <a:srgbClr val="DCEAF6"/>
          </a:solidFill>
          <a:ln w="12700">
            <a:solidFill>
              <a:srgbClr val="DCEAF6"/>
            </a:solidFill>
            <a:prstDash val="solid"/>
          </a:ln>
        </p:spPr>
      </p:sp>
      <p:sp>
        <p:nvSpPr>
          <p:cNvPr id="6" name="a2_ft"/>
          <p:cNvSpPr txBox="1"/>
          <p:nvPr/>
        </p:nvSpPr>
        <p:spPr>
          <a:xfrm>
            <a:off x="731520" y="3703320"/>
            <a:ext cx="5669280" cy="777240"/>
          </a:xfrm>
          <a:prstGeom prst="rect">
            <a:avLst/>
          </a:prstGeom>
          <a:noFill/>
          <a:ln/>
        </p:spPr>
        <p:txBody>
          <a:bodyPr wrap="square" lIns="0" tIns="0" rIns="0" bIns="0" rtlCol="0" anchor="ctr"/>
          <a:lstStyle/>
          <a:p>
            <a:pPr algn="ctr" indent="0" marL="0">
              <a:buNone/>
            </a:pPr>
            <a:r>
              <a:rPr lang="en-US" sz="2200" i="1" dirty="0">
                <a:solidFill>
                  <a:srgbClr val="12233B"/>
                </a:solidFill>
                <a:latin typeface="Times New Roman" pitchFamily="34" charset="0"/>
                <a:ea typeface="Times New Roman" pitchFamily="34" charset="-122"/>
                <a:cs typeface="Times New Roman" pitchFamily="34" charset="-120"/>
              </a:rPr>
              <a:t>p(i) adjusted = max over j≤i of (m − j + 1) · p(j)</a:t>
            </a:r>
            <a:endParaRPr lang="en-US" sz="2200" dirty="0"/>
          </a:p>
        </p:txBody>
      </p:sp>
      <p:sp>
        <p:nvSpPr>
          <p:cNvPr id="7" name="a3_res"/>
          <p:cNvSpPr/>
          <p:nvPr/>
        </p:nvSpPr>
        <p:spPr>
          <a:xfrm>
            <a:off x="548640" y="4663440"/>
            <a:ext cx="6035040" cy="1371600"/>
          </a:xfrm>
          <a:prstGeom prst="roundRect">
            <a:avLst>
              <a:gd name="adj" fmla="val 6667"/>
            </a:avLst>
          </a:prstGeom>
          <a:solidFill>
            <a:srgbClr val="173F6B"/>
          </a:solidFill>
          <a:ln w="12700">
            <a:solidFill>
              <a:srgbClr val="173F6B"/>
            </a:solidFill>
            <a:prstDash val="solid"/>
          </a:ln>
        </p:spPr>
      </p:sp>
      <p:sp>
        <p:nvSpPr>
          <p:cNvPr id="8" name="a3_rest"/>
          <p:cNvSpPr txBox="1"/>
          <p:nvPr/>
        </p:nvSpPr>
        <p:spPr>
          <a:xfrm>
            <a:off x="777240" y="4663440"/>
            <a:ext cx="5577840" cy="1371600"/>
          </a:xfrm>
          <a:prstGeom prst="rect">
            <a:avLst/>
          </a:prstGeom>
          <a:noFill/>
          <a:ln/>
        </p:spPr>
        <p:txBody>
          <a:bodyPr wrap="square" lIns="0" tIns="0" rIns="0" bIns="0" rtlCol="0" anchor="ctr"/>
          <a:lstStyle/>
          <a:p>
            <a:pPr indent="0" marL="0">
              <a:buNone/>
            </a:pPr>
            <a:r>
              <a:rPr lang="en-US" sz="1600" b="1" dirty="0">
                <a:solidFill>
                  <a:srgbClr val="19B5C8"/>
                </a:solidFill>
                <a:latin typeface="Calibri" pitchFamily="34" charset="0"/>
                <a:ea typeface="Calibri" pitchFamily="34" charset="-122"/>
                <a:cs typeface="Calibri" pitchFamily="34" charset="-120"/>
              </a:rPr>
              <a:t>Result: </a:t>
            </a:r>
            <a:pPr indent="0" marL="0">
              <a:buNone/>
            </a:pPr>
            <a:r>
              <a:rPr lang="en-US" sz="1600" dirty="0">
                <a:solidFill>
                  <a:srgbClr val="FFFFFF"/>
                </a:solidFill>
                <a:latin typeface="Calibri" pitchFamily="34" charset="0"/>
                <a:ea typeface="Calibri" pitchFamily="34" charset="-122"/>
                <a:cs typeface="Calibri" pitchFamily="34" charset="-120"/>
              </a:rPr>
              <a:t>no held-out study agrees with the seed ranking at the 5% level after correction. We therefore call it a weak agreement check, not a validation.</a:t>
            </a:r>
            <a:endParaRPr lang="en-US" sz="1600" dirty="0"/>
          </a:p>
        </p:txBody>
      </p:sp>
      <p:graphicFrame>
        <p:nvGraphicFramePr>
          <p:cNvPr id="9" name="a4_chart" descr=""/>
          <p:cNvGraphicFramePr/>
          <p:nvPr/>
        </p:nvGraphicFramePr>
        <p:xfrm>
          <a:off x="6858000" y="1280160"/>
          <a:ext cx="4846320" cy="4754880"/>
        </p:xfrm>
        <a:graphic xmlns:a="http://schemas.openxmlformats.org/drawingml/2006/main">
          <a:graphicData uri="http://schemas.openxmlformats.org/drawingml/2006/chart">
            <c:chart xmlns:c="http://schemas.openxmlformats.org/drawingml/2006/chart" r:id="rId1"/>
          </a:graphicData>
        </a:graphic>
      </p:graphicFrame>
      <p:sp>
        <p:nvSpPr>
          <p:cNvPr id="10" name="Text 5"/>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docs/tool_statistics.json (p_perm per held-out study); Holm (1979)</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6"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wipe(left)">
                                      <p:cBhvr>
                                        <p:cTn id="5" dur="450"/>
                                        <p:tgtEl>
                                          <p:spTgt spid="20"/>
                                        </p:tgtEl>
                                      </p:cBhvr>
                                    </p:animEffect>
                                  </p:childTnLst>
                                </p:cTn>
                              </p:par>
                            </p:childTnLst>
                          </p:cTn>
                        </p:par>
                        <p:par>
                          <p:cTn id="13"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20"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childTnLst>
                          </p:cTn>
                        </p:par>
                        <p:par>
                          <p:cTn id="24" fill="hold">
                            <p:stCondLst>
                              <p:cond delay="1140"/>
                            </p:stCondLst>
                            <p:childTnLst>
                              <p:par>
                                <p:cTn id="21" presetID="22" presetClass="entr" presetSubtype="8"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Graphic spid="9" grpId="0">
        <p:bldAsOne/>
      </p:bldGraphic>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Calculation 8: cost of a risk (optional layer)</a:t>
            </a:r>
            <a:endParaRPr lang="en-US" sz="3200" dirty="0"/>
          </a:p>
        </p:txBody>
      </p:sp>
      <p:sp>
        <p:nvSpPr>
          <p:cNvPr id="4" name="a1_opt"/>
          <p:cNvSpPr txBox="1"/>
          <p:nvPr/>
        </p:nvSpPr>
        <p:spPr>
          <a:xfrm>
            <a:off x="457200" y="3108960"/>
            <a:ext cx="3200400" cy="2377440"/>
          </a:xfrm>
          <a:prstGeom prst="rect">
            <a:avLst/>
          </a:prstGeom>
          <a:noFill/>
          <a:ln/>
        </p:spPr>
        <p:txBody>
          <a:bodyPr wrap="square" lIns="0" tIns="0" rIns="0" bIns="0" rtlCol="0" anchor="t"/>
          <a:lstStyle/>
          <a:p>
            <a:pPr indent="0" marL="0">
              <a:buNone/>
            </a:pPr>
            <a:r>
              <a:rPr lang="en-US" sz="1500" i="1" dirty="0">
                <a:solidFill>
                  <a:srgbClr val="DCEAF6"/>
                </a:solidFill>
                <a:latin typeface="Calibri" pitchFamily="34" charset="0"/>
                <a:ea typeface="Calibri" pitchFamily="34" charset="-122"/>
                <a:cs typeface="Calibri" pitchFamily="34" charset="-120"/>
              </a:rPr>
              <a:t>Optional layer. Every input is entered and labelled; none is supplied by the tool or by AI. ILLUSTRATIVE numbers.</a:t>
            </a:r>
            <a:endParaRPr lang="en-US" sz="1500" dirty="0"/>
          </a:p>
        </p:txBody>
      </p:sp>
      <p:sp>
        <p:nvSpPr>
          <p:cNvPr id="5" name="a2_fbg"/>
          <p:cNvSpPr/>
          <p:nvPr/>
        </p:nvSpPr>
        <p:spPr>
          <a:xfrm>
            <a:off x="4434840" y="685800"/>
            <a:ext cx="7178040" cy="822960"/>
          </a:xfrm>
          <a:prstGeom prst="roundRect">
            <a:avLst>
              <a:gd name="adj" fmla="val 11111"/>
            </a:avLst>
          </a:prstGeom>
          <a:solidFill>
            <a:srgbClr val="DCEAF6"/>
          </a:solidFill>
          <a:ln w="12700">
            <a:solidFill>
              <a:srgbClr val="DCEAF6"/>
            </a:solidFill>
            <a:prstDash val="solid"/>
          </a:ln>
        </p:spPr>
      </p:sp>
      <p:sp>
        <p:nvSpPr>
          <p:cNvPr id="6" name="a2_ft"/>
          <p:cNvSpPr txBox="1"/>
          <p:nvPr/>
        </p:nvSpPr>
        <p:spPr>
          <a:xfrm>
            <a:off x="4617720" y="685800"/>
            <a:ext cx="6812280" cy="822960"/>
          </a:xfrm>
          <a:prstGeom prst="rect">
            <a:avLst/>
          </a:prstGeom>
          <a:noFill/>
          <a:ln/>
        </p:spPr>
        <p:txBody>
          <a:bodyPr wrap="square" lIns="0" tIns="0" rIns="0" bIns="0" rtlCol="0" anchor="ctr"/>
          <a:lstStyle/>
          <a:p>
            <a:pPr algn="ctr" indent="0" marL="0">
              <a:buNone/>
            </a:pPr>
            <a:r>
              <a:rPr lang="en-US" sz="2200" i="1" dirty="0">
                <a:solidFill>
                  <a:srgbClr val="12233B"/>
                </a:solidFill>
                <a:latin typeface="Times New Roman" pitchFamily="34" charset="0"/>
                <a:ea typeface="Times New Roman" pitchFamily="34" charset="-122"/>
                <a:cs typeface="Times New Roman" pitchFamily="34" charset="-120"/>
              </a:rPr>
              <a:t>EMV = p · E[delay] · cost per day</a:t>
            </a:r>
            <a:endParaRPr lang="en-US" sz="2200" dirty="0"/>
          </a:p>
        </p:txBody>
      </p:sp>
      <p:sp>
        <p:nvSpPr>
          <p:cNvPr id="7" name="a3_calc"/>
          <p:cNvSpPr txBox="1"/>
          <p:nvPr/>
        </p:nvSpPr>
        <p:spPr>
          <a:xfrm>
            <a:off x="4434840" y="1691640"/>
            <a:ext cx="7178040" cy="640080"/>
          </a:xfrm>
          <a:prstGeom prst="rect">
            <a:avLst/>
          </a:prstGeom>
          <a:noFill/>
          <a:ln/>
        </p:spPr>
        <p:txBody>
          <a:bodyPr wrap="square" lIns="0" tIns="0" rIns="0" bIns="0" rtlCol="0" anchor="t"/>
          <a:lstStyle/>
          <a:p>
            <a:pPr algn="ctr" indent="0" marL="0">
              <a:buNone/>
            </a:pPr>
            <a:r>
              <a:rPr lang="en-US" sz="2800" b="1" dirty="0">
                <a:solidFill>
                  <a:srgbClr val="173F6B"/>
                </a:solidFill>
                <a:latin typeface="Times New Roman" pitchFamily="34" charset="0"/>
                <a:ea typeface="Times New Roman" pitchFamily="34" charset="-122"/>
                <a:cs typeface="Times New Roman" pitchFamily="34" charset="-120"/>
              </a:rPr>
              <a:t>0.5  ×  3.5 d  ×  8,000 INR/day  =  14,000 INR</a:t>
            </a:r>
            <a:endParaRPr lang="en-US" sz="2800" dirty="0"/>
          </a:p>
        </p:txBody>
      </p:sp>
      <p:graphicFrame>
        <p:nvGraphicFramePr>
          <p:cNvPr id="8" name="a4_chart" descr=""/>
          <p:cNvGraphicFramePr/>
          <p:nvPr/>
        </p:nvGraphicFramePr>
        <p:xfrm>
          <a:off x="4434840" y="2468880"/>
          <a:ext cx="4572000" cy="3566160"/>
        </p:xfrm>
        <a:graphic xmlns:a="http://schemas.openxmlformats.org/drawingml/2006/main">
          <a:graphicData uri="http://schemas.openxmlformats.org/drawingml/2006/chart">
            <c:chart xmlns:c="http://schemas.openxmlformats.org/drawingml/2006/chart" r:id="rId1"/>
          </a:graphicData>
        </a:graphic>
      </p:graphicFrame>
      <p:sp>
        <p:nvSpPr>
          <p:cNvPr id="9" name="a5_st0"/>
          <p:cNvSpPr/>
          <p:nvPr/>
        </p:nvSpPr>
        <p:spPr>
          <a:xfrm>
            <a:off x="9235440" y="2514600"/>
            <a:ext cx="2423160" cy="1051560"/>
          </a:xfrm>
          <a:prstGeom prst="roundRect">
            <a:avLst>
              <a:gd name="adj" fmla="val 8696"/>
            </a:avLst>
          </a:prstGeom>
          <a:solidFill>
            <a:srgbClr val="DCEAF6"/>
          </a:solidFill>
          <a:ln w="12700">
            <a:solidFill>
              <a:srgbClr val="DCEAF6"/>
            </a:solidFill>
            <a:prstDash val="solid"/>
          </a:ln>
        </p:spPr>
      </p:sp>
      <p:sp>
        <p:nvSpPr>
          <p:cNvPr id="10" name="a5_stt0"/>
          <p:cNvSpPr txBox="1"/>
          <p:nvPr/>
        </p:nvSpPr>
        <p:spPr>
          <a:xfrm>
            <a:off x="9235440" y="2514600"/>
            <a:ext cx="2423160" cy="1051560"/>
          </a:xfrm>
          <a:prstGeom prst="rect">
            <a:avLst/>
          </a:prstGeom>
          <a:noFill/>
          <a:ln/>
        </p:spPr>
        <p:txBody>
          <a:bodyPr wrap="square" lIns="0" tIns="0" rIns="0" bIns="0" rtlCol="0" anchor="ctr"/>
          <a:lstStyle/>
          <a:p>
            <a:pPr algn="ctr" indent="0" marL="0">
              <a:buNone/>
            </a:pPr>
            <a:r>
              <a:rPr lang="en-US" sz="2400" b="1" dirty="0">
                <a:solidFill>
                  <a:srgbClr val="173F6B"/>
                </a:solidFill>
                <a:latin typeface="Times New Roman" pitchFamily="34" charset="0"/>
                <a:ea typeface="Times New Roman" pitchFamily="34" charset="-122"/>
                <a:cs typeface="Times New Roman" pitchFamily="34" charset="-120"/>
              </a:rPr>
              <a:t>10,000</a:t>
            </a:r>
            <a:endParaRPr lang="en-US" sz="1600" dirty="0"/>
          </a:p>
          <a:p>
            <a:pPr algn="ctr" indent="0" marL="0">
              <a:buNone/>
            </a:pPr>
            <a:r>
              <a:rPr lang="en-US" sz="1200" dirty="0">
                <a:solidFill>
                  <a:srgbClr val="55708A"/>
                </a:solidFill>
                <a:latin typeface="Calibri" pitchFamily="34" charset="0"/>
                <a:ea typeface="Calibri" pitchFamily="34" charset="-122"/>
                <a:cs typeface="Calibri" pitchFamily="34" charset="-120"/>
              </a:rPr>
              <a:t>random draws, seed 12345</a:t>
            </a:r>
            <a:endParaRPr lang="en-US" sz="1600" dirty="0"/>
          </a:p>
        </p:txBody>
      </p:sp>
      <p:sp>
        <p:nvSpPr>
          <p:cNvPr id="11" name="a5_st1"/>
          <p:cNvSpPr/>
          <p:nvPr/>
        </p:nvSpPr>
        <p:spPr>
          <a:xfrm>
            <a:off x="9235440" y="3703320"/>
            <a:ext cx="2423160" cy="1051560"/>
          </a:xfrm>
          <a:prstGeom prst="roundRect">
            <a:avLst>
              <a:gd name="adj" fmla="val 8696"/>
            </a:avLst>
          </a:prstGeom>
          <a:solidFill>
            <a:srgbClr val="DCEAF6"/>
          </a:solidFill>
          <a:ln w="12700">
            <a:solidFill>
              <a:srgbClr val="DCEAF6"/>
            </a:solidFill>
            <a:prstDash val="solid"/>
          </a:ln>
        </p:spPr>
      </p:sp>
      <p:sp>
        <p:nvSpPr>
          <p:cNvPr id="12" name="a5_stt1"/>
          <p:cNvSpPr txBox="1"/>
          <p:nvPr/>
        </p:nvSpPr>
        <p:spPr>
          <a:xfrm>
            <a:off x="9235440" y="3703320"/>
            <a:ext cx="2423160" cy="1051560"/>
          </a:xfrm>
          <a:prstGeom prst="rect">
            <a:avLst/>
          </a:prstGeom>
          <a:noFill/>
          <a:ln/>
        </p:spPr>
        <p:txBody>
          <a:bodyPr wrap="square" lIns="0" tIns="0" rIns="0" bIns="0" rtlCol="0" anchor="ctr"/>
          <a:lstStyle/>
          <a:p>
            <a:pPr algn="ctr" indent="0" marL="0">
              <a:buNone/>
            </a:pPr>
            <a:r>
              <a:rPr lang="en-US" sz="2400" b="1" dirty="0">
                <a:solidFill>
                  <a:srgbClr val="173F6B"/>
                </a:solidFill>
                <a:latin typeface="Times New Roman" pitchFamily="34" charset="0"/>
                <a:ea typeface="Times New Roman" pitchFamily="34" charset="-122"/>
                <a:cs typeface="Times New Roman" pitchFamily="34" charset="-120"/>
              </a:rPr>
              <a:t>21.1 d</a:t>
            </a:r>
            <a:endParaRPr lang="en-US" sz="1600" dirty="0"/>
          </a:p>
          <a:p>
            <a:pPr algn="ctr" indent="0" marL="0">
              <a:buNone/>
            </a:pPr>
            <a:r>
              <a:rPr lang="en-US" sz="1200" dirty="0">
                <a:solidFill>
                  <a:srgbClr val="55708A"/>
                </a:solidFill>
                <a:latin typeface="Calibri" pitchFamily="34" charset="0"/>
                <a:ea typeface="Calibri" pitchFamily="34" charset="-122"/>
                <a:cs typeface="Calibri" pitchFamily="34" charset="-120"/>
              </a:rPr>
              <a:t>mean duration (planned 16)</a:t>
            </a:r>
            <a:endParaRPr lang="en-US" sz="1600" dirty="0"/>
          </a:p>
        </p:txBody>
      </p:sp>
      <p:sp>
        <p:nvSpPr>
          <p:cNvPr id="13" name="a5_st2"/>
          <p:cNvSpPr/>
          <p:nvPr/>
        </p:nvSpPr>
        <p:spPr>
          <a:xfrm>
            <a:off x="9235440" y="4892040"/>
            <a:ext cx="2423160" cy="1051560"/>
          </a:xfrm>
          <a:prstGeom prst="roundRect">
            <a:avLst>
              <a:gd name="adj" fmla="val 8696"/>
            </a:avLst>
          </a:prstGeom>
          <a:solidFill>
            <a:srgbClr val="DCEAF6"/>
          </a:solidFill>
          <a:ln w="12700">
            <a:solidFill>
              <a:srgbClr val="DCEAF6"/>
            </a:solidFill>
            <a:prstDash val="solid"/>
          </a:ln>
        </p:spPr>
      </p:sp>
      <p:sp>
        <p:nvSpPr>
          <p:cNvPr id="14" name="a5_stt2"/>
          <p:cNvSpPr txBox="1"/>
          <p:nvPr/>
        </p:nvSpPr>
        <p:spPr>
          <a:xfrm>
            <a:off x="9235440" y="4892040"/>
            <a:ext cx="2423160" cy="1051560"/>
          </a:xfrm>
          <a:prstGeom prst="rect">
            <a:avLst/>
          </a:prstGeom>
          <a:noFill/>
          <a:ln/>
        </p:spPr>
        <p:txBody>
          <a:bodyPr wrap="square" lIns="0" tIns="0" rIns="0" bIns="0" rtlCol="0" anchor="ctr"/>
          <a:lstStyle/>
          <a:p>
            <a:pPr algn="ctr" indent="0" marL="0">
              <a:buNone/>
            </a:pPr>
            <a:r>
              <a:rPr lang="en-US" sz="2400" b="1" dirty="0">
                <a:solidFill>
                  <a:srgbClr val="173F6B"/>
                </a:solidFill>
                <a:latin typeface="Times New Roman" pitchFamily="34" charset="0"/>
                <a:ea typeface="Times New Roman" pitchFamily="34" charset="-122"/>
                <a:cs typeface="Times New Roman" pitchFamily="34" charset="-120"/>
              </a:rPr>
              <a:t>25.6 d</a:t>
            </a:r>
            <a:endParaRPr lang="en-US" sz="1600" dirty="0"/>
          </a:p>
          <a:p>
            <a:pPr algn="ctr" indent="0" marL="0">
              <a:buNone/>
            </a:pPr>
            <a:r>
              <a:rPr lang="en-US" sz="1200" dirty="0">
                <a:solidFill>
                  <a:srgbClr val="55708A"/>
                </a:solidFill>
                <a:latin typeface="Calibri" pitchFamily="34" charset="0"/>
                <a:ea typeface="Calibri" pitchFamily="34" charset="-122"/>
                <a:cs typeface="Calibri" pitchFamily="34" charset="-120"/>
              </a:rPr>
              <a:t>P90 duration</a:t>
            </a:r>
            <a:endParaRPr lang="en-US" sz="1600" dirty="0"/>
          </a:p>
        </p:txBody>
      </p:sp>
      <p:sp>
        <p:nvSpPr>
          <p:cNvPr id="15" name="Text 11"/>
          <p:cNvSpPr txBox="1"/>
          <p:nvPr/>
        </p:nvSpPr>
        <p:spPr>
          <a:xfrm>
            <a:off x="4434840" y="6144768"/>
            <a:ext cx="722376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ILLUSTRATIVE example analysis case (python -m app.cli example-analysis); app/engine/emv.py, simulation.py</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3"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17"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childTnLst>
                          </p:cTn>
                        </p:par>
                        <p:par>
                          <p:cTn id="21" fill="hold">
                            <p:stCondLst>
                              <p:cond delay="114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450"/>
                                        <p:tgtEl>
                                          <p:spTgt spid="8"/>
                                        </p:tgtEl>
                                      </p:cBhvr>
                                    </p:animEffect>
                                  </p:childTnLst>
                                </p:cTn>
                              </p:par>
                            </p:childTnLst>
                          </p:cTn>
                        </p:par>
                        <p:par>
                          <p:cTn id="40" fill="hold">
                            <p:stCondLst>
                              <p:cond delay="152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9" grpId="0" animBg="1"/>
      <p:bldP spid="10" grpId="0" animBg="1"/>
      <p:bldP spid="11" grpId="0" animBg="1"/>
      <p:bldP spid="12" grpId="0" animBg="1"/>
      <p:bldP spid="13" grpId="0" animBg="1"/>
      <p:bldP spid="14" grpId="0" animBg="1"/>
      <p:bldGraphic spid="8" grpId="0">
        <p:bldAsOne/>
      </p:bldGraphic>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What we built it with: libraries and tools</a:t>
            </a:r>
            <a:endParaRPr lang="en-US" sz="3200" dirty="0"/>
          </a:p>
        </p:txBody>
      </p:sp>
      <p:sp>
        <p:nvSpPr>
          <p:cNvPr id="4" name="a1_card0"/>
          <p:cNvSpPr/>
          <p:nvPr/>
        </p:nvSpPr>
        <p:spPr>
          <a:xfrm>
            <a:off x="548640" y="1371600"/>
            <a:ext cx="2651760" cy="1389888"/>
          </a:xfrm>
          <a:prstGeom prst="roundRect">
            <a:avLst>
              <a:gd name="adj" fmla="val 6579"/>
            </a:avLst>
          </a:prstGeom>
          <a:solidFill>
            <a:srgbClr val="DCEAF6"/>
          </a:solidFill>
          <a:ln w="12700">
            <a:solidFill>
              <a:srgbClr val="B9CFE3"/>
            </a:solidFill>
            <a:prstDash val="solid"/>
          </a:ln>
        </p:spPr>
      </p:sp>
      <p:sp>
        <p:nvSpPr>
          <p:cNvPr id="5" name="a1_h0"/>
          <p:cNvSpPr txBox="1"/>
          <p:nvPr/>
        </p:nvSpPr>
        <p:spPr>
          <a:xfrm>
            <a:off x="731520" y="1481328"/>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Flask</a:t>
            </a:r>
            <a:endParaRPr lang="en-US" sz="1700" dirty="0"/>
          </a:p>
        </p:txBody>
      </p:sp>
      <p:sp>
        <p:nvSpPr>
          <p:cNvPr id="6" name="a1_d0"/>
          <p:cNvSpPr txBox="1"/>
          <p:nvPr/>
        </p:nvSpPr>
        <p:spPr>
          <a:xfrm>
            <a:off x="731520" y="2029968"/>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local web server and JSON routes</a:t>
            </a:r>
            <a:endParaRPr lang="en-US" sz="1300" dirty="0"/>
          </a:p>
        </p:txBody>
      </p:sp>
      <p:sp>
        <p:nvSpPr>
          <p:cNvPr id="7" name="a1_card1"/>
          <p:cNvSpPr/>
          <p:nvPr/>
        </p:nvSpPr>
        <p:spPr>
          <a:xfrm>
            <a:off x="3355848" y="1371600"/>
            <a:ext cx="2651760" cy="1389888"/>
          </a:xfrm>
          <a:prstGeom prst="roundRect">
            <a:avLst>
              <a:gd name="adj" fmla="val 6579"/>
            </a:avLst>
          </a:prstGeom>
          <a:solidFill>
            <a:srgbClr val="EFF5FA"/>
          </a:solidFill>
          <a:ln w="12700">
            <a:solidFill>
              <a:srgbClr val="B9CFE3"/>
            </a:solidFill>
            <a:prstDash val="solid"/>
          </a:ln>
        </p:spPr>
      </p:sp>
      <p:sp>
        <p:nvSpPr>
          <p:cNvPr id="8" name="a1_h1"/>
          <p:cNvSpPr txBox="1"/>
          <p:nvPr/>
        </p:nvSpPr>
        <p:spPr>
          <a:xfrm>
            <a:off x="3538728" y="1481328"/>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NumPy</a:t>
            </a:r>
            <a:endParaRPr lang="en-US" sz="1700" dirty="0"/>
          </a:p>
        </p:txBody>
      </p:sp>
      <p:sp>
        <p:nvSpPr>
          <p:cNvPr id="9" name="a1_d1"/>
          <p:cNvSpPr txBox="1"/>
          <p:nvPr/>
        </p:nvSpPr>
        <p:spPr>
          <a:xfrm>
            <a:off x="3538728" y="2029968"/>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random draws, class counting, arrays</a:t>
            </a:r>
            <a:endParaRPr lang="en-US" sz="1300" dirty="0"/>
          </a:p>
        </p:txBody>
      </p:sp>
      <p:sp>
        <p:nvSpPr>
          <p:cNvPr id="10" name="a1_card2"/>
          <p:cNvSpPr/>
          <p:nvPr/>
        </p:nvSpPr>
        <p:spPr>
          <a:xfrm>
            <a:off x="6163056" y="1371600"/>
            <a:ext cx="2651760" cy="1389888"/>
          </a:xfrm>
          <a:prstGeom prst="roundRect">
            <a:avLst>
              <a:gd name="adj" fmla="val 6579"/>
            </a:avLst>
          </a:prstGeom>
          <a:solidFill>
            <a:srgbClr val="FFFFFF"/>
          </a:solidFill>
          <a:ln w="12700">
            <a:solidFill>
              <a:srgbClr val="B9CFE3"/>
            </a:solidFill>
            <a:prstDash val="solid"/>
          </a:ln>
        </p:spPr>
      </p:sp>
      <p:sp>
        <p:nvSpPr>
          <p:cNvPr id="11" name="a1_h2"/>
          <p:cNvSpPr txBox="1"/>
          <p:nvPr/>
        </p:nvSpPr>
        <p:spPr>
          <a:xfrm>
            <a:off x="6345936" y="1481328"/>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SciPy</a:t>
            </a:r>
            <a:endParaRPr lang="en-US" sz="1700" dirty="0"/>
          </a:p>
        </p:txBody>
      </p:sp>
      <p:sp>
        <p:nvSpPr>
          <p:cNvPr id="12" name="a1_d2"/>
          <p:cNvSpPr txBox="1"/>
          <p:nvPr/>
        </p:nvSpPr>
        <p:spPr>
          <a:xfrm>
            <a:off x="6345936" y="2029968"/>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Spearman, permutation and exact tests</a:t>
            </a:r>
            <a:endParaRPr lang="en-US" sz="1300" dirty="0"/>
          </a:p>
        </p:txBody>
      </p:sp>
      <p:sp>
        <p:nvSpPr>
          <p:cNvPr id="13" name="a1_card3"/>
          <p:cNvSpPr/>
          <p:nvPr/>
        </p:nvSpPr>
        <p:spPr>
          <a:xfrm>
            <a:off x="8970264" y="1371600"/>
            <a:ext cx="2651760" cy="1389888"/>
          </a:xfrm>
          <a:prstGeom prst="roundRect">
            <a:avLst>
              <a:gd name="adj" fmla="val 6579"/>
            </a:avLst>
          </a:prstGeom>
          <a:solidFill>
            <a:srgbClr val="DCEAF6"/>
          </a:solidFill>
          <a:ln w="12700">
            <a:solidFill>
              <a:srgbClr val="B9CFE3"/>
            </a:solidFill>
            <a:prstDash val="solid"/>
          </a:ln>
        </p:spPr>
      </p:sp>
      <p:sp>
        <p:nvSpPr>
          <p:cNvPr id="14" name="a1_h3"/>
          <p:cNvSpPr txBox="1"/>
          <p:nvPr/>
        </p:nvSpPr>
        <p:spPr>
          <a:xfrm>
            <a:off x="9153144" y="1481328"/>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matplotlib</a:t>
            </a:r>
            <a:endParaRPr lang="en-US" sz="1700" dirty="0"/>
          </a:p>
        </p:txBody>
      </p:sp>
      <p:sp>
        <p:nvSpPr>
          <p:cNvPr id="15" name="a1_d3"/>
          <p:cNvSpPr txBox="1"/>
          <p:nvPr/>
        </p:nvSpPr>
        <p:spPr>
          <a:xfrm>
            <a:off x="9153144" y="2029968"/>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SVG / PNG matrix and chart exports</a:t>
            </a:r>
            <a:endParaRPr lang="en-US" sz="1300" dirty="0"/>
          </a:p>
        </p:txBody>
      </p:sp>
      <p:sp>
        <p:nvSpPr>
          <p:cNvPr id="16" name="a2_card4"/>
          <p:cNvSpPr/>
          <p:nvPr/>
        </p:nvSpPr>
        <p:spPr>
          <a:xfrm>
            <a:off x="548640" y="2944368"/>
            <a:ext cx="2651760" cy="1389888"/>
          </a:xfrm>
          <a:prstGeom prst="roundRect">
            <a:avLst>
              <a:gd name="adj" fmla="val 6579"/>
            </a:avLst>
          </a:prstGeom>
          <a:solidFill>
            <a:srgbClr val="EFF5FA"/>
          </a:solidFill>
          <a:ln w="12700">
            <a:solidFill>
              <a:srgbClr val="B9CFE3"/>
            </a:solidFill>
            <a:prstDash val="solid"/>
          </a:ln>
        </p:spPr>
      </p:sp>
      <p:sp>
        <p:nvSpPr>
          <p:cNvPr id="17" name="a2_h4"/>
          <p:cNvSpPr txBox="1"/>
          <p:nvPr/>
        </p:nvSpPr>
        <p:spPr>
          <a:xfrm>
            <a:off x="731520" y="3054096"/>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openpyxl</a:t>
            </a:r>
            <a:endParaRPr lang="en-US" sz="1700" dirty="0"/>
          </a:p>
        </p:txBody>
      </p:sp>
      <p:sp>
        <p:nvSpPr>
          <p:cNvPr id="18" name="a2_d4"/>
          <p:cNvSpPr txBox="1"/>
          <p:nvPr/>
        </p:nvSpPr>
        <p:spPr>
          <a:xfrm>
            <a:off x="731520" y="3602736"/>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reads the evidence workbook</a:t>
            </a:r>
            <a:endParaRPr lang="en-US" sz="1300" dirty="0"/>
          </a:p>
        </p:txBody>
      </p:sp>
      <p:sp>
        <p:nvSpPr>
          <p:cNvPr id="19" name="a2_card5"/>
          <p:cNvSpPr/>
          <p:nvPr/>
        </p:nvSpPr>
        <p:spPr>
          <a:xfrm>
            <a:off x="3355848" y="2944368"/>
            <a:ext cx="2651760" cy="1389888"/>
          </a:xfrm>
          <a:prstGeom prst="roundRect">
            <a:avLst>
              <a:gd name="adj" fmla="val 6579"/>
            </a:avLst>
          </a:prstGeom>
          <a:solidFill>
            <a:srgbClr val="FFFFFF"/>
          </a:solidFill>
          <a:ln w="12700">
            <a:solidFill>
              <a:srgbClr val="B9CFE3"/>
            </a:solidFill>
            <a:prstDash val="solid"/>
          </a:ln>
        </p:spPr>
      </p:sp>
      <p:sp>
        <p:nvSpPr>
          <p:cNvPr id="20" name="a2_h5"/>
          <p:cNvSpPr txBox="1"/>
          <p:nvPr/>
        </p:nvSpPr>
        <p:spPr>
          <a:xfrm>
            <a:off x="3538728" y="3054096"/>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pandas, statsmodels</a:t>
            </a:r>
            <a:endParaRPr lang="en-US" sz="1700" dirty="0"/>
          </a:p>
        </p:txBody>
      </p:sp>
      <p:sp>
        <p:nvSpPr>
          <p:cNvPr id="21" name="a2_d5"/>
          <p:cNvSpPr txBox="1"/>
          <p:nvPr/>
        </p:nvSpPr>
        <p:spPr>
          <a:xfrm>
            <a:off x="3538728" y="3602736"/>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literature statistics scripts</a:t>
            </a:r>
            <a:endParaRPr lang="en-US" sz="1300" dirty="0"/>
          </a:p>
        </p:txBody>
      </p:sp>
      <p:sp>
        <p:nvSpPr>
          <p:cNvPr id="22" name="a2_card6"/>
          <p:cNvSpPr/>
          <p:nvPr/>
        </p:nvSpPr>
        <p:spPr>
          <a:xfrm>
            <a:off x="6163056" y="2944368"/>
            <a:ext cx="2651760" cy="1389888"/>
          </a:xfrm>
          <a:prstGeom prst="roundRect">
            <a:avLst>
              <a:gd name="adj" fmla="val 6579"/>
            </a:avLst>
          </a:prstGeom>
          <a:solidFill>
            <a:srgbClr val="DCEAF6"/>
          </a:solidFill>
          <a:ln w="12700">
            <a:solidFill>
              <a:srgbClr val="B9CFE3"/>
            </a:solidFill>
            <a:prstDash val="solid"/>
          </a:ln>
        </p:spPr>
      </p:sp>
      <p:sp>
        <p:nvSpPr>
          <p:cNvPr id="23" name="a2_h6"/>
          <p:cNvSpPr txBox="1"/>
          <p:nvPr/>
        </p:nvSpPr>
        <p:spPr>
          <a:xfrm>
            <a:off x="6345936" y="3054096"/>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SQLite</a:t>
            </a:r>
            <a:endParaRPr lang="en-US" sz="1700" dirty="0"/>
          </a:p>
        </p:txBody>
      </p:sp>
      <p:sp>
        <p:nvSpPr>
          <p:cNvPr id="24" name="a2_d6"/>
          <p:cNvSpPr txBox="1"/>
          <p:nvPr/>
        </p:nvSpPr>
        <p:spPr>
          <a:xfrm>
            <a:off x="6345936" y="3602736"/>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literature database of screened works</a:t>
            </a:r>
            <a:endParaRPr lang="en-US" sz="1300" dirty="0"/>
          </a:p>
        </p:txBody>
      </p:sp>
      <p:sp>
        <p:nvSpPr>
          <p:cNvPr id="25" name="a2_card7"/>
          <p:cNvSpPr/>
          <p:nvPr/>
        </p:nvSpPr>
        <p:spPr>
          <a:xfrm>
            <a:off x="8970264" y="2944368"/>
            <a:ext cx="2651760" cy="1389888"/>
          </a:xfrm>
          <a:prstGeom prst="roundRect">
            <a:avLst>
              <a:gd name="adj" fmla="val 6579"/>
            </a:avLst>
          </a:prstGeom>
          <a:solidFill>
            <a:srgbClr val="EFF5FA"/>
          </a:solidFill>
          <a:ln w="12700">
            <a:solidFill>
              <a:srgbClr val="B9CFE3"/>
            </a:solidFill>
            <a:prstDash val="solid"/>
          </a:ln>
        </p:spPr>
      </p:sp>
      <p:sp>
        <p:nvSpPr>
          <p:cNvPr id="26" name="a2_h7"/>
          <p:cNvSpPr txBox="1"/>
          <p:nvPr/>
        </p:nvSpPr>
        <p:spPr>
          <a:xfrm>
            <a:off x="9153144" y="3054096"/>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OpenAlex API, requests</a:t>
            </a:r>
            <a:endParaRPr lang="en-US" sz="1700" dirty="0"/>
          </a:p>
        </p:txBody>
      </p:sp>
      <p:sp>
        <p:nvSpPr>
          <p:cNvPr id="27" name="a2_d7"/>
          <p:cNvSpPr txBox="1"/>
          <p:nvPr/>
        </p:nvSpPr>
        <p:spPr>
          <a:xfrm>
            <a:off x="9153144" y="3602736"/>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harvest of published papers</a:t>
            </a:r>
            <a:endParaRPr lang="en-US" sz="1300" dirty="0"/>
          </a:p>
        </p:txBody>
      </p:sp>
      <p:sp>
        <p:nvSpPr>
          <p:cNvPr id="28" name="a3_card8"/>
          <p:cNvSpPr/>
          <p:nvPr/>
        </p:nvSpPr>
        <p:spPr>
          <a:xfrm>
            <a:off x="548640" y="4517136"/>
            <a:ext cx="2651760" cy="1389888"/>
          </a:xfrm>
          <a:prstGeom prst="roundRect">
            <a:avLst>
              <a:gd name="adj" fmla="val 6579"/>
            </a:avLst>
          </a:prstGeom>
          <a:solidFill>
            <a:srgbClr val="FFFFFF"/>
          </a:solidFill>
          <a:ln w="12700">
            <a:solidFill>
              <a:srgbClr val="B9CFE3"/>
            </a:solidFill>
            <a:prstDash val="solid"/>
          </a:ln>
        </p:spPr>
      </p:sp>
      <p:sp>
        <p:nvSpPr>
          <p:cNvPr id="29" name="a3_h8"/>
          <p:cNvSpPr txBox="1"/>
          <p:nvPr/>
        </p:nvSpPr>
        <p:spPr>
          <a:xfrm>
            <a:off x="731520" y="4626864"/>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Plain JavaScript (ES modules)</a:t>
            </a:r>
            <a:endParaRPr lang="en-US" sz="1700" dirty="0"/>
          </a:p>
        </p:txBody>
      </p:sp>
      <p:sp>
        <p:nvSpPr>
          <p:cNvPr id="30" name="a3_d8"/>
          <p:cNvSpPr txBox="1"/>
          <p:nvPr/>
        </p:nvSpPr>
        <p:spPr>
          <a:xfrm>
            <a:off x="731520" y="5175504"/>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the screens: no framework, no build step</a:t>
            </a:r>
            <a:endParaRPr lang="en-US" sz="1300" dirty="0"/>
          </a:p>
        </p:txBody>
      </p:sp>
      <p:sp>
        <p:nvSpPr>
          <p:cNvPr id="31" name="a3_card9"/>
          <p:cNvSpPr/>
          <p:nvPr/>
        </p:nvSpPr>
        <p:spPr>
          <a:xfrm>
            <a:off x="3355848" y="4517136"/>
            <a:ext cx="2651760" cy="1389888"/>
          </a:xfrm>
          <a:prstGeom prst="roundRect">
            <a:avLst>
              <a:gd name="adj" fmla="val 6579"/>
            </a:avLst>
          </a:prstGeom>
          <a:solidFill>
            <a:srgbClr val="DCEAF6"/>
          </a:solidFill>
          <a:ln w="12700">
            <a:solidFill>
              <a:srgbClr val="B9CFE3"/>
            </a:solidFill>
            <a:prstDash val="solid"/>
          </a:ln>
        </p:spPr>
      </p:sp>
      <p:sp>
        <p:nvSpPr>
          <p:cNvPr id="32" name="a3_h9"/>
          <p:cNvSpPr txBox="1"/>
          <p:nvPr/>
        </p:nvSpPr>
        <p:spPr>
          <a:xfrm>
            <a:off x="3538728" y="4626864"/>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PySide6 and PyInstaller</a:t>
            </a:r>
            <a:endParaRPr lang="en-US" sz="1700" dirty="0"/>
          </a:p>
        </p:txBody>
      </p:sp>
      <p:sp>
        <p:nvSpPr>
          <p:cNvPr id="33" name="a3_d9"/>
          <p:cNvSpPr txBox="1"/>
          <p:nvPr/>
        </p:nvSpPr>
        <p:spPr>
          <a:xfrm>
            <a:off x="3538728" y="5175504"/>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desktop window and Windows .exe</a:t>
            </a:r>
            <a:endParaRPr lang="en-US" sz="1300" dirty="0"/>
          </a:p>
        </p:txBody>
      </p:sp>
      <p:sp>
        <p:nvSpPr>
          <p:cNvPr id="34" name="a3_card10"/>
          <p:cNvSpPr/>
          <p:nvPr/>
        </p:nvSpPr>
        <p:spPr>
          <a:xfrm>
            <a:off x="6163056" y="4517136"/>
            <a:ext cx="2651760" cy="1389888"/>
          </a:xfrm>
          <a:prstGeom prst="roundRect">
            <a:avLst>
              <a:gd name="adj" fmla="val 6579"/>
            </a:avLst>
          </a:prstGeom>
          <a:solidFill>
            <a:srgbClr val="EFF5FA"/>
          </a:solidFill>
          <a:ln w="12700">
            <a:solidFill>
              <a:srgbClr val="B9CFE3"/>
            </a:solidFill>
            <a:prstDash val="solid"/>
          </a:ln>
        </p:spPr>
      </p:sp>
      <p:sp>
        <p:nvSpPr>
          <p:cNvPr id="35" name="a3_h10"/>
          <p:cNvSpPr txBox="1"/>
          <p:nvPr/>
        </p:nvSpPr>
        <p:spPr>
          <a:xfrm>
            <a:off x="6345936" y="4626864"/>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pytest, flake8</a:t>
            </a:r>
            <a:endParaRPr lang="en-US" sz="1700" dirty="0"/>
          </a:p>
        </p:txBody>
      </p:sp>
      <p:sp>
        <p:nvSpPr>
          <p:cNvPr id="36" name="a3_d10"/>
          <p:cNvSpPr txBox="1"/>
          <p:nvPr/>
        </p:nvSpPr>
        <p:spPr>
          <a:xfrm>
            <a:off x="6345936" y="5175504"/>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603 tests; static checks</a:t>
            </a:r>
            <a:endParaRPr lang="en-US" sz="1300" dirty="0"/>
          </a:p>
        </p:txBody>
      </p:sp>
      <p:sp>
        <p:nvSpPr>
          <p:cNvPr id="37" name="a3_card11"/>
          <p:cNvSpPr/>
          <p:nvPr/>
        </p:nvSpPr>
        <p:spPr>
          <a:xfrm>
            <a:off x="8970264" y="4517136"/>
            <a:ext cx="2651760" cy="1389888"/>
          </a:xfrm>
          <a:prstGeom prst="roundRect">
            <a:avLst>
              <a:gd name="adj" fmla="val 6579"/>
            </a:avLst>
          </a:prstGeom>
          <a:solidFill>
            <a:srgbClr val="FFFFFF"/>
          </a:solidFill>
          <a:ln w="12700">
            <a:solidFill>
              <a:srgbClr val="B9CFE3"/>
            </a:solidFill>
            <a:prstDash val="solid"/>
          </a:ln>
        </p:spPr>
      </p:sp>
      <p:sp>
        <p:nvSpPr>
          <p:cNvPr id="38" name="a3_h11"/>
          <p:cNvSpPr txBox="1"/>
          <p:nvPr/>
        </p:nvSpPr>
        <p:spPr>
          <a:xfrm>
            <a:off x="9153144" y="4626864"/>
            <a:ext cx="2331720" cy="502920"/>
          </a:xfrm>
          <a:prstGeom prst="rect">
            <a:avLst/>
          </a:prstGeom>
          <a:noFill/>
          <a:ln/>
        </p:spPr>
        <p:txBody>
          <a:bodyPr wrap="square" lIns="0" tIns="0" rIns="0" bIns="0" rtlCol="0" anchor="ctr"/>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Chromium and Playwright</a:t>
            </a:r>
            <a:endParaRPr lang="en-US" sz="1700" dirty="0"/>
          </a:p>
        </p:txBody>
      </p:sp>
      <p:sp>
        <p:nvSpPr>
          <p:cNvPr id="39" name="a3_d11"/>
          <p:cNvSpPr txBox="1"/>
          <p:nvPr/>
        </p:nvSpPr>
        <p:spPr>
          <a:xfrm>
            <a:off x="9153144" y="5175504"/>
            <a:ext cx="2331720" cy="685800"/>
          </a:xfrm>
          <a:prstGeom prst="rect">
            <a:avLst/>
          </a:prstGeom>
          <a:noFill/>
          <a:ln/>
        </p:spPr>
        <p:txBody>
          <a:bodyPr wrap="square" lIns="0" tIns="0" rIns="0" bIns="0" rtlCol="0" anchor="t"/>
          <a:lstStyle/>
          <a:p>
            <a:pPr indent="0" marL="0">
              <a:buNone/>
            </a:pPr>
            <a:r>
              <a:rPr lang="en-US" sz="1300" dirty="0">
                <a:solidFill>
                  <a:srgbClr val="55708A"/>
                </a:solidFill>
                <a:latin typeface="Calibri" pitchFamily="34" charset="0"/>
                <a:ea typeface="Calibri" pitchFamily="34" charset="-122"/>
                <a:cs typeface="Calibri" pitchFamily="34" charset="-120"/>
              </a:rPr>
              <a:t>layout and accessibility check</a:t>
            </a:r>
            <a:endParaRPr lang="en-US" sz="1300" dirty="0"/>
          </a:p>
        </p:txBody>
      </p:sp>
      <p:sp>
        <p:nvSpPr>
          <p:cNvPr id="40" name="Text 37"/>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requirements.txt, requirements-dev.txt, requirements-desktop.txt; gui/static/js; scripts/</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cond evt="onBegin" delay="0">
                          <p:tn val="2"/>
                        </p:cond>
                      </p:stCondLst>
                      <p:childTnLst>
                        <p:par>
                          <p:cTn id="3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5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5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5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5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50"/>
                                        <p:tgtEl>
                                          <p:spTgt spid="15"/>
                                        </p:tgtEl>
                                      </p:cBhvr>
                                    </p:animEffect>
                                  </p:childTnLst>
                                </p:cTn>
                              </p:par>
                            </p:childTnLst>
                          </p:cTn>
                        </p:par>
                        <p:par>
                          <p:cTn id="76" fill="hold">
                            <p:stCondLst>
                              <p:cond delay="380"/>
                            </p:stCondLst>
                            <p:childTnLst>
                              <p:par>
                                <p:cTn id="40" presetID="10" presetClass="entr" presetSubtype="0" fill="hold" grpId="0" nodeType="after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50"/>
                                        <p:tgtEl>
                                          <p:spTgt spid="1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50"/>
                                        <p:tgtEl>
                                          <p:spTgt spid="2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50"/>
                                        <p:tgtEl>
                                          <p:spTgt spid="2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450"/>
                                        <p:tgtEl>
                                          <p:spTgt spid="2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450"/>
                                        <p:tgtEl>
                                          <p:spTgt spid="24"/>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450"/>
                                        <p:tgtEl>
                                          <p:spTgt spid="25"/>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450"/>
                                        <p:tgtEl>
                                          <p:spTgt spid="2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450"/>
                                        <p:tgtEl>
                                          <p:spTgt spid="27"/>
                                        </p:tgtEl>
                                      </p:cBhvr>
                                    </p:animEffect>
                                  </p:childTnLst>
                                </p:cTn>
                              </p:par>
                            </p:childTnLst>
                          </p:cTn>
                        </p:par>
                        <p:par>
                          <p:cTn id="113" fill="hold">
                            <p:stCondLst>
                              <p:cond delay="760"/>
                            </p:stCondLst>
                            <p:childTnLst>
                              <p:par>
                                <p:cTn id="77" presetID="10" presetClass="entr" presetSubtype="0" fill="hold" grpId="0" nodeType="after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450"/>
                                        <p:tgtEl>
                                          <p:spTgt spid="2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450"/>
                                        <p:tgtEl>
                                          <p:spTgt spid="2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450"/>
                                        <p:tgtEl>
                                          <p:spTgt spid="3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fade">
                                      <p:cBhvr>
                                        <p:cTn id="88" dur="450"/>
                                        <p:tgtEl>
                                          <p:spTgt spid="3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fade">
                                      <p:cBhvr>
                                        <p:cTn id="91" dur="450"/>
                                        <p:tgtEl>
                                          <p:spTgt spid="3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fade">
                                      <p:cBhvr>
                                        <p:cTn id="94" dur="450"/>
                                        <p:tgtEl>
                                          <p:spTgt spid="33"/>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450"/>
                                        <p:tgtEl>
                                          <p:spTgt spid="34"/>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5"/>
                                        </p:tgtEl>
                                        <p:attrNameLst>
                                          <p:attrName>style.visibility</p:attrName>
                                        </p:attrNameLst>
                                      </p:cBhvr>
                                      <p:to>
                                        <p:strVal val="visible"/>
                                      </p:to>
                                    </p:set>
                                    <p:animEffect transition="in" filter="fade">
                                      <p:cBhvr>
                                        <p:cTn id="100" dur="450"/>
                                        <p:tgtEl>
                                          <p:spTgt spid="35"/>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6"/>
                                        </p:tgtEl>
                                        <p:attrNameLst>
                                          <p:attrName>style.visibility</p:attrName>
                                        </p:attrNameLst>
                                      </p:cBhvr>
                                      <p:to>
                                        <p:strVal val="visible"/>
                                      </p:to>
                                    </p:set>
                                    <p:animEffect transition="in" filter="fade">
                                      <p:cBhvr>
                                        <p:cTn id="103" dur="450"/>
                                        <p:tgtEl>
                                          <p:spTgt spid="3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fade">
                                      <p:cBhvr>
                                        <p:cTn id="106" dur="450"/>
                                        <p:tgtEl>
                                          <p:spTgt spid="37"/>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fade">
                                      <p:cBhvr>
                                        <p:cTn id="109" dur="450"/>
                                        <p:tgtEl>
                                          <p:spTgt spid="38"/>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fade">
                                      <p:cBhvr>
                                        <p:cTn id="112"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How the code is organised</a:t>
            </a:r>
            <a:endParaRPr lang="en-US" sz="3200" dirty="0"/>
          </a:p>
        </p:txBody>
      </p:sp>
      <p:sp>
        <p:nvSpPr>
          <p:cNvPr id="4" name="a1_layer0"/>
          <p:cNvSpPr/>
          <p:nvPr/>
        </p:nvSpPr>
        <p:spPr>
          <a:xfrm>
            <a:off x="548640" y="1371600"/>
            <a:ext cx="5760720" cy="804672"/>
          </a:xfrm>
          <a:prstGeom prst="roundRect">
            <a:avLst>
              <a:gd name="adj" fmla="val 11364"/>
            </a:avLst>
          </a:prstGeom>
          <a:solidFill>
            <a:srgbClr val="173F6B"/>
          </a:solidFill>
          <a:ln w="12700">
            <a:solidFill>
              <a:srgbClr val="173F6B"/>
            </a:solidFill>
            <a:prstDash val="solid"/>
          </a:ln>
        </p:spPr>
      </p:sp>
      <p:sp>
        <p:nvSpPr>
          <p:cNvPr id="5" name="a1_lt0"/>
          <p:cNvSpPr txBox="1"/>
          <p:nvPr/>
        </p:nvSpPr>
        <p:spPr>
          <a:xfrm>
            <a:off x="731520" y="1426464"/>
            <a:ext cx="5303520" cy="365760"/>
          </a:xfrm>
          <a:prstGeom prst="rect">
            <a:avLst/>
          </a:prstGeom>
          <a:noFill/>
          <a:ln/>
        </p:spPr>
        <p:txBody>
          <a:bodyPr wrap="square" lIns="0" tIns="0" rIns="0" bIns="0" rtlCol="0" anchor="t"/>
          <a:lstStyle/>
          <a:p>
            <a:pPr indent="0" marL="0">
              <a:buNone/>
            </a:pPr>
            <a:r>
              <a:rPr lang="en-US" sz="1900" b="1" dirty="0">
                <a:solidFill>
                  <a:srgbClr val="FFFFFF"/>
                </a:solidFill>
                <a:latin typeface="Times New Roman" pitchFamily="34" charset="0"/>
                <a:ea typeface="Times New Roman" pitchFamily="34" charset="-122"/>
                <a:cs typeface="Times New Roman" pitchFamily="34" charset="-120"/>
              </a:rPr>
              <a:t>Data   </a:t>
            </a:r>
            <a:pPr indent="0" marL="0">
              <a:buNone/>
            </a:pPr>
            <a:r>
              <a:rPr lang="en-US" sz="1300" dirty="0">
                <a:solidFill>
                  <a:srgbClr val="19B5C8"/>
                </a:solidFill>
                <a:latin typeface="Courier New" pitchFamily="34" charset="0"/>
                <a:ea typeface="Courier New" pitchFamily="34" charset="-122"/>
                <a:cs typeface="Courier New" pitchFamily="34" charset="-120"/>
              </a:rPr>
              <a:t>data/*.json</a:t>
            </a:r>
            <a:endParaRPr lang="en-US" sz="1600" dirty="0"/>
          </a:p>
        </p:txBody>
      </p:sp>
      <p:sp>
        <p:nvSpPr>
          <p:cNvPr id="6" name="a1_ld0"/>
          <p:cNvSpPr txBox="1"/>
          <p:nvPr/>
        </p:nvSpPr>
        <p:spPr>
          <a:xfrm>
            <a:off x="731520" y="1783080"/>
            <a:ext cx="5303520" cy="365760"/>
          </a:xfrm>
          <a:prstGeom prst="rect">
            <a:avLst/>
          </a:prstGeom>
          <a:noFill/>
          <a:ln/>
        </p:spPr>
        <p:txBody>
          <a:bodyPr wrap="square" lIns="0" tIns="0" rIns="0" bIns="0" rtlCol="0" anchor="t"/>
          <a:lstStyle/>
          <a:p>
            <a:pPr indent="0" marL="0">
              <a:buNone/>
            </a:pPr>
            <a:r>
              <a:rPr lang="en-US" sz="1200" dirty="0">
                <a:solidFill>
                  <a:srgbClr val="DCEAF6"/>
                </a:solidFill>
                <a:latin typeface="Calibri" pitchFamily="34" charset="0"/>
                <a:ea typeface="Calibri" pitchFamily="34" charset="-122"/>
                <a:cs typeface="Calibri" pitchFamily="34" charset="-120"/>
              </a:rPr>
              <a:t>risk library, rules, literature seed, mitigation catalogue</a:t>
            </a:r>
            <a:endParaRPr lang="en-US" sz="1200" dirty="0"/>
          </a:p>
        </p:txBody>
      </p:sp>
      <p:sp>
        <p:nvSpPr>
          <p:cNvPr id="7" name="a2_layer1"/>
          <p:cNvSpPr/>
          <p:nvPr/>
        </p:nvSpPr>
        <p:spPr>
          <a:xfrm>
            <a:off x="804672" y="2304288"/>
            <a:ext cx="5504688" cy="804672"/>
          </a:xfrm>
          <a:prstGeom prst="roundRect">
            <a:avLst>
              <a:gd name="adj" fmla="val 11364"/>
            </a:avLst>
          </a:prstGeom>
          <a:solidFill>
            <a:srgbClr val="2F6C9A"/>
          </a:solidFill>
          <a:ln w="12700">
            <a:solidFill>
              <a:srgbClr val="2F6C9A"/>
            </a:solidFill>
            <a:prstDash val="solid"/>
          </a:ln>
        </p:spPr>
      </p:sp>
      <p:sp>
        <p:nvSpPr>
          <p:cNvPr id="8" name="a2_lt1"/>
          <p:cNvSpPr txBox="1"/>
          <p:nvPr/>
        </p:nvSpPr>
        <p:spPr>
          <a:xfrm>
            <a:off x="987552" y="2359152"/>
            <a:ext cx="5047488" cy="365760"/>
          </a:xfrm>
          <a:prstGeom prst="rect">
            <a:avLst/>
          </a:prstGeom>
          <a:noFill/>
          <a:ln/>
        </p:spPr>
        <p:txBody>
          <a:bodyPr wrap="square" lIns="0" tIns="0" rIns="0" bIns="0" rtlCol="0" anchor="t"/>
          <a:lstStyle/>
          <a:p>
            <a:pPr indent="0" marL="0">
              <a:buNone/>
            </a:pPr>
            <a:r>
              <a:rPr lang="en-US" sz="1900" b="1" dirty="0">
                <a:solidFill>
                  <a:srgbClr val="FFFFFF"/>
                </a:solidFill>
                <a:latin typeface="Times New Roman" pitchFamily="34" charset="0"/>
                <a:ea typeface="Times New Roman" pitchFamily="34" charset="-122"/>
                <a:cs typeface="Times New Roman" pitchFamily="34" charset="-120"/>
              </a:rPr>
              <a:t>Engine   </a:t>
            </a:r>
            <a:pPr indent="0" marL="0">
              <a:buNone/>
            </a:pPr>
            <a:r>
              <a:rPr lang="en-US" sz="1300" dirty="0">
                <a:solidFill>
                  <a:srgbClr val="19B5C8"/>
                </a:solidFill>
                <a:latin typeface="Courier New" pitchFamily="34" charset="0"/>
                <a:ea typeface="Courier New" pitchFamily="34" charset="-122"/>
                <a:cs typeface="Courier New" pitchFamily="34" charset="-120"/>
              </a:rPr>
              <a:t>app/engine/</a:t>
            </a:r>
            <a:endParaRPr lang="en-US" sz="1600" dirty="0"/>
          </a:p>
        </p:txBody>
      </p:sp>
      <p:sp>
        <p:nvSpPr>
          <p:cNvPr id="9" name="a2_ld1"/>
          <p:cNvSpPr txBox="1"/>
          <p:nvPr/>
        </p:nvSpPr>
        <p:spPr>
          <a:xfrm>
            <a:off x="987552" y="2715768"/>
            <a:ext cx="5047488" cy="365760"/>
          </a:xfrm>
          <a:prstGeom prst="rect">
            <a:avLst/>
          </a:prstGeom>
          <a:noFill/>
          <a:ln/>
        </p:spPr>
        <p:txBody>
          <a:bodyPr wrap="square" lIns="0" tIns="0" rIns="0" bIns="0" rtlCol="0" anchor="t"/>
          <a:lstStyle/>
          <a:p>
            <a:pPr indent="0" marL="0">
              <a:buNone/>
            </a:pPr>
            <a:r>
              <a:rPr lang="en-US" sz="1200" dirty="0">
                <a:solidFill>
                  <a:srgbClr val="DCEAF6"/>
                </a:solidFill>
                <a:latin typeface="Calibri" pitchFamily="34" charset="0"/>
                <a:ea typeface="Calibri" pitchFamily="34" charset="-122"/>
                <a:cs typeface="Calibri" pitchFamily="34" charset="-120"/>
              </a:rPr>
              <a:t>matrix, rules, PERT, simulation, EMV</a:t>
            </a:r>
            <a:endParaRPr lang="en-US" sz="1200" dirty="0"/>
          </a:p>
        </p:txBody>
      </p:sp>
      <p:sp>
        <p:nvSpPr>
          <p:cNvPr id="10" name="a3_layer2"/>
          <p:cNvSpPr/>
          <p:nvPr/>
        </p:nvSpPr>
        <p:spPr>
          <a:xfrm>
            <a:off x="1060704" y="3236976"/>
            <a:ext cx="5248656" cy="804672"/>
          </a:xfrm>
          <a:prstGeom prst="roundRect">
            <a:avLst>
              <a:gd name="adj" fmla="val 11364"/>
            </a:avLst>
          </a:prstGeom>
          <a:solidFill>
            <a:srgbClr val="173F6B"/>
          </a:solidFill>
          <a:ln w="12700">
            <a:solidFill>
              <a:srgbClr val="173F6B"/>
            </a:solidFill>
            <a:prstDash val="solid"/>
          </a:ln>
        </p:spPr>
      </p:sp>
      <p:sp>
        <p:nvSpPr>
          <p:cNvPr id="11" name="a3_lt2"/>
          <p:cNvSpPr txBox="1"/>
          <p:nvPr/>
        </p:nvSpPr>
        <p:spPr>
          <a:xfrm>
            <a:off x="1243584" y="3291840"/>
            <a:ext cx="4791456" cy="365760"/>
          </a:xfrm>
          <a:prstGeom prst="rect">
            <a:avLst/>
          </a:prstGeom>
          <a:noFill/>
          <a:ln/>
        </p:spPr>
        <p:txBody>
          <a:bodyPr wrap="square" lIns="0" tIns="0" rIns="0" bIns="0" rtlCol="0" anchor="t"/>
          <a:lstStyle/>
          <a:p>
            <a:pPr indent="0" marL="0">
              <a:buNone/>
            </a:pPr>
            <a:r>
              <a:rPr lang="en-US" sz="1900" b="1" dirty="0">
                <a:solidFill>
                  <a:srgbClr val="FFFFFF"/>
                </a:solidFill>
                <a:latin typeface="Times New Roman" pitchFamily="34" charset="0"/>
                <a:ea typeface="Times New Roman" pitchFamily="34" charset="-122"/>
                <a:cs typeface="Times New Roman" pitchFamily="34" charset="-120"/>
              </a:rPr>
              <a:t>Service   </a:t>
            </a:r>
            <a:pPr indent="0" marL="0">
              <a:buNone/>
            </a:pPr>
            <a:r>
              <a:rPr lang="en-US" sz="1300" dirty="0">
                <a:solidFill>
                  <a:srgbClr val="19B5C8"/>
                </a:solidFill>
                <a:latin typeface="Courier New" pitchFamily="34" charset="0"/>
                <a:ea typeface="Courier New" pitchFamily="34" charset="-122"/>
                <a:cs typeface="Courier New" pitchFamily="34" charset="-120"/>
              </a:rPr>
              <a:t>app/service.py</a:t>
            </a:r>
            <a:endParaRPr lang="en-US" sz="1600" dirty="0"/>
          </a:p>
        </p:txBody>
      </p:sp>
      <p:sp>
        <p:nvSpPr>
          <p:cNvPr id="12" name="a3_ld2"/>
          <p:cNvSpPr txBox="1"/>
          <p:nvPr/>
        </p:nvSpPr>
        <p:spPr>
          <a:xfrm>
            <a:off x="1243584" y="3648456"/>
            <a:ext cx="4791456" cy="365760"/>
          </a:xfrm>
          <a:prstGeom prst="rect">
            <a:avLst/>
          </a:prstGeom>
          <a:noFill/>
          <a:ln/>
        </p:spPr>
        <p:txBody>
          <a:bodyPr wrap="square" lIns="0" tIns="0" rIns="0" bIns="0" rtlCol="0" anchor="t"/>
          <a:lstStyle/>
          <a:p>
            <a:pPr indent="0" marL="0">
              <a:buNone/>
            </a:pPr>
            <a:r>
              <a:rPr lang="en-US" sz="1200" dirty="0">
                <a:solidFill>
                  <a:srgbClr val="DCEAF6"/>
                </a:solidFill>
                <a:latin typeface="Calibri" pitchFamily="34" charset="0"/>
                <a:ea typeface="Calibri" pitchFamily="34" charset="-122"/>
                <a:cs typeface="Calibri" pitchFamily="34" charset="-120"/>
              </a:rPr>
              <a:t>parse and validate, run_case, exports text</a:t>
            </a:r>
            <a:endParaRPr lang="en-US" sz="1200" dirty="0"/>
          </a:p>
        </p:txBody>
      </p:sp>
      <p:sp>
        <p:nvSpPr>
          <p:cNvPr id="13" name="a4_layer3"/>
          <p:cNvSpPr/>
          <p:nvPr/>
        </p:nvSpPr>
        <p:spPr>
          <a:xfrm>
            <a:off x="1316736" y="4169664"/>
            <a:ext cx="4992624" cy="804672"/>
          </a:xfrm>
          <a:prstGeom prst="roundRect">
            <a:avLst>
              <a:gd name="adj" fmla="val 11364"/>
            </a:avLst>
          </a:prstGeom>
          <a:solidFill>
            <a:srgbClr val="2F6C9A"/>
          </a:solidFill>
          <a:ln w="12700">
            <a:solidFill>
              <a:srgbClr val="2F6C9A"/>
            </a:solidFill>
            <a:prstDash val="solid"/>
          </a:ln>
        </p:spPr>
      </p:sp>
      <p:sp>
        <p:nvSpPr>
          <p:cNvPr id="14" name="a4_lt3"/>
          <p:cNvSpPr txBox="1"/>
          <p:nvPr/>
        </p:nvSpPr>
        <p:spPr>
          <a:xfrm>
            <a:off x="1499616" y="4224528"/>
            <a:ext cx="4535424" cy="365760"/>
          </a:xfrm>
          <a:prstGeom prst="rect">
            <a:avLst/>
          </a:prstGeom>
          <a:noFill/>
          <a:ln/>
        </p:spPr>
        <p:txBody>
          <a:bodyPr wrap="square" lIns="0" tIns="0" rIns="0" bIns="0" rtlCol="0" anchor="t"/>
          <a:lstStyle/>
          <a:p>
            <a:pPr indent="0" marL="0">
              <a:buNone/>
            </a:pPr>
            <a:r>
              <a:rPr lang="en-US" sz="1900" b="1" dirty="0">
                <a:solidFill>
                  <a:srgbClr val="FFFFFF"/>
                </a:solidFill>
                <a:latin typeface="Times New Roman" pitchFamily="34" charset="0"/>
                <a:ea typeface="Times New Roman" pitchFamily="34" charset="-122"/>
                <a:cs typeface="Times New Roman" pitchFamily="34" charset="-120"/>
              </a:rPr>
              <a:t>API   </a:t>
            </a:r>
            <a:pPr indent="0" marL="0">
              <a:buNone/>
            </a:pPr>
            <a:r>
              <a:rPr lang="en-US" sz="1300" dirty="0">
                <a:solidFill>
                  <a:srgbClr val="19B5C8"/>
                </a:solidFill>
                <a:latin typeface="Courier New" pitchFamily="34" charset="0"/>
                <a:ea typeface="Courier New" pitchFamily="34" charset="-122"/>
                <a:cs typeface="Courier New" pitchFamily="34" charset="-120"/>
              </a:rPr>
              <a:t>gui/api.py</a:t>
            </a:r>
            <a:endParaRPr lang="en-US" sz="1600" dirty="0"/>
          </a:p>
        </p:txBody>
      </p:sp>
      <p:sp>
        <p:nvSpPr>
          <p:cNvPr id="15" name="a4_ld3"/>
          <p:cNvSpPr txBox="1"/>
          <p:nvPr/>
        </p:nvSpPr>
        <p:spPr>
          <a:xfrm>
            <a:off x="1499616" y="4581144"/>
            <a:ext cx="4535424" cy="365760"/>
          </a:xfrm>
          <a:prstGeom prst="rect">
            <a:avLst/>
          </a:prstGeom>
          <a:noFill/>
          <a:ln/>
        </p:spPr>
        <p:txBody>
          <a:bodyPr wrap="square" lIns="0" tIns="0" rIns="0" bIns="0" rtlCol="0" anchor="t"/>
          <a:lstStyle/>
          <a:p>
            <a:pPr indent="0" marL="0">
              <a:buNone/>
            </a:pPr>
            <a:r>
              <a:rPr lang="en-US" sz="1200" dirty="0">
                <a:solidFill>
                  <a:srgbClr val="DCEAF6"/>
                </a:solidFill>
                <a:latin typeface="Calibri" pitchFamily="34" charset="0"/>
                <a:ea typeface="Calibri" pitchFamily="34" charset="-122"/>
                <a:cs typeface="Calibri" pitchFamily="34" charset="-120"/>
              </a:rPr>
              <a:t>Flask routes: /api/run, /api/validate, /api/report</a:t>
            </a:r>
            <a:endParaRPr lang="en-US" sz="1200" dirty="0"/>
          </a:p>
        </p:txBody>
      </p:sp>
      <p:sp>
        <p:nvSpPr>
          <p:cNvPr id="16" name="a5_layer4"/>
          <p:cNvSpPr/>
          <p:nvPr/>
        </p:nvSpPr>
        <p:spPr>
          <a:xfrm>
            <a:off x="1572768" y="5102352"/>
            <a:ext cx="4736592" cy="804672"/>
          </a:xfrm>
          <a:prstGeom prst="roundRect">
            <a:avLst>
              <a:gd name="adj" fmla="val 11364"/>
            </a:avLst>
          </a:prstGeom>
          <a:solidFill>
            <a:srgbClr val="173F6B"/>
          </a:solidFill>
          <a:ln w="12700">
            <a:solidFill>
              <a:srgbClr val="173F6B"/>
            </a:solidFill>
            <a:prstDash val="solid"/>
          </a:ln>
        </p:spPr>
      </p:sp>
      <p:sp>
        <p:nvSpPr>
          <p:cNvPr id="17" name="a5_lt4"/>
          <p:cNvSpPr txBox="1"/>
          <p:nvPr/>
        </p:nvSpPr>
        <p:spPr>
          <a:xfrm>
            <a:off x="1755648" y="5157216"/>
            <a:ext cx="4279392" cy="365760"/>
          </a:xfrm>
          <a:prstGeom prst="rect">
            <a:avLst/>
          </a:prstGeom>
          <a:noFill/>
          <a:ln/>
        </p:spPr>
        <p:txBody>
          <a:bodyPr wrap="square" lIns="0" tIns="0" rIns="0" bIns="0" rtlCol="0" anchor="t"/>
          <a:lstStyle/>
          <a:p>
            <a:pPr indent="0" marL="0">
              <a:buNone/>
            </a:pPr>
            <a:r>
              <a:rPr lang="en-US" sz="1900" b="1" dirty="0">
                <a:solidFill>
                  <a:srgbClr val="FFFFFF"/>
                </a:solidFill>
                <a:latin typeface="Times New Roman" pitchFamily="34" charset="0"/>
                <a:ea typeface="Times New Roman" pitchFamily="34" charset="-122"/>
                <a:cs typeface="Times New Roman" pitchFamily="34" charset="-120"/>
              </a:rPr>
              <a:t>Screens   </a:t>
            </a:r>
            <a:pPr indent="0" marL="0">
              <a:buNone/>
            </a:pPr>
            <a:r>
              <a:rPr lang="en-US" sz="1300" dirty="0">
                <a:solidFill>
                  <a:srgbClr val="19B5C8"/>
                </a:solidFill>
                <a:latin typeface="Courier New" pitchFamily="34" charset="0"/>
                <a:ea typeface="Courier New" pitchFamily="34" charset="-122"/>
                <a:cs typeface="Courier New" pitchFamily="34" charset="-120"/>
              </a:rPr>
              <a:t>gui/static/js/</a:t>
            </a:r>
            <a:endParaRPr lang="en-US" sz="1600" dirty="0"/>
          </a:p>
        </p:txBody>
      </p:sp>
      <p:sp>
        <p:nvSpPr>
          <p:cNvPr id="18" name="a5_ld4"/>
          <p:cNvSpPr txBox="1"/>
          <p:nvPr/>
        </p:nvSpPr>
        <p:spPr>
          <a:xfrm>
            <a:off x="1755648" y="5513832"/>
            <a:ext cx="4279392" cy="365760"/>
          </a:xfrm>
          <a:prstGeom prst="rect">
            <a:avLst/>
          </a:prstGeom>
          <a:noFill/>
          <a:ln/>
        </p:spPr>
        <p:txBody>
          <a:bodyPr wrap="square" lIns="0" tIns="0" rIns="0" bIns="0" rtlCol="0" anchor="t"/>
          <a:lstStyle/>
          <a:p>
            <a:pPr indent="0" marL="0">
              <a:buNone/>
            </a:pPr>
            <a:r>
              <a:rPr lang="en-US" sz="1200" dirty="0">
                <a:solidFill>
                  <a:srgbClr val="DCEAF6"/>
                </a:solidFill>
                <a:latin typeface="Calibri" pitchFamily="34" charset="0"/>
                <a:ea typeface="Calibri" pitchFamily="34" charset="-122"/>
                <a:cs typeface="Calibri" pitchFamily="34" charset="-120"/>
              </a:rPr>
              <a:t>case, risks, matrix, rules, evidence, report</a:t>
            </a:r>
            <a:endParaRPr lang="en-US" sz="1200" dirty="0"/>
          </a:p>
        </p:txBody>
      </p:sp>
      <p:sp>
        <p:nvSpPr>
          <p:cNvPr id="19" name="a6_pr0"/>
          <p:cNvSpPr/>
          <p:nvPr/>
        </p:nvSpPr>
        <p:spPr>
          <a:xfrm>
            <a:off x="6720840" y="1371600"/>
            <a:ext cx="4937760" cy="896112"/>
          </a:xfrm>
          <a:prstGeom prst="roundRect">
            <a:avLst>
              <a:gd name="adj" fmla="val 10204"/>
            </a:avLst>
          </a:prstGeom>
          <a:solidFill>
            <a:srgbClr val="DCEAF6"/>
          </a:solidFill>
          <a:ln w="12700">
            <a:solidFill>
              <a:srgbClr val="DCEAF6"/>
            </a:solidFill>
            <a:prstDash val="solid"/>
          </a:ln>
        </p:spPr>
      </p:sp>
      <p:sp>
        <p:nvSpPr>
          <p:cNvPr id="20" name="a6_prt0"/>
          <p:cNvSpPr txBox="1"/>
          <p:nvPr/>
        </p:nvSpPr>
        <p:spPr>
          <a:xfrm>
            <a:off x="6903720" y="1371600"/>
            <a:ext cx="4572000" cy="896112"/>
          </a:xfrm>
          <a:prstGeom prst="rect">
            <a:avLst/>
          </a:prstGeom>
          <a:noFill/>
          <a:ln/>
        </p:spPr>
        <p:txBody>
          <a:bodyPr wrap="square" lIns="0" tIns="0" rIns="0" bIns="0" rtlCol="0" anchor="ctr"/>
          <a:lstStyle/>
          <a:p>
            <a:pPr indent="0" marL="0">
              <a:buNone/>
            </a:pPr>
            <a:r>
              <a:rPr lang="en-US" sz="1600" b="1" dirty="0">
                <a:solidFill>
                  <a:srgbClr val="173F6B"/>
                </a:solidFill>
                <a:latin typeface="Times New Roman" pitchFamily="34" charset="0"/>
                <a:ea typeface="Times New Roman" pitchFamily="34" charset="-122"/>
                <a:cs typeface="Times New Roman" pitchFamily="34" charset="-120"/>
              </a:rPr>
              <a:t>GUI computes nothing</a:t>
            </a:r>
            <a:endParaRPr lang="en-US" sz="1600" dirty="0"/>
          </a:p>
          <a:p>
            <a:pPr indent="0" marL="0">
              <a:buNone/>
            </a:pPr>
            <a:r>
              <a:rPr lang="en-US" sz="1300" dirty="0">
                <a:solidFill>
                  <a:srgbClr val="55708A"/>
                </a:solidFill>
                <a:latin typeface="Calibri" pitchFamily="34" charset="0"/>
                <a:ea typeface="Calibri" pitchFamily="34" charset="-122"/>
                <a:cs typeface="Calibri" pitchFamily="34" charset="-120"/>
              </a:rPr>
              <a:t>levels and classes come from the service</a:t>
            </a:r>
            <a:endParaRPr lang="en-US" sz="1600" dirty="0"/>
          </a:p>
        </p:txBody>
      </p:sp>
      <p:sp>
        <p:nvSpPr>
          <p:cNvPr id="21" name="a6_pr1"/>
          <p:cNvSpPr/>
          <p:nvPr/>
        </p:nvSpPr>
        <p:spPr>
          <a:xfrm>
            <a:off x="6720840" y="2395728"/>
            <a:ext cx="4937760" cy="896112"/>
          </a:xfrm>
          <a:prstGeom prst="roundRect">
            <a:avLst>
              <a:gd name="adj" fmla="val 10204"/>
            </a:avLst>
          </a:prstGeom>
          <a:solidFill>
            <a:srgbClr val="DCEAF6"/>
          </a:solidFill>
          <a:ln w="12700">
            <a:solidFill>
              <a:srgbClr val="DCEAF6"/>
            </a:solidFill>
            <a:prstDash val="solid"/>
          </a:ln>
        </p:spPr>
      </p:sp>
      <p:sp>
        <p:nvSpPr>
          <p:cNvPr id="22" name="a6_prt1"/>
          <p:cNvSpPr txBox="1"/>
          <p:nvPr/>
        </p:nvSpPr>
        <p:spPr>
          <a:xfrm>
            <a:off x="6903720" y="2395728"/>
            <a:ext cx="4572000" cy="896112"/>
          </a:xfrm>
          <a:prstGeom prst="rect">
            <a:avLst/>
          </a:prstGeom>
          <a:noFill/>
          <a:ln/>
        </p:spPr>
        <p:txBody>
          <a:bodyPr wrap="square" lIns="0" tIns="0" rIns="0" bIns="0" rtlCol="0" anchor="ctr"/>
          <a:lstStyle/>
          <a:p>
            <a:pPr indent="0" marL="0">
              <a:buNone/>
            </a:pPr>
            <a:r>
              <a:rPr lang="en-US" sz="1600" b="1" dirty="0">
                <a:solidFill>
                  <a:srgbClr val="173F6B"/>
                </a:solidFill>
                <a:latin typeface="Times New Roman" pitchFamily="34" charset="0"/>
                <a:ea typeface="Times New Roman" pitchFamily="34" charset="-122"/>
                <a:cs typeface="Times New Roman" pitchFamily="34" charset="-120"/>
              </a:rPr>
              <a:t>One entry point</a:t>
            </a:r>
            <a:endParaRPr lang="en-US" sz="1600" dirty="0"/>
          </a:p>
          <a:p>
            <a:pPr indent="0" marL="0">
              <a:buNone/>
            </a:pPr>
            <a:r>
              <a:rPr lang="en-US" sz="1300" dirty="0">
                <a:solidFill>
                  <a:srgbClr val="55708A"/>
                </a:solidFill>
                <a:latin typeface="Calibri" pitchFamily="34" charset="0"/>
                <a:ea typeface="Calibri" pitchFamily="34" charset="-122"/>
                <a:cs typeface="Calibri" pitchFamily="34" charset="-120"/>
              </a:rPr>
              <a:t>run_case(case) feeds screen, CLI and exports</a:t>
            </a:r>
            <a:endParaRPr lang="en-US" sz="1600" dirty="0"/>
          </a:p>
        </p:txBody>
      </p:sp>
      <p:sp>
        <p:nvSpPr>
          <p:cNvPr id="23" name="a6_pr2"/>
          <p:cNvSpPr/>
          <p:nvPr/>
        </p:nvSpPr>
        <p:spPr>
          <a:xfrm>
            <a:off x="6720840" y="3419856"/>
            <a:ext cx="4937760" cy="896112"/>
          </a:xfrm>
          <a:prstGeom prst="roundRect">
            <a:avLst>
              <a:gd name="adj" fmla="val 10204"/>
            </a:avLst>
          </a:prstGeom>
          <a:solidFill>
            <a:srgbClr val="DCEAF6"/>
          </a:solidFill>
          <a:ln w="12700">
            <a:solidFill>
              <a:srgbClr val="DCEAF6"/>
            </a:solidFill>
            <a:prstDash val="solid"/>
          </a:ln>
        </p:spPr>
      </p:sp>
      <p:sp>
        <p:nvSpPr>
          <p:cNvPr id="24" name="a6_prt2"/>
          <p:cNvSpPr txBox="1"/>
          <p:nvPr/>
        </p:nvSpPr>
        <p:spPr>
          <a:xfrm>
            <a:off x="6903720" y="3419856"/>
            <a:ext cx="4572000" cy="896112"/>
          </a:xfrm>
          <a:prstGeom prst="rect">
            <a:avLst/>
          </a:prstGeom>
          <a:noFill/>
          <a:ln/>
        </p:spPr>
        <p:txBody>
          <a:bodyPr wrap="square" lIns="0" tIns="0" rIns="0" bIns="0" rtlCol="0" anchor="ctr"/>
          <a:lstStyle/>
          <a:p>
            <a:pPr indent="0" marL="0">
              <a:buNone/>
            </a:pPr>
            <a:r>
              <a:rPr lang="en-US" sz="1600" b="1" dirty="0">
                <a:solidFill>
                  <a:srgbClr val="173F6B"/>
                </a:solidFill>
                <a:latin typeface="Times New Roman" pitchFamily="34" charset="0"/>
                <a:ea typeface="Times New Roman" pitchFamily="34" charset="-122"/>
                <a:cs typeface="Times New Roman" pitchFamily="34" charset="-120"/>
              </a:rPr>
              <a:t>Errors name the field</a:t>
            </a:r>
            <a:endParaRPr lang="en-US" sz="1600" dirty="0"/>
          </a:p>
          <a:p>
            <a:pPr indent="0" marL="0">
              <a:buNone/>
            </a:pPr>
            <a:r>
              <a:rPr lang="en-US" sz="1300" dirty="0">
                <a:solidFill>
                  <a:srgbClr val="55708A"/>
                </a:solidFill>
                <a:latin typeface="Calibri" pitchFamily="34" charset="0"/>
                <a:ea typeface="Calibri" pitchFamily="34" charset="-122"/>
                <a:cs typeface="Calibri" pitchFamily="34" charset="-120"/>
              </a:rPr>
              <a:t>risks[0].delay.b: 1e+308 is too large</a:t>
            </a:r>
            <a:endParaRPr lang="en-US" sz="1600" dirty="0"/>
          </a:p>
        </p:txBody>
      </p:sp>
      <p:sp>
        <p:nvSpPr>
          <p:cNvPr id="25" name="a7_imgframe"/>
          <p:cNvSpPr/>
          <p:nvPr/>
        </p:nvSpPr>
        <p:spPr>
          <a:xfrm>
            <a:off x="6720840" y="4526280"/>
            <a:ext cx="4937760" cy="1508760"/>
          </a:xfrm>
          <a:prstGeom prst="roundRect">
            <a:avLst>
              <a:gd name="adj" fmla="val 4848"/>
            </a:avLst>
          </a:prstGeom>
          <a:solidFill>
            <a:srgbClr val="EFF5FA"/>
          </a:solidFill>
          <a:ln w="15875">
            <a:solidFill>
              <a:srgbClr val="2F6C9A"/>
            </a:solidFill>
            <a:prstDash val="dash"/>
          </a:ln>
        </p:spPr>
      </p:sp>
      <p:sp>
        <p:nvSpPr>
          <p:cNvPr id="26" name="a7_imglabel"/>
          <p:cNvSpPr txBox="1"/>
          <p:nvPr/>
        </p:nvSpPr>
        <p:spPr>
          <a:xfrm>
            <a:off x="6858000" y="4526280"/>
            <a:ext cx="4663440" cy="150876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architecture sketch or folder-tree screenshot</a:t>
            </a:r>
            <a:endParaRPr lang="en-US" sz="1600" dirty="0"/>
          </a:p>
        </p:txBody>
      </p:sp>
      <p:sp>
        <p:nvSpPr>
          <p:cNvPr id="27" name="Text 24"/>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repository layout (app/, gui/, data/, tests/, scripts/); README layout table</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8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6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14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52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71" fill="hold">
                            <p:stCondLst>
                              <p:cond delay="19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5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childTnLst>
                          </p:cTn>
                        </p:par>
                        <p:par>
                          <p:cTn id="78" fill="hold">
                            <p:stCondLst>
                              <p:cond delay="2280"/>
                            </p:stCondLst>
                            <p:childTnLst>
                              <p:par>
                                <p:cTn id="72" presetID="10" presetClass="entr" presetSubtype="0" fill="hold" grpId="0" nodeType="after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5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A look at the code: the matrix in a few lines</a:t>
            </a:r>
            <a:endParaRPr lang="en-US" sz="3200" dirty="0"/>
          </a:p>
        </p:txBody>
      </p:sp>
      <p:sp>
        <p:nvSpPr>
          <p:cNvPr id="4" name="a1_code"/>
          <p:cNvSpPr/>
          <p:nvPr/>
        </p:nvSpPr>
        <p:spPr>
          <a:xfrm>
            <a:off x="548640" y="1325880"/>
            <a:ext cx="6675120" cy="4709160"/>
          </a:xfrm>
          <a:prstGeom prst="roundRect">
            <a:avLst>
              <a:gd name="adj" fmla="val 1942"/>
            </a:avLst>
          </a:prstGeom>
          <a:solidFill>
            <a:srgbClr val="061427"/>
          </a:solidFill>
          <a:ln w="12700">
            <a:solidFill>
              <a:srgbClr val="173F6B"/>
            </a:solidFill>
            <a:prstDash val="solid"/>
          </a:ln>
        </p:spPr>
      </p:sp>
      <p:sp>
        <p:nvSpPr>
          <p:cNvPr id="5" name="a1_codet"/>
          <p:cNvSpPr txBox="1"/>
          <p:nvPr/>
        </p:nvSpPr>
        <p:spPr>
          <a:xfrm>
            <a:off x="822960" y="1554480"/>
            <a:ext cx="6217920" cy="4297680"/>
          </a:xfrm>
          <a:prstGeom prst="rect">
            <a:avLst/>
          </a:prstGeom>
          <a:noFill/>
          <a:ln/>
        </p:spPr>
        <p:txBody>
          <a:bodyPr wrap="square" lIns="0" tIns="0" rIns="0" bIns="0" rtlCol="0" anchor="t"/>
          <a:lstStyle/>
          <a:p>
            <a:pPr indent="0" marL="0">
              <a:buNone/>
            </a:pPr>
            <a:r>
              <a:rPr lang="en-US" sz="1400" dirty="0">
                <a:solidFill>
                  <a:srgbClr val="CFE6F3"/>
                </a:solidFill>
                <a:latin typeface="Courier New" pitchFamily="34" charset="0"/>
                <a:ea typeface="Courier New" pitchFamily="34" charset="-122"/>
                <a:cs typeface="Courier New" pitchFamily="34" charset="-120"/>
              </a:rPr>
              <a:t>def probability_class(p, edges=(0.2, 0.4, 0.6, 0.8)):</a:t>
            </a:r>
            <a:endParaRPr lang="en-US" sz="1600" dirty="0"/>
          </a:p>
          <a:p>
            <a:pPr indent="0" marL="0">
              <a:buNone/>
            </a:pPr>
            <a:r>
              <a:rPr lang="en-US" sz="1400" dirty="0">
                <a:solidFill>
                  <a:srgbClr val="7FA8C9"/>
                </a:solidFill>
                <a:latin typeface="Courier New" pitchFamily="34" charset="0"/>
                <a:ea typeface="Courier New" pitchFamily="34" charset="-122"/>
                <a:cs typeface="Courier New" pitchFamily="34" charset="-120"/>
              </a:rPr>
              <a:t>    # guards: not bool, not NaN, edges ascending</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reached = sum(1 for e in edges</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if p &gt;= e or math.isclose(p, e,</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rel_tol=1e-9))</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return reached + 1            # class 1..5</a:t>
            </a:r>
            <a:endParaRPr lang="en-US" sz="1600" dirty="0"/>
          </a:p>
          <a:p>
            <a:pPr indent="0" marL="0">
              <a:buNone/>
            </a:pP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def matrix_level(p_class, i_class,</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thresholds=(5, 10, 15)):</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score = p_class * i_class</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names = ('Low', 'Moderate', 'High', 'Extreme')</a:t>
            </a:r>
            <a:endParaRPr lang="en-US" sz="1600" dirty="0"/>
          </a:p>
          <a:p>
            <a:pPr indent="0" marL="0">
              <a:buNone/>
            </a:pPr>
            <a:r>
              <a:rPr lang="en-US" sz="1400" dirty="0">
                <a:solidFill>
                  <a:srgbClr val="CFE6F3"/>
                </a:solidFill>
                <a:latin typeface="Courier New" pitchFamily="34" charset="0"/>
                <a:ea typeface="Courier New" pitchFamily="34" charset="-122"/>
                <a:cs typeface="Courier New" pitchFamily="34" charset="-120"/>
              </a:rPr>
              <a:t>    return names[bisect_right(thresholds, score - 1)]</a:t>
            </a:r>
            <a:endParaRPr lang="en-US" sz="1600" dirty="0"/>
          </a:p>
        </p:txBody>
      </p:sp>
      <p:sp>
        <p:nvSpPr>
          <p:cNvPr id="6" name="a2_n0"/>
          <p:cNvSpPr/>
          <p:nvPr/>
        </p:nvSpPr>
        <p:spPr>
          <a:xfrm>
            <a:off x="7498080" y="1325880"/>
            <a:ext cx="4160520" cy="1051560"/>
          </a:xfrm>
          <a:prstGeom prst="roundRect">
            <a:avLst>
              <a:gd name="adj" fmla="val 8696"/>
            </a:avLst>
          </a:prstGeom>
          <a:solidFill>
            <a:srgbClr val="173F6B"/>
          </a:solidFill>
          <a:ln w="12700">
            <a:solidFill>
              <a:srgbClr val="173F6B"/>
            </a:solidFill>
            <a:prstDash val="solid"/>
          </a:ln>
        </p:spPr>
      </p:sp>
      <p:sp>
        <p:nvSpPr>
          <p:cNvPr id="7" name="a2_nt0"/>
          <p:cNvSpPr txBox="1"/>
          <p:nvPr/>
        </p:nvSpPr>
        <p:spPr>
          <a:xfrm>
            <a:off x="7680960" y="1325880"/>
            <a:ext cx="3794760" cy="1051560"/>
          </a:xfrm>
          <a:prstGeom prst="rect">
            <a:avLst/>
          </a:prstGeom>
          <a:noFill/>
          <a:ln/>
        </p:spPr>
        <p:txBody>
          <a:bodyPr wrap="square" lIns="0" tIns="0" rIns="0" bIns="0" rtlCol="0" anchor="ctr"/>
          <a:lstStyle/>
          <a:p>
            <a:pPr indent="0" marL="0">
              <a:buNone/>
            </a:pPr>
            <a:r>
              <a:rPr lang="en-US" sz="1600" b="1" dirty="0">
                <a:solidFill>
                  <a:srgbClr val="19B5C8"/>
                </a:solidFill>
                <a:latin typeface="Times New Roman" pitchFamily="34" charset="0"/>
                <a:ea typeface="Times New Roman" pitchFamily="34" charset="-122"/>
                <a:cs typeface="Times New Roman" pitchFamily="34" charset="-120"/>
              </a:rPr>
              <a:t>Lower-edge inclusive</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a value exactly on an edge goes to the higher class</a:t>
            </a:r>
            <a:endParaRPr lang="en-US" sz="1600" dirty="0"/>
          </a:p>
        </p:txBody>
      </p:sp>
      <p:sp>
        <p:nvSpPr>
          <p:cNvPr id="8" name="a3_n1"/>
          <p:cNvSpPr/>
          <p:nvPr/>
        </p:nvSpPr>
        <p:spPr>
          <a:xfrm>
            <a:off x="7498080" y="2514600"/>
            <a:ext cx="4160520" cy="1051560"/>
          </a:xfrm>
          <a:prstGeom prst="roundRect">
            <a:avLst>
              <a:gd name="adj" fmla="val 8696"/>
            </a:avLst>
          </a:prstGeom>
          <a:solidFill>
            <a:srgbClr val="173F6B"/>
          </a:solidFill>
          <a:ln w="12700">
            <a:solidFill>
              <a:srgbClr val="173F6B"/>
            </a:solidFill>
            <a:prstDash val="solid"/>
          </a:ln>
        </p:spPr>
      </p:sp>
      <p:sp>
        <p:nvSpPr>
          <p:cNvPr id="9" name="a3_nt1"/>
          <p:cNvSpPr txBox="1"/>
          <p:nvPr/>
        </p:nvSpPr>
        <p:spPr>
          <a:xfrm>
            <a:off x="7680960" y="2514600"/>
            <a:ext cx="3794760" cy="1051560"/>
          </a:xfrm>
          <a:prstGeom prst="rect">
            <a:avLst/>
          </a:prstGeom>
          <a:noFill/>
          <a:ln/>
        </p:spPr>
        <p:txBody>
          <a:bodyPr wrap="square" lIns="0" tIns="0" rIns="0" bIns="0" rtlCol="0" anchor="ctr"/>
          <a:lstStyle/>
          <a:p>
            <a:pPr indent="0" marL="0">
              <a:buNone/>
            </a:pPr>
            <a:r>
              <a:rPr lang="en-US" sz="1600" b="1" dirty="0">
                <a:solidFill>
                  <a:srgbClr val="19B5C8"/>
                </a:solidFill>
                <a:latin typeface="Times New Roman" pitchFamily="34" charset="0"/>
                <a:ea typeface="Times New Roman" pitchFamily="34" charset="-122"/>
                <a:cs typeface="Times New Roman" pitchFamily="34" charset="-120"/>
              </a:rPr>
              <a:t>Float noise absorbed</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isclose: 1.2 d on 12 d is exactly 0.10, not 0.0999...</a:t>
            </a:r>
            <a:endParaRPr lang="en-US" sz="1600" dirty="0"/>
          </a:p>
        </p:txBody>
      </p:sp>
      <p:sp>
        <p:nvSpPr>
          <p:cNvPr id="10" name="a4_n2"/>
          <p:cNvSpPr/>
          <p:nvPr/>
        </p:nvSpPr>
        <p:spPr>
          <a:xfrm>
            <a:off x="7498080" y="3703320"/>
            <a:ext cx="4160520" cy="1051560"/>
          </a:xfrm>
          <a:prstGeom prst="roundRect">
            <a:avLst>
              <a:gd name="adj" fmla="val 8696"/>
            </a:avLst>
          </a:prstGeom>
          <a:solidFill>
            <a:srgbClr val="173F6B"/>
          </a:solidFill>
          <a:ln w="12700">
            <a:solidFill>
              <a:srgbClr val="173F6B"/>
            </a:solidFill>
            <a:prstDash val="solid"/>
          </a:ln>
        </p:spPr>
      </p:sp>
      <p:sp>
        <p:nvSpPr>
          <p:cNvPr id="11" name="a4_nt2"/>
          <p:cNvSpPr txBox="1"/>
          <p:nvPr/>
        </p:nvSpPr>
        <p:spPr>
          <a:xfrm>
            <a:off x="7680960" y="3703320"/>
            <a:ext cx="3794760" cy="1051560"/>
          </a:xfrm>
          <a:prstGeom prst="rect">
            <a:avLst/>
          </a:prstGeom>
          <a:noFill/>
          <a:ln/>
        </p:spPr>
        <p:txBody>
          <a:bodyPr wrap="square" lIns="0" tIns="0" rIns="0" bIns="0" rtlCol="0" anchor="ctr"/>
          <a:lstStyle/>
          <a:p>
            <a:pPr indent="0" marL="0">
              <a:buNone/>
            </a:pPr>
            <a:r>
              <a:rPr lang="en-US" sz="1600" b="1" dirty="0">
                <a:solidFill>
                  <a:srgbClr val="19B5C8"/>
                </a:solidFill>
                <a:latin typeface="Times New Roman" pitchFamily="34" charset="0"/>
                <a:ea typeface="Times New Roman" pitchFamily="34" charset="-122"/>
                <a:cs typeface="Times New Roman" pitchFamily="34" charset="-120"/>
              </a:rPr>
              <a:t>One function, every output</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screen, CLI, CSV and report call the same code</a:t>
            </a:r>
            <a:endParaRPr lang="en-US" sz="1600" dirty="0"/>
          </a:p>
        </p:txBody>
      </p:sp>
      <p:sp>
        <p:nvSpPr>
          <p:cNvPr id="12" name="a5_n3"/>
          <p:cNvSpPr/>
          <p:nvPr/>
        </p:nvSpPr>
        <p:spPr>
          <a:xfrm>
            <a:off x="7498080" y="4892040"/>
            <a:ext cx="4160520" cy="1051560"/>
          </a:xfrm>
          <a:prstGeom prst="roundRect">
            <a:avLst>
              <a:gd name="adj" fmla="val 8696"/>
            </a:avLst>
          </a:prstGeom>
          <a:solidFill>
            <a:srgbClr val="173F6B"/>
          </a:solidFill>
          <a:ln w="12700">
            <a:solidFill>
              <a:srgbClr val="173F6B"/>
            </a:solidFill>
            <a:prstDash val="solid"/>
          </a:ln>
        </p:spPr>
      </p:sp>
      <p:sp>
        <p:nvSpPr>
          <p:cNvPr id="13" name="a5_nt3"/>
          <p:cNvSpPr txBox="1"/>
          <p:nvPr/>
        </p:nvSpPr>
        <p:spPr>
          <a:xfrm>
            <a:off x="7680960" y="4892040"/>
            <a:ext cx="3794760" cy="1051560"/>
          </a:xfrm>
          <a:prstGeom prst="rect">
            <a:avLst/>
          </a:prstGeom>
          <a:noFill/>
          <a:ln/>
        </p:spPr>
        <p:txBody>
          <a:bodyPr wrap="square" lIns="0" tIns="0" rIns="0" bIns="0" rtlCol="0" anchor="ctr"/>
          <a:lstStyle/>
          <a:p>
            <a:pPr indent="0" marL="0">
              <a:buNone/>
            </a:pPr>
            <a:r>
              <a:rPr lang="en-US" sz="1600" b="1" dirty="0">
                <a:solidFill>
                  <a:srgbClr val="19B5C8"/>
                </a:solidFill>
                <a:latin typeface="Times New Roman" pitchFamily="34" charset="0"/>
                <a:ea typeface="Times New Roman" pitchFamily="34" charset="-122"/>
                <a:cs typeface="Times New Roman" pitchFamily="34" charset="-120"/>
              </a:rPr>
              <a:t>Guards from the audit</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true/false, NaN, unsorted edges and negative delay now raise errors</a:t>
            </a:r>
            <a:endParaRPr lang="en-US" sz="1600" dirty="0"/>
          </a:p>
        </p:txBody>
      </p:sp>
      <p:sp>
        <p:nvSpPr>
          <p:cNvPr id="14" name="Text 11"/>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A9C7E0"/>
                </a:solidFill>
                <a:latin typeface="Calibri" pitchFamily="34" charset="0"/>
                <a:ea typeface="Calibri" pitchFamily="34" charset="-122"/>
                <a:cs typeface="Calibri" pitchFamily="34" charset="-120"/>
              </a:rPr>
              <a:t>Source: app/engine/matrix.py (simplified); tests/test_round1_hardening.py</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E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38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76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14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52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Keeping invented numbers out: the AI guardrails</a:t>
            </a:r>
            <a:endParaRPr lang="en-US" sz="3200" dirty="0"/>
          </a:p>
        </p:txBody>
      </p:sp>
      <p:sp>
        <p:nvSpPr>
          <p:cNvPr id="4" name="a1_in"/>
          <p:cNvSpPr/>
          <p:nvPr/>
        </p:nvSpPr>
        <p:spPr>
          <a:xfrm>
            <a:off x="548640" y="1417320"/>
            <a:ext cx="2926080" cy="2743200"/>
          </a:xfrm>
          <a:prstGeom prst="roundRect">
            <a:avLst>
              <a:gd name="adj" fmla="val 3333"/>
            </a:avLst>
          </a:prstGeom>
          <a:solidFill>
            <a:srgbClr val="DCEAF6"/>
          </a:solidFill>
          <a:ln w="12700">
            <a:solidFill>
              <a:srgbClr val="DCEAF6"/>
            </a:solidFill>
            <a:prstDash val="solid"/>
          </a:ln>
        </p:spPr>
      </p:sp>
      <p:sp>
        <p:nvSpPr>
          <p:cNvPr id="5" name="a1_int"/>
          <p:cNvSpPr txBox="1"/>
          <p:nvPr/>
        </p:nvSpPr>
        <p:spPr>
          <a:xfrm>
            <a:off x="731520" y="1554480"/>
            <a:ext cx="2606040" cy="2560320"/>
          </a:xfrm>
          <a:prstGeom prst="rect">
            <a:avLst/>
          </a:prstGeom>
          <a:noFill/>
          <a:ln/>
        </p:spPr>
        <p:txBody>
          <a:bodyPr wrap="square" lIns="0" tIns="0" rIns="0" bIns="0" rtlCol="0" anchor="t"/>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Model reply</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name: Brick shortage</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evidence: M01, Z9</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probability: 0.4</a:t>
            </a:r>
            <a:endParaRPr lang="en-US" sz="1600" dirty="0"/>
          </a:p>
        </p:txBody>
      </p:sp>
      <p:sp>
        <p:nvSpPr>
          <p:cNvPr id="6" name="a2_ar"/>
          <p:cNvSpPr/>
          <p:nvPr/>
        </p:nvSpPr>
        <p:spPr>
          <a:xfrm>
            <a:off x="3611880" y="2468880"/>
            <a:ext cx="640080" cy="502920"/>
          </a:xfrm>
          <a:prstGeom prst="rightArrow">
            <a:avLst/>
          </a:prstGeom>
          <a:solidFill>
            <a:srgbClr val="19B5C8"/>
          </a:solidFill>
          <a:ln w="12700">
            <a:solidFill>
              <a:srgbClr val="19B5C8"/>
            </a:solidFill>
            <a:prstDash val="solid"/>
          </a:ln>
        </p:spPr>
      </p:sp>
      <p:sp>
        <p:nvSpPr>
          <p:cNvPr id="7" name="a3_guard"/>
          <p:cNvSpPr/>
          <p:nvPr/>
        </p:nvSpPr>
        <p:spPr>
          <a:xfrm>
            <a:off x="4389120" y="1417320"/>
            <a:ext cx="2743200" cy="2743200"/>
          </a:xfrm>
          <a:prstGeom prst="roundRect">
            <a:avLst>
              <a:gd name="adj" fmla="val 3333"/>
            </a:avLst>
          </a:prstGeom>
          <a:solidFill>
            <a:srgbClr val="0A1F3C"/>
          </a:solidFill>
          <a:ln w="12700">
            <a:solidFill>
              <a:srgbClr val="0A1F3C"/>
            </a:solidFill>
            <a:prstDash val="solid"/>
          </a:ln>
        </p:spPr>
      </p:sp>
      <p:sp>
        <p:nvSpPr>
          <p:cNvPr id="8" name="a3_gt"/>
          <p:cNvSpPr txBox="1"/>
          <p:nvPr/>
        </p:nvSpPr>
        <p:spPr>
          <a:xfrm>
            <a:off x="4572000" y="1554480"/>
            <a:ext cx="2377440" cy="2560320"/>
          </a:xfrm>
          <a:prstGeom prst="rect">
            <a:avLst/>
          </a:prstGeom>
          <a:noFill/>
          <a:ln/>
        </p:spPr>
        <p:txBody>
          <a:bodyPr wrap="square" lIns="0" tIns="0" rIns="0" bIns="0" rtlCol="0" anchor="t"/>
          <a:lstStyle/>
          <a:p>
            <a:pPr indent="0" marL="0">
              <a:buNone/>
            </a:pPr>
            <a:r>
              <a:rPr lang="en-US" sz="1900" b="1" dirty="0">
                <a:solidFill>
                  <a:srgbClr val="19B5C8"/>
                </a:solidFill>
                <a:latin typeface="Times New Roman" pitchFamily="34" charset="0"/>
                <a:ea typeface="Times New Roman" pitchFamily="34" charset="-122"/>
                <a:cs typeface="Times New Roman" pitchFamily="34" charset="-120"/>
              </a:rPr>
              <a:t>Guard</a:t>
            </a:r>
            <a:endParaRPr lang="en-US" sz="1600" dirty="0"/>
          </a:p>
          <a:p>
            <a:pPr indent="0" marL="0">
              <a:buNone/>
            </a:pPr>
            <a:r>
              <a:rPr lang="en-US" sz="1400" dirty="0">
                <a:solidFill>
                  <a:srgbClr val="FFFFFF"/>
                </a:solidFill>
                <a:latin typeface="Calibri" pitchFamily="34" charset="0"/>
                <a:ea typeface="Calibri" pitchFamily="34" charset="-122"/>
                <a:cs typeface="Calibri" pitchFamily="34" charset="-120"/>
              </a:rPr>
              <a:t>checks ids, strips numbers, tests quotes, types every field, logs everything</a:t>
            </a:r>
            <a:endParaRPr lang="en-US" sz="1600" dirty="0"/>
          </a:p>
        </p:txBody>
      </p:sp>
      <p:sp>
        <p:nvSpPr>
          <p:cNvPr id="9" name="a4_ar2"/>
          <p:cNvSpPr/>
          <p:nvPr/>
        </p:nvSpPr>
        <p:spPr>
          <a:xfrm>
            <a:off x="7269480" y="2468880"/>
            <a:ext cx="640080" cy="502920"/>
          </a:xfrm>
          <a:prstGeom prst="rightArrow">
            <a:avLst/>
          </a:prstGeom>
          <a:solidFill>
            <a:srgbClr val="19B5C8"/>
          </a:solidFill>
          <a:ln w="12700">
            <a:solidFill>
              <a:srgbClr val="19B5C8"/>
            </a:solidFill>
            <a:prstDash val="solid"/>
          </a:ln>
        </p:spPr>
      </p:sp>
      <p:sp>
        <p:nvSpPr>
          <p:cNvPr id="10" name="a5_out"/>
          <p:cNvSpPr/>
          <p:nvPr/>
        </p:nvSpPr>
        <p:spPr>
          <a:xfrm>
            <a:off x="8046720" y="1417320"/>
            <a:ext cx="3611880" cy="2743200"/>
          </a:xfrm>
          <a:prstGeom prst="roundRect">
            <a:avLst>
              <a:gd name="adj" fmla="val 3333"/>
            </a:avLst>
          </a:prstGeom>
          <a:solidFill>
            <a:srgbClr val="EFF5FA"/>
          </a:solidFill>
          <a:ln w="12700">
            <a:solidFill>
              <a:srgbClr val="2F6C9A"/>
            </a:solidFill>
            <a:prstDash val="solid"/>
          </a:ln>
        </p:spPr>
      </p:sp>
      <p:sp>
        <p:nvSpPr>
          <p:cNvPr id="11" name="a5_outt"/>
          <p:cNvSpPr txBox="1"/>
          <p:nvPr/>
        </p:nvSpPr>
        <p:spPr>
          <a:xfrm>
            <a:off x="8229600" y="1554480"/>
            <a:ext cx="3291840" cy="2560320"/>
          </a:xfrm>
          <a:prstGeom prst="rect">
            <a:avLst/>
          </a:prstGeom>
          <a:noFill/>
          <a:ln/>
        </p:spPr>
        <p:txBody>
          <a:bodyPr wrap="square" lIns="0" tIns="0" rIns="0" bIns="0" rtlCol="0" anchor="t"/>
          <a:lstStyle/>
          <a:p>
            <a:pPr indent="0" marL="0">
              <a:buNone/>
            </a:pPr>
            <a:r>
              <a:rPr lang="en-US" sz="1700" b="1" dirty="0">
                <a:solidFill>
                  <a:srgbClr val="173F6B"/>
                </a:solidFill>
                <a:latin typeface="Times New Roman" pitchFamily="34" charset="0"/>
                <a:ea typeface="Times New Roman" pitchFamily="34" charset="-122"/>
                <a:cs typeface="Times New Roman" pitchFamily="34" charset="-120"/>
              </a:rPr>
              <a:t>Candidate (unverified)</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evidence: M01 (kept)</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Z9: dropped, not retrieved</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probability 0.4: rejected</a:t>
            </a:r>
            <a:endParaRPr lang="en-US" sz="1600" dirty="0"/>
          </a:p>
          <a:p>
            <a:pPr indent="0" marL="0">
              <a:buNone/>
            </a:pPr>
            <a:r>
              <a:rPr lang="en-US" sz="1400" dirty="0">
                <a:solidFill>
                  <a:srgbClr val="12233B"/>
                </a:solidFill>
                <a:latin typeface="Courier New" pitchFamily="34" charset="0"/>
                <a:ea typeface="Courier New" pitchFamily="34" charset="-122"/>
                <a:cs typeface="Courier New" pitchFamily="34" charset="-120"/>
              </a:rPr>
              <a:t>status: AI-suggested-unverified</a:t>
            </a:r>
            <a:endParaRPr lang="en-US" sz="1600" dirty="0"/>
          </a:p>
        </p:txBody>
      </p:sp>
      <p:sp>
        <p:nvSpPr>
          <p:cNvPr id="12" name="a6_g0"/>
          <p:cNvSpPr/>
          <p:nvPr/>
        </p:nvSpPr>
        <p:spPr>
          <a:xfrm>
            <a:off x="548640" y="4434840"/>
            <a:ext cx="3520440" cy="731520"/>
          </a:xfrm>
          <a:prstGeom prst="roundRect">
            <a:avLst>
              <a:gd name="adj" fmla="val 12500"/>
            </a:avLst>
          </a:prstGeom>
          <a:solidFill>
            <a:srgbClr val="FFFFFF"/>
          </a:solidFill>
          <a:ln w="12700">
            <a:solidFill>
              <a:srgbClr val="B9CFE3"/>
            </a:solidFill>
            <a:prstDash val="solid"/>
          </a:ln>
        </p:spPr>
      </p:sp>
      <p:sp>
        <p:nvSpPr>
          <p:cNvPr id="13" name="a6_gt0"/>
          <p:cNvSpPr txBox="1"/>
          <p:nvPr/>
        </p:nvSpPr>
        <p:spPr>
          <a:xfrm>
            <a:off x="685800" y="4434840"/>
            <a:ext cx="3246120" cy="731520"/>
          </a:xfrm>
          <a:prstGeom prst="rect">
            <a:avLst/>
          </a:prstGeom>
          <a:noFill/>
          <a:ln/>
        </p:spPr>
        <p:txBody>
          <a:bodyPr wrap="square" lIns="0" tIns="0" rIns="0" bIns="0" rtlCol="0" anchor="ctr"/>
          <a:lstStyle/>
          <a:p>
            <a:pPr indent="0" marL="0">
              <a:buNone/>
            </a:pPr>
            <a:r>
              <a:rPr lang="en-US" sz="1500" b="1" dirty="0">
                <a:solidFill>
                  <a:srgbClr val="2F6C9A"/>
                </a:solidFill>
                <a:latin typeface="Times New Roman" pitchFamily="34" charset="0"/>
                <a:ea typeface="Times New Roman" pitchFamily="34" charset="-122"/>
                <a:cs typeface="Times New Roman" pitchFamily="34" charset="-120"/>
              </a:rPr>
              <a:t>G1  </a:t>
            </a:r>
            <a:pPr indent="0" marL="0">
              <a:buNone/>
            </a:pPr>
            <a:r>
              <a:rPr lang="en-US" sz="1200" dirty="0">
                <a:solidFill>
                  <a:srgbClr val="12233B"/>
                </a:solidFill>
                <a:latin typeface="Calibri" pitchFamily="34" charset="0"/>
                <a:ea typeface="Calibri" pitchFamily="34" charset="-122"/>
                <a:cs typeface="Calibri" pitchFamily="34" charset="-120"/>
              </a:rPr>
              <a:t>cited ids must be retrieved and in the store</a:t>
            </a:r>
            <a:endParaRPr lang="en-US" sz="1600" dirty="0"/>
          </a:p>
        </p:txBody>
      </p:sp>
      <p:sp>
        <p:nvSpPr>
          <p:cNvPr id="14" name="a6_g1"/>
          <p:cNvSpPr/>
          <p:nvPr/>
        </p:nvSpPr>
        <p:spPr>
          <a:xfrm>
            <a:off x="4297680" y="4434840"/>
            <a:ext cx="3520440" cy="731520"/>
          </a:xfrm>
          <a:prstGeom prst="roundRect">
            <a:avLst>
              <a:gd name="adj" fmla="val 12500"/>
            </a:avLst>
          </a:prstGeom>
          <a:solidFill>
            <a:srgbClr val="FFFFFF"/>
          </a:solidFill>
          <a:ln w="12700">
            <a:solidFill>
              <a:srgbClr val="B9CFE3"/>
            </a:solidFill>
            <a:prstDash val="solid"/>
          </a:ln>
        </p:spPr>
      </p:sp>
      <p:sp>
        <p:nvSpPr>
          <p:cNvPr id="15" name="a6_gt1"/>
          <p:cNvSpPr txBox="1"/>
          <p:nvPr/>
        </p:nvSpPr>
        <p:spPr>
          <a:xfrm>
            <a:off x="4434840" y="4434840"/>
            <a:ext cx="3246120" cy="731520"/>
          </a:xfrm>
          <a:prstGeom prst="rect">
            <a:avLst/>
          </a:prstGeom>
          <a:noFill/>
          <a:ln/>
        </p:spPr>
        <p:txBody>
          <a:bodyPr wrap="square" lIns="0" tIns="0" rIns="0" bIns="0" rtlCol="0" anchor="ctr"/>
          <a:lstStyle/>
          <a:p>
            <a:pPr indent="0" marL="0">
              <a:buNone/>
            </a:pPr>
            <a:r>
              <a:rPr lang="en-US" sz="1500" b="1" dirty="0">
                <a:solidFill>
                  <a:srgbClr val="2F6C9A"/>
                </a:solidFill>
                <a:latin typeface="Times New Roman" pitchFamily="34" charset="0"/>
                <a:ea typeface="Times New Roman" pitchFamily="34" charset="-122"/>
                <a:cs typeface="Times New Roman" pitchFamily="34" charset="-120"/>
              </a:rPr>
              <a:t>G2 / G9  </a:t>
            </a:r>
            <a:pPr indent="0" marL="0">
              <a:buNone/>
            </a:pPr>
            <a:r>
              <a:rPr lang="en-US" sz="1200" dirty="0">
                <a:solidFill>
                  <a:srgbClr val="12233B"/>
                </a:solidFill>
                <a:latin typeface="Calibri" pitchFamily="34" charset="0"/>
                <a:ea typeface="Calibri" pitchFamily="34" charset="-122"/>
                <a:cs typeface="Calibri" pitchFamily="34" charset="-120"/>
              </a:rPr>
              <a:t>any numeric field is stripped and logged</a:t>
            </a:r>
            <a:endParaRPr lang="en-US" sz="1600" dirty="0"/>
          </a:p>
        </p:txBody>
      </p:sp>
      <p:sp>
        <p:nvSpPr>
          <p:cNvPr id="16" name="a6_g2"/>
          <p:cNvSpPr/>
          <p:nvPr/>
        </p:nvSpPr>
        <p:spPr>
          <a:xfrm>
            <a:off x="8046720" y="4434840"/>
            <a:ext cx="3520440" cy="731520"/>
          </a:xfrm>
          <a:prstGeom prst="roundRect">
            <a:avLst>
              <a:gd name="adj" fmla="val 12500"/>
            </a:avLst>
          </a:prstGeom>
          <a:solidFill>
            <a:srgbClr val="FFFFFF"/>
          </a:solidFill>
          <a:ln w="12700">
            <a:solidFill>
              <a:srgbClr val="B9CFE3"/>
            </a:solidFill>
            <a:prstDash val="solid"/>
          </a:ln>
        </p:spPr>
      </p:sp>
      <p:sp>
        <p:nvSpPr>
          <p:cNvPr id="17" name="a6_gt2"/>
          <p:cNvSpPr txBox="1"/>
          <p:nvPr/>
        </p:nvSpPr>
        <p:spPr>
          <a:xfrm>
            <a:off x="8183880" y="4434840"/>
            <a:ext cx="3246120" cy="731520"/>
          </a:xfrm>
          <a:prstGeom prst="rect">
            <a:avLst/>
          </a:prstGeom>
          <a:noFill/>
          <a:ln/>
        </p:spPr>
        <p:txBody>
          <a:bodyPr wrap="square" lIns="0" tIns="0" rIns="0" bIns="0" rtlCol="0" anchor="ctr"/>
          <a:lstStyle/>
          <a:p>
            <a:pPr indent="0" marL="0">
              <a:buNone/>
            </a:pPr>
            <a:r>
              <a:rPr lang="en-US" sz="1500" b="1" dirty="0">
                <a:solidFill>
                  <a:srgbClr val="2F6C9A"/>
                </a:solidFill>
                <a:latin typeface="Times New Roman" pitchFamily="34" charset="0"/>
                <a:ea typeface="Times New Roman" pitchFamily="34" charset="-122"/>
                <a:cs typeface="Times New Roman" pitchFamily="34" charset="-120"/>
              </a:rPr>
              <a:t>G3  </a:t>
            </a:r>
            <a:pPr indent="0" marL="0">
              <a:buNone/>
            </a:pPr>
            <a:r>
              <a:rPr lang="en-US" sz="1200" dirty="0">
                <a:solidFill>
                  <a:srgbClr val="12233B"/>
                </a:solidFill>
                <a:latin typeface="Calibri" pitchFamily="34" charset="0"/>
                <a:ea typeface="Calibri" pitchFamily="34" charset="-122"/>
                <a:cs typeface="Calibri" pitchFamily="34" charset="-120"/>
              </a:rPr>
              <a:t>a quote must be a real passage of a cited record</a:t>
            </a:r>
            <a:endParaRPr lang="en-US" sz="1600" dirty="0"/>
          </a:p>
        </p:txBody>
      </p:sp>
      <p:sp>
        <p:nvSpPr>
          <p:cNvPr id="18" name="a6_g3"/>
          <p:cNvSpPr/>
          <p:nvPr/>
        </p:nvSpPr>
        <p:spPr>
          <a:xfrm>
            <a:off x="548640" y="5303520"/>
            <a:ext cx="3520440" cy="731520"/>
          </a:xfrm>
          <a:prstGeom prst="roundRect">
            <a:avLst>
              <a:gd name="adj" fmla="val 12500"/>
            </a:avLst>
          </a:prstGeom>
          <a:solidFill>
            <a:srgbClr val="FFFFFF"/>
          </a:solidFill>
          <a:ln w="12700">
            <a:solidFill>
              <a:srgbClr val="B9CFE3"/>
            </a:solidFill>
            <a:prstDash val="solid"/>
          </a:ln>
        </p:spPr>
      </p:sp>
      <p:sp>
        <p:nvSpPr>
          <p:cNvPr id="19" name="a6_gt3"/>
          <p:cNvSpPr txBox="1"/>
          <p:nvPr/>
        </p:nvSpPr>
        <p:spPr>
          <a:xfrm>
            <a:off x="685800" y="5303520"/>
            <a:ext cx="3246120" cy="731520"/>
          </a:xfrm>
          <a:prstGeom prst="rect">
            <a:avLst/>
          </a:prstGeom>
          <a:noFill/>
          <a:ln/>
        </p:spPr>
        <p:txBody>
          <a:bodyPr wrap="square" lIns="0" tIns="0" rIns="0" bIns="0" rtlCol="0" anchor="ctr"/>
          <a:lstStyle/>
          <a:p>
            <a:pPr indent="0" marL="0">
              <a:buNone/>
            </a:pPr>
            <a:r>
              <a:rPr lang="en-US" sz="1500" b="1" dirty="0">
                <a:solidFill>
                  <a:srgbClr val="2F6C9A"/>
                </a:solidFill>
                <a:latin typeface="Times New Roman" pitchFamily="34" charset="0"/>
                <a:ea typeface="Times New Roman" pitchFamily="34" charset="-122"/>
                <a:cs typeface="Times New Roman" pitchFamily="34" charset="-120"/>
              </a:rPr>
              <a:t>G4  </a:t>
            </a:r>
            <a:pPr indent="0" marL="0">
              <a:buNone/>
            </a:pPr>
            <a:r>
              <a:rPr lang="en-US" sz="1200" dirty="0">
                <a:solidFill>
                  <a:srgbClr val="12233B"/>
                </a:solidFill>
                <a:latin typeface="Calibri" pitchFamily="34" charset="0"/>
                <a:ea typeface="Calibri" pitchFamily="34" charset="-122"/>
                <a:cs typeface="Calibri" pitchFamily="34" charset="-120"/>
              </a:rPr>
              <a:t>always unverified until a person confirms</a:t>
            </a:r>
            <a:endParaRPr lang="en-US" sz="1600" dirty="0"/>
          </a:p>
        </p:txBody>
      </p:sp>
      <p:sp>
        <p:nvSpPr>
          <p:cNvPr id="20" name="a6_g4"/>
          <p:cNvSpPr/>
          <p:nvPr/>
        </p:nvSpPr>
        <p:spPr>
          <a:xfrm>
            <a:off x="4297680" y="5303520"/>
            <a:ext cx="3520440" cy="731520"/>
          </a:xfrm>
          <a:prstGeom prst="roundRect">
            <a:avLst>
              <a:gd name="adj" fmla="val 12500"/>
            </a:avLst>
          </a:prstGeom>
          <a:solidFill>
            <a:srgbClr val="FFFFFF"/>
          </a:solidFill>
          <a:ln w="12700">
            <a:solidFill>
              <a:srgbClr val="B9CFE3"/>
            </a:solidFill>
            <a:prstDash val="solid"/>
          </a:ln>
        </p:spPr>
      </p:sp>
      <p:sp>
        <p:nvSpPr>
          <p:cNvPr id="21" name="a6_gt4"/>
          <p:cNvSpPr txBox="1"/>
          <p:nvPr/>
        </p:nvSpPr>
        <p:spPr>
          <a:xfrm>
            <a:off x="4434840" y="5303520"/>
            <a:ext cx="3246120" cy="731520"/>
          </a:xfrm>
          <a:prstGeom prst="rect">
            <a:avLst/>
          </a:prstGeom>
          <a:noFill/>
          <a:ln/>
        </p:spPr>
        <p:txBody>
          <a:bodyPr wrap="square" lIns="0" tIns="0" rIns="0" bIns="0" rtlCol="0" anchor="ctr"/>
          <a:lstStyle/>
          <a:p>
            <a:pPr indent="0" marL="0">
              <a:buNone/>
            </a:pPr>
            <a:r>
              <a:rPr lang="en-US" sz="1500" b="1" dirty="0">
                <a:solidFill>
                  <a:srgbClr val="2F6C9A"/>
                </a:solidFill>
                <a:latin typeface="Times New Roman" pitchFamily="34" charset="0"/>
                <a:ea typeface="Times New Roman" pitchFamily="34" charset="-122"/>
                <a:cs typeface="Times New Roman" pitchFamily="34" charset="-120"/>
              </a:rPr>
              <a:t>G7  </a:t>
            </a:r>
            <a:pPr indent="0" marL="0">
              <a:buNone/>
            </a:pPr>
            <a:r>
              <a:rPr lang="en-US" sz="1200" dirty="0">
                <a:solidFill>
                  <a:srgbClr val="12233B"/>
                </a:solidFill>
                <a:latin typeface="Calibri" pitchFamily="34" charset="0"/>
                <a:ea typeface="Calibri" pitchFamily="34" charset="-122"/>
                <a:cs typeface="Calibri" pitchFamily="34" charset="-120"/>
              </a:rPr>
              <a:t>no figures hidden in names or free text</a:t>
            </a:r>
            <a:endParaRPr lang="en-US" sz="1600" dirty="0"/>
          </a:p>
        </p:txBody>
      </p:sp>
      <p:sp>
        <p:nvSpPr>
          <p:cNvPr id="22" name="a6_g5"/>
          <p:cNvSpPr/>
          <p:nvPr/>
        </p:nvSpPr>
        <p:spPr>
          <a:xfrm>
            <a:off x="8046720" y="5303520"/>
            <a:ext cx="3520440" cy="731520"/>
          </a:xfrm>
          <a:prstGeom prst="roundRect">
            <a:avLst>
              <a:gd name="adj" fmla="val 12500"/>
            </a:avLst>
          </a:prstGeom>
          <a:solidFill>
            <a:srgbClr val="FFFFFF"/>
          </a:solidFill>
          <a:ln w="12700">
            <a:solidFill>
              <a:srgbClr val="B9CFE3"/>
            </a:solidFill>
            <a:prstDash val="solid"/>
          </a:ln>
        </p:spPr>
      </p:sp>
      <p:sp>
        <p:nvSpPr>
          <p:cNvPr id="23" name="a6_gt5"/>
          <p:cNvSpPr txBox="1"/>
          <p:nvPr/>
        </p:nvSpPr>
        <p:spPr>
          <a:xfrm>
            <a:off x="8183880" y="5303520"/>
            <a:ext cx="3246120" cy="731520"/>
          </a:xfrm>
          <a:prstGeom prst="rect">
            <a:avLst/>
          </a:prstGeom>
          <a:noFill/>
          <a:ln/>
        </p:spPr>
        <p:txBody>
          <a:bodyPr wrap="square" lIns="0" tIns="0" rIns="0" bIns="0" rtlCol="0" anchor="ctr"/>
          <a:lstStyle/>
          <a:p>
            <a:pPr indent="0" marL="0">
              <a:buNone/>
            </a:pPr>
            <a:r>
              <a:rPr lang="en-US" sz="1500" b="1" dirty="0">
                <a:solidFill>
                  <a:srgbClr val="2F6C9A"/>
                </a:solidFill>
                <a:latin typeface="Times New Roman" pitchFamily="34" charset="0"/>
                <a:ea typeface="Times New Roman" pitchFamily="34" charset="-122"/>
                <a:cs typeface="Times New Roman" pitchFamily="34" charset="-120"/>
              </a:rPr>
              <a:t>G8  </a:t>
            </a:r>
            <a:pPr indent="0" marL="0">
              <a:buNone/>
            </a:pPr>
            <a:r>
              <a:rPr lang="en-US" sz="1200" dirty="0">
                <a:solidFill>
                  <a:srgbClr val="12233B"/>
                </a:solidFill>
                <a:latin typeface="Calibri" pitchFamily="34" charset="0"/>
                <a:ea typeface="Calibri" pitchFamily="34" charset="-122"/>
                <a:cs typeface="Calibri" pitchFamily="34" charset="-120"/>
              </a:rPr>
              <a:t>every field type-checked; one bad item cannot sink the rest</a:t>
            </a:r>
            <a:endParaRPr lang="en-US" sz="1600" dirty="0"/>
          </a:p>
        </p:txBody>
      </p:sp>
      <p:sp>
        <p:nvSpPr>
          <p:cNvPr id="24" name="Text 21"/>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app/ai_layer/guard.py (rules G1 to G9); tests/test_ai_guard.py</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3" fill="hold">
                            <p:stCondLst>
                              <p:cond delay="38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20"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childTnLst>
                          </p:cTn>
                        </p:par>
                        <p:par>
                          <p:cTn id="24" fill="hold">
                            <p:stCondLst>
                              <p:cond delay="114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childTnLst>
                                </p:cTn>
                              </p:par>
                            </p:childTnLst>
                          </p:cTn>
                        </p:par>
                        <p:par>
                          <p:cTn id="31" fill="hold">
                            <p:stCondLst>
                              <p:cond delay="1520"/>
                            </p:stCondLst>
                            <p:childTnLst>
                              <p:par>
                                <p:cTn id="25" presetID="10" presetClass="entr" presetSubtype="0"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childTnLst>
                          </p:cTn>
                        </p:par>
                        <p:par>
                          <p:cTn id="68" fill="hold">
                            <p:stCondLst>
                              <p:cond delay="190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5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How we checked it: quality in numbers</a:t>
            </a:r>
            <a:endParaRPr lang="en-US" sz="3200" dirty="0"/>
          </a:p>
        </p:txBody>
      </p:sp>
      <p:sp>
        <p:nvSpPr>
          <p:cNvPr id="4" name="a1_card"/>
          <p:cNvSpPr/>
          <p:nvPr/>
        </p:nvSpPr>
        <p:spPr>
          <a:xfrm>
            <a:off x="548640" y="1463040"/>
            <a:ext cx="2606040" cy="2377440"/>
          </a:xfrm>
          <a:prstGeom prst="roundRect">
            <a:avLst>
              <a:gd name="adj" fmla="val 3846"/>
            </a:avLst>
          </a:prstGeom>
          <a:solidFill>
            <a:srgbClr val="173F6B"/>
          </a:solidFill>
          <a:ln w="12700">
            <a:solidFill>
              <a:srgbClr val="173F6B"/>
            </a:solidFill>
            <a:prstDash val="solid"/>
          </a:ln>
        </p:spPr>
      </p:sp>
      <p:sp>
        <p:nvSpPr>
          <p:cNvPr id="5" name="a1_n"/>
          <p:cNvSpPr txBox="1"/>
          <p:nvPr/>
        </p:nvSpPr>
        <p:spPr>
          <a:xfrm>
            <a:off x="731520" y="1600200"/>
            <a:ext cx="2240280" cy="868680"/>
          </a:xfrm>
          <a:prstGeom prst="rect">
            <a:avLst/>
          </a:prstGeom>
          <a:noFill/>
          <a:ln/>
        </p:spPr>
        <p:txBody>
          <a:bodyPr wrap="square" lIns="0" tIns="0" rIns="0" bIns="0" rtlCol="0" anchor="ctr"/>
          <a:lstStyle/>
          <a:p>
            <a:pPr indent="0" marL="0">
              <a:buNone/>
            </a:pPr>
            <a:r>
              <a:rPr lang="en-US" sz="3200" b="1" dirty="0">
                <a:solidFill>
                  <a:srgbClr val="19B5C8"/>
                </a:solidFill>
                <a:latin typeface="Times New Roman" pitchFamily="34" charset="0"/>
                <a:ea typeface="Times New Roman" pitchFamily="34" charset="-122"/>
                <a:cs typeface="Times New Roman" pitchFamily="34" charset="-120"/>
              </a:rPr>
              <a:t>553 → 600</a:t>
            </a:r>
            <a:endParaRPr lang="en-US" sz="3200" dirty="0"/>
          </a:p>
        </p:txBody>
      </p:sp>
      <p:sp>
        <p:nvSpPr>
          <p:cNvPr id="6" name="a1_d"/>
          <p:cNvSpPr txBox="1"/>
          <p:nvPr/>
        </p:nvSpPr>
        <p:spPr>
          <a:xfrm>
            <a:off x="731520" y="2560320"/>
            <a:ext cx="2240280" cy="1188720"/>
          </a:xfrm>
          <a:prstGeom prst="rect">
            <a:avLst/>
          </a:prstGeom>
          <a:noFill/>
          <a:ln/>
        </p:spPr>
        <p:txBody>
          <a:bodyPr wrap="square" lIns="0" tIns="0" rIns="0" bIns="0" rtlCol="0" anchor="t"/>
          <a:lstStyle/>
          <a:p>
            <a:pPr indent="0" marL="0">
              <a:buNone/>
            </a:pPr>
            <a:r>
              <a:rPr lang="en-US" sz="1400" dirty="0">
                <a:solidFill>
                  <a:srgbClr val="DCEAF6"/>
                </a:solidFill>
                <a:latin typeface="Calibri" pitchFamily="34" charset="0"/>
                <a:ea typeface="Calibri" pitchFamily="34" charset="-122"/>
                <a:cs typeface="Calibri" pitchFamily="34" charset="-120"/>
              </a:rPr>
              <a:t>automated tests passing; 76 new for audit fixes</a:t>
            </a:r>
            <a:endParaRPr lang="en-US" sz="1400" dirty="0"/>
          </a:p>
        </p:txBody>
      </p:sp>
      <p:sp>
        <p:nvSpPr>
          <p:cNvPr id="7" name="a2_card"/>
          <p:cNvSpPr/>
          <p:nvPr/>
        </p:nvSpPr>
        <p:spPr>
          <a:xfrm>
            <a:off x="3355848" y="1463040"/>
            <a:ext cx="2606040" cy="2377440"/>
          </a:xfrm>
          <a:prstGeom prst="roundRect">
            <a:avLst>
              <a:gd name="adj" fmla="val 3846"/>
            </a:avLst>
          </a:prstGeom>
          <a:solidFill>
            <a:srgbClr val="173F6B"/>
          </a:solidFill>
          <a:ln w="12700">
            <a:solidFill>
              <a:srgbClr val="173F6B"/>
            </a:solidFill>
            <a:prstDash val="solid"/>
          </a:ln>
        </p:spPr>
      </p:sp>
      <p:sp>
        <p:nvSpPr>
          <p:cNvPr id="8" name="a2_n"/>
          <p:cNvSpPr txBox="1"/>
          <p:nvPr/>
        </p:nvSpPr>
        <p:spPr>
          <a:xfrm>
            <a:off x="3538728" y="1600200"/>
            <a:ext cx="2240280" cy="868680"/>
          </a:xfrm>
          <a:prstGeom prst="rect">
            <a:avLst/>
          </a:prstGeom>
          <a:noFill/>
          <a:ln/>
        </p:spPr>
        <p:txBody>
          <a:bodyPr wrap="square" lIns="0" tIns="0" rIns="0" bIns="0" rtlCol="0" anchor="ctr"/>
          <a:lstStyle/>
          <a:p>
            <a:pPr indent="0" marL="0">
              <a:buNone/>
            </a:pPr>
            <a:r>
              <a:rPr lang="en-US" sz="3200" b="1" dirty="0">
                <a:solidFill>
                  <a:srgbClr val="19B5C8"/>
                </a:solidFill>
                <a:latin typeface="Times New Roman" pitchFamily="34" charset="0"/>
                <a:ea typeface="Times New Roman" pitchFamily="34" charset="-122"/>
                <a:cs typeface="Times New Roman" pitchFamily="34" charset="-120"/>
              </a:rPr>
              <a:t>3 of 3</a:t>
            </a:r>
            <a:endParaRPr lang="en-US" sz="3200" dirty="0"/>
          </a:p>
        </p:txBody>
      </p:sp>
      <p:sp>
        <p:nvSpPr>
          <p:cNvPr id="9" name="a2_d"/>
          <p:cNvSpPr txBox="1"/>
          <p:nvPr/>
        </p:nvSpPr>
        <p:spPr>
          <a:xfrm>
            <a:off x="3538728" y="2560320"/>
            <a:ext cx="2240280" cy="1188720"/>
          </a:xfrm>
          <a:prstGeom prst="rect">
            <a:avLst/>
          </a:prstGeom>
          <a:noFill/>
          <a:ln/>
        </p:spPr>
        <p:txBody>
          <a:bodyPr wrap="square" lIns="0" tIns="0" rIns="0" bIns="0" rtlCol="0" anchor="t"/>
          <a:lstStyle/>
          <a:p>
            <a:pPr indent="0" marL="0">
              <a:buNone/>
            </a:pPr>
            <a:r>
              <a:rPr lang="en-US" sz="1400" dirty="0">
                <a:solidFill>
                  <a:srgbClr val="DCEAF6"/>
                </a:solidFill>
                <a:latin typeface="Calibri" pitchFamily="34" charset="0"/>
                <a:ea typeface="Calibri" pitchFamily="34" charset="-122"/>
                <a:cs typeface="Calibri" pitchFamily="34" charset="-120"/>
              </a:rPr>
              <a:t>Python hash seeds give identical output (golden hash)</a:t>
            </a:r>
            <a:endParaRPr lang="en-US" sz="1400" dirty="0"/>
          </a:p>
        </p:txBody>
      </p:sp>
      <p:sp>
        <p:nvSpPr>
          <p:cNvPr id="10" name="a3_card"/>
          <p:cNvSpPr/>
          <p:nvPr/>
        </p:nvSpPr>
        <p:spPr>
          <a:xfrm>
            <a:off x="6163056" y="1463040"/>
            <a:ext cx="2606040" cy="2377440"/>
          </a:xfrm>
          <a:prstGeom prst="roundRect">
            <a:avLst>
              <a:gd name="adj" fmla="val 3846"/>
            </a:avLst>
          </a:prstGeom>
          <a:solidFill>
            <a:srgbClr val="173F6B"/>
          </a:solidFill>
          <a:ln w="12700">
            <a:solidFill>
              <a:srgbClr val="173F6B"/>
            </a:solidFill>
            <a:prstDash val="solid"/>
          </a:ln>
        </p:spPr>
      </p:sp>
      <p:sp>
        <p:nvSpPr>
          <p:cNvPr id="11" name="a3_n"/>
          <p:cNvSpPr txBox="1"/>
          <p:nvPr/>
        </p:nvSpPr>
        <p:spPr>
          <a:xfrm>
            <a:off x="6345936" y="1600200"/>
            <a:ext cx="2240280" cy="868680"/>
          </a:xfrm>
          <a:prstGeom prst="rect">
            <a:avLst/>
          </a:prstGeom>
          <a:noFill/>
          <a:ln/>
        </p:spPr>
        <p:txBody>
          <a:bodyPr wrap="square" lIns="0" tIns="0" rIns="0" bIns="0" rtlCol="0" anchor="ctr"/>
          <a:lstStyle/>
          <a:p>
            <a:pPr indent="0" marL="0">
              <a:buNone/>
            </a:pPr>
            <a:r>
              <a:rPr lang="en-US" sz="3200" b="1" dirty="0">
                <a:solidFill>
                  <a:srgbClr val="19B5C8"/>
                </a:solidFill>
                <a:latin typeface="Times New Roman" pitchFamily="34" charset="0"/>
                <a:ea typeface="Times New Roman" pitchFamily="34" charset="-122"/>
                <a:cs typeface="Times New Roman" pitchFamily="34" charset="-120"/>
              </a:rPr>
              <a:t>OK</a:t>
            </a:r>
            <a:endParaRPr lang="en-US" sz="3200" dirty="0"/>
          </a:p>
        </p:txBody>
      </p:sp>
      <p:sp>
        <p:nvSpPr>
          <p:cNvPr id="12" name="a3_d"/>
          <p:cNvSpPr txBox="1"/>
          <p:nvPr/>
        </p:nvSpPr>
        <p:spPr>
          <a:xfrm>
            <a:off x="6345936" y="2560320"/>
            <a:ext cx="2240280" cy="1188720"/>
          </a:xfrm>
          <a:prstGeom prst="rect">
            <a:avLst/>
          </a:prstGeom>
          <a:noFill/>
          <a:ln/>
        </p:spPr>
        <p:txBody>
          <a:bodyPr wrap="square" lIns="0" tIns="0" rIns="0" bIns="0" rtlCol="0" anchor="t"/>
          <a:lstStyle/>
          <a:p>
            <a:pPr indent="0" marL="0">
              <a:buNone/>
            </a:pPr>
            <a:r>
              <a:rPr lang="en-US" sz="1400" dirty="0">
                <a:solidFill>
                  <a:srgbClr val="DCEAF6"/>
                </a:solidFill>
                <a:latin typeface="Calibri" pitchFamily="34" charset="0"/>
                <a:ea typeface="Calibri" pitchFamily="34" charset="-122"/>
                <a:cs typeface="Calibri" pitchFamily="34" charset="-120"/>
              </a:rPr>
              <a:t>data check: 46 risks, 22 rules, 182 rows, 13 catalogue entries, 472 evidence ids</a:t>
            </a:r>
            <a:endParaRPr lang="en-US" sz="1400" dirty="0"/>
          </a:p>
        </p:txBody>
      </p:sp>
      <p:sp>
        <p:nvSpPr>
          <p:cNvPr id="13" name="a4_card"/>
          <p:cNvSpPr/>
          <p:nvPr/>
        </p:nvSpPr>
        <p:spPr>
          <a:xfrm>
            <a:off x="8970264" y="1463040"/>
            <a:ext cx="2606040" cy="2377440"/>
          </a:xfrm>
          <a:prstGeom prst="roundRect">
            <a:avLst>
              <a:gd name="adj" fmla="val 3846"/>
            </a:avLst>
          </a:prstGeom>
          <a:solidFill>
            <a:srgbClr val="173F6B"/>
          </a:solidFill>
          <a:ln w="12700">
            <a:solidFill>
              <a:srgbClr val="173F6B"/>
            </a:solidFill>
            <a:prstDash val="solid"/>
          </a:ln>
        </p:spPr>
      </p:sp>
      <p:sp>
        <p:nvSpPr>
          <p:cNvPr id="14" name="a4_n"/>
          <p:cNvSpPr txBox="1"/>
          <p:nvPr/>
        </p:nvSpPr>
        <p:spPr>
          <a:xfrm>
            <a:off x="9153144" y="1600200"/>
            <a:ext cx="2240280" cy="868680"/>
          </a:xfrm>
          <a:prstGeom prst="rect">
            <a:avLst/>
          </a:prstGeom>
          <a:noFill/>
          <a:ln/>
        </p:spPr>
        <p:txBody>
          <a:bodyPr wrap="square" lIns="0" tIns="0" rIns="0" bIns="0" rtlCol="0" anchor="ctr"/>
          <a:lstStyle/>
          <a:p>
            <a:pPr indent="0" marL="0">
              <a:buNone/>
            </a:pPr>
            <a:r>
              <a:rPr lang="en-US" sz="3200" b="1" dirty="0">
                <a:solidFill>
                  <a:srgbClr val="19B5C8"/>
                </a:solidFill>
                <a:latin typeface="Times New Roman" pitchFamily="34" charset="0"/>
                <a:ea typeface="Times New Roman" pitchFamily="34" charset="-122"/>
                <a:cs typeface="Times New Roman" pitchFamily="34" charset="-120"/>
              </a:rPr>
              <a:t>509 → 0 px</a:t>
            </a:r>
            <a:endParaRPr lang="en-US" sz="3200" dirty="0"/>
          </a:p>
        </p:txBody>
      </p:sp>
      <p:sp>
        <p:nvSpPr>
          <p:cNvPr id="15" name="a4_d"/>
          <p:cNvSpPr txBox="1"/>
          <p:nvPr/>
        </p:nvSpPr>
        <p:spPr>
          <a:xfrm>
            <a:off x="9153144" y="2560320"/>
            <a:ext cx="2240280" cy="1188720"/>
          </a:xfrm>
          <a:prstGeom prst="rect">
            <a:avLst/>
          </a:prstGeom>
          <a:noFill/>
          <a:ln/>
        </p:spPr>
        <p:txBody>
          <a:bodyPr wrap="square" lIns="0" tIns="0" rIns="0" bIns="0" rtlCol="0" anchor="t"/>
          <a:lstStyle/>
          <a:p>
            <a:pPr indent="0" marL="0">
              <a:buNone/>
            </a:pPr>
            <a:r>
              <a:rPr lang="en-US" sz="1400" dirty="0">
                <a:solidFill>
                  <a:srgbClr val="DCEAF6"/>
                </a:solidFill>
                <a:latin typeface="Calibri" pitchFamily="34" charset="0"/>
                <a:ea typeface="Calibri" pitchFamily="34" charset="-122"/>
                <a:cs typeface="Calibri" pitchFamily="34" charset="-120"/>
              </a:rPr>
              <a:t>sideways overflow at phone width (375 px)</a:t>
            </a:r>
            <a:endParaRPr lang="en-US" sz="1400" dirty="0"/>
          </a:p>
        </p:txBody>
      </p:sp>
      <p:sp>
        <p:nvSpPr>
          <p:cNvPr id="16" name="a5_cmd0"/>
          <p:cNvSpPr txBox="1"/>
          <p:nvPr/>
        </p:nvSpPr>
        <p:spPr>
          <a:xfrm>
            <a:off x="548640" y="4114800"/>
            <a:ext cx="3383280" cy="365760"/>
          </a:xfrm>
          <a:prstGeom prst="rect">
            <a:avLst/>
          </a:prstGeom>
          <a:noFill/>
          <a:ln/>
        </p:spPr>
        <p:txBody>
          <a:bodyPr wrap="square" lIns="0" tIns="0" rIns="0" bIns="0" rtlCol="0" anchor="ctr"/>
          <a:lstStyle/>
          <a:p>
            <a:pPr indent="0" marL="0">
              <a:buNone/>
            </a:pPr>
            <a:r>
              <a:rPr lang="en-US" sz="1400" dirty="0">
                <a:solidFill>
                  <a:srgbClr val="19B5C8"/>
                </a:solidFill>
                <a:latin typeface="Courier New" pitchFamily="34" charset="0"/>
                <a:ea typeface="Courier New" pitchFamily="34" charset="-122"/>
                <a:cs typeface="Courier New" pitchFamily="34" charset="-120"/>
              </a:rPr>
              <a:t>pytest tests -q</a:t>
            </a:r>
            <a:endParaRPr lang="en-US" sz="1400" dirty="0"/>
          </a:p>
        </p:txBody>
      </p:sp>
      <p:sp>
        <p:nvSpPr>
          <p:cNvPr id="17" name="a5_cd0"/>
          <p:cNvSpPr txBox="1"/>
          <p:nvPr/>
        </p:nvSpPr>
        <p:spPr>
          <a:xfrm>
            <a:off x="4023360" y="4114800"/>
            <a:ext cx="3108960" cy="365760"/>
          </a:xfrm>
          <a:prstGeom prst="rect">
            <a:avLst/>
          </a:prstGeom>
          <a:noFill/>
          <a:ln/>
        </p:spPr>
        <p:txBody>
          <a:bodyPr wrap="square" lIns="0" tIns="0" rIns="0" bIns="0" rtlCol="0" anchor="ctr"/>
          <a:lstStyle/>
          <a:p>
            <a:pPr indent="0" marL="0">
              <a:buNone/>
            </a:pPr>
            <a:r>
              <a:rPr lang="en-US" sz="1400" dirty="0">
                <a:solidFill>
                  <a:srgbClr val="DCEAF6"/>
                </a:solidFill>
                <a:latin typeface="Calibri" pitchFamily="34" charset="0"/>
                <a:ea typeface="Calibri" pitchFamily="34" charset="-122"/>
                <a:cs typeface="Calibri" pitchFamily="34" charset="-120"/>
              </a:rPr>
              <a:t>behaviour of every module</a:t>
            </a:r>
            <a:endParaRPr lang="en-US" sz="1400" dirty="0"/>
          </a:p>
        </p:txBody>
      </p:sp>
      <p:sp>
        <p:nvSpPr>
          <p:cNvPr id="18" name="a5_cmd1"/>
          <p:cNvSpPr txBox="1"/>
          <p:nvPr/>
        </p:nvSpPr>
        <p:spPr>
          <a:xfrm>
            <a:off x="548640" y="4572000"/>
            <a:ext cx="3383280" cy="365760"/>
          </a:xfrm>
          <a:prstGeom prst="rect">
            <a:avLst/>
          </a:prstGeom>
          <a:noFill/>
          <a:ln/>
        </p:spPr>
        <p:txBody>
          <a:bodyPr wrap="square" lIns="0" tIns="0" rIns="0" bIns="0" rtlCol="0" anchor="ctr"/>
          <a:lstStyle/>
          <a:p>
            <a:pPr indent="0" marL="0">
              <a:buNone/>
            </a:pPr>
            <a:r>
              <a:rPr lang="en-US" sz="1400" dirty="0">
                <a:solidFill>
                  <a:srgbClr val="19B5C8"/>
                </a:solidFill>
                <a:latin typeface="Courier New" pitchFamily="34" charset="0"/>
                <a:ea typeface="Courier New" pitchFamily="34" charset="-122"/>
                <a:cs typeface="Courier New" pitchFamily="34" charset="-120"/>
              </a:rPr>
              <a:t>scripts/golden_hash.py</a:t>
            </a:r>
            <a:endParaRPr lang="en-US" sz="1400" dirty="0"/>
          </a:p>
        </p:txBody>
      </p:sp>
      <p:sp>
        <p:nvSpPr>
          <p:cNvPr id="19" name="a5_cd1"/>
          <p:cNvSpPr txBox="1"/>
          <p:nvPr/>
        </p:nvSpPr>
        <p:spPr>
          <a:xfrm>
            <a:off x="4023360" y="4572000"/>
            <a:ext cx="3108960" cy="365760"/>
          </a:xfrm>
          <a:prstGeom prst="rect">
            <a:avLst/>
          </a:prstGeom>
          <a:noFill/>
          <a:ln/>
        </p:spPr>
        <p:txBody>
          <a:bodyPr wrap="square" lIns="0" tIns="0" rIns="0" bIns="0" rtlCol="0" anchor="ctr"/>
          <a:lstStyle/>
          <a:p>
            <a:pPr indent="0" marL="0">
              <a:buNone/>
            </a:pPr>
            <a:r>
              <a:rPr lang="en-US" sz="1400" dirty="0">
                <a:solidFill>
                  <a:srgbClr val="DCEAF6"/>
                </a:solidFill>
                <a:latin typeface="Calibri" pitchFamily="34" charset="0"/>
                <a:ea typeface="Calibri" pitchFamily="34" charset="-122"/>
                <a:cs typeface="Calibri" pitchFamily="34" charset="-120"/>
              </a:rPr>
              <a:t>same input and seed, same output</a:t>
            </a:r>
            <a:endParaRPr lang="en-US" sz="1400" dirty="0"/>
          </a:p>
        </p:txBody>
      </p:sp>
      <p:sp>
        <p:nvSpPr>
          <p:cNvPr id="20" name="a5_cmd2"/>
          <p:cNvSpPr txBox="1"/>
          <p:nvPr/>
        </p:nvSpPr>
        <p:spPr>
          <a:xfrm>
            <a:off x="548640" y="5029200"/>
            <a:ext cx="3383280" cy="365760"/>
          </a:xfrm>
          <a:prstGeom prst="rect">
            <a:avLst/>
          </a:prstGeom>
          <a:noFill/>
          <a:ln/>
        </p:spPr>
        <p:txBody>
          <a:bodyPr wrap="square" lIns="0" tIns="0" rIns="0" bIns="0" rtlCol="0" anchor="ctr"/>
          <a:lstStyle/>
          <a:p>
            <a:pPr indent="0" marL="0">
              <a:buNone/>
            </a:pPr>
            <a:r>
              <a:rPr lang="en-US" sz="1400" dirty="0">
                <a:solidFill>
                  <a:srgbClr val="19B5C8"/>
                </a:solidFill>
                <a:latin typeface="Courier New" pitchFamily="34" charset="0"/>
                <a:ea typeface="Courier New" pitchFamily="34" charset="-122"/>
                <a:cs typeface="Courier New" pitchFamily="34" charset="-120"/>
              </a:rPr>
              <a:t>scripts/check_data.py</a:t>
            </a:r>
            <a:endParaRPr lang="en-US" sz="1400" dirty="0"/>
          </a:p>
        </p:txBody>
      </p:sp>
      <p:sp>
        <p:nvSpPr>
          <p:cNvPr id="21" name="a5_cd2"/>
          <p:cNvSpPr txBox="1"/>
          <p:nvPr/>
        </p:nvSpPr>
        <p:spPr>
          <a:xfrm>
            <a:off x="4023360" y="5029200"/>
            <a:ext cx="3108960" cy="365760"/>
          </a:xfrm>
          <a:prstGeom prst="rect">
            <a:avLst/>
          </a:prstGeom>
          <a:noFill/>
          <a:ln/>
        </p:spPr>
        <p:txBody>
          <a:bodyPr wrap="square" lIns="0" tIns="0" rIns="0" bIns="0" rtlCol="0" anchor="ctr"/>
          <a:lstStyle/>
          <a:p>
            <a:pPr indent="0" marL="0">
              <a:buNone/>
            </a:pPr>
            <a:r>
              <a:rPr lang="en-US" sz="1400" dirty="0">
                <a:solidFill>
                  <a:srgbClr val="DCEAF6"/>
                </a:solidFill>
                <a:latin typeface="Calibri" pitchFamily="34" charset="0"/>
                <a:ea typeface="Calibri" pitchFamily="34" charset="-122"/>
                <a:cs typeface="Calibri" pitchFamily="34" charset="-120"/>
              </a:rPr>
              <a:t>no dangling ids, no RII outside (0, 1]</a:t>
            </a:r>
            <a:endParaRPr lang="en-US" sz="1400" dirty="0"/>
          </a:p>
        </p:txBody>
      </p:sp>
      <p:sp>
        <p:nvSpPr>
          <p:cNvPr id="22" name="a5_cmd3"/>
          <p:cNvSpPr txBox="1"/>
          <p:nvPr/>
        </p:nvSpPr>
        <p:spPr>
          <a:xfrm>
            <a:off x="548640" y="5486400"/>
            <a:ext cx="3383280" cy="365760"/>
          </a:xfrm>
          <a:prstGeom prst="rect">
            <a:avLst/>
          </a:prstGeom>
          <a:noFill/>
          <a:ln/>
        </p:spPr>
        <p:txBody>
          <a:bodyPr wrap="square" lIns="0" tIns="0" rIns="0" bIns="0" rtlCol="0" anchor="ctr"/>
          <a:lstStyle/>
          <a:p>
            <a:pPr indent="0" marL="0">
              <a:buNone/>
            </a:pPr>
            <a:r>
              <a:rPr lang="en-US" sz="1400" dirty="0">
                <a:solidFill>
                  <a:srgbClr val="19B5C8"/>
                </a:solidFill>
                <a:latin typeface="Courier New" pitchFamily="34" charset="0"/>
                <a:ea typeface="Courier New" pitchFamily="34" charset="-122"/>
                <a:cs typeface="Courier New" pitchFamily="34" charset="-120"/>
              </a:rPr>
              <a:t>scripts/gui_layout_check.py</a:t>
            </a:r>
            <a:endParaRPr lang="en-US" sz="1400" dirty="0"/>
          </a:p>
        </p:txBody>
      </p:sp>
      <p:sp>
        <p:nvSpPr>
          <p:cNvPr id="23" name="a5_cd3"/>
          <p:cNvSpPr txBox="1"/>
          <p:nvPr/>
        </p:nvSpPr>
        <p:spPr>
          <a:xfrm>
            <a:off x="4023360" y="5486400"/>
            <a:ext cx="3108960" cy="365760"/>
          </a:xfrm>
          <a:prstGeom prst="rect">
            <a:avLst/>
          </a:prstGeom>
          <a:noFill/>
          <a:ln/>
        </p:spPr>
        <p:txBody>
          <a:bodyPr wrap="square" lIns="0" tIns="0" rIns="0" bIns="0" rtlCol="0" anchor="ctr"/>
          <a:lstStyle/>
          <a:p>
            <a:pPr indent="0" marL="0">
              <a:buNone/>
            </a:pPr>
            <a:r>
              <a:rPr lang="en-US" sz="1400" dirty="0">
                <a:solidFill>
                  <a:srgbClr val="DCEAF6"/>
                </a:solidFill>
                <a:latin typeface="Calibri" pitchFamily="34" charset="0"/>
                <a:ea typeface="Calibri" pitchFamily="34" charset="-122"/>
                <a:cs typeface="Calibri" pitchFamily="34" charset="-120"/>
              </a:rPr>
              <a:t>7 screens at 1280, 800, 375 px</a:t>
            </a:r>
            <a:endParaRPr lang="en-US" sz="1400" dirty="0"/>
          </a:p>
        </p:txBody>
      </p:sp>
      <p:sp>
        <p:nvSpPr>
          <p:cNvPr id="24" name="a6_imgframe"/>
          <p:cNvSpPr/>
          <p:nvPr/>
        </p:nvSpPr>
        <p:spPr>
          <a:xfrm>
            <a:off x="7406640" y="4069080"/>
            <a:ext cx="4251960" cy="1920240"/>
          </a:xfrm>
          <a:prstGeom prst="roundRect">
            <a:avLst>
              <a:gd name="adj" fmla="val 3810"/>
            </a:avLst>
          </a:prstGeom>
          <a:solidFill>
            <a:srgbClr val="EFF5FA"/>
          </a:solidFill>
          <a:ln w="15875">
            <a:solidFill>
              <a:srgbClr val="2F6C9A"/>
            </a:solidFill>
            <a:prstDash val="dash"/>
          </a:ln>
        </p:spPr>
      </p:sp>
      <p:sp>
        <p:nvSpPr>
          <p:cNvPr id="25" name="a6_imglabel"/>
          <p:cNvSpPr txBox="1"/>
          <p:nvPr/>
        </p:nvSpPr>
        <p:spPr>
          <a:xfrm>
            <a:off x="7543800" y="4069080"/>
            <a:ext cx="3977640" cy="192024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screenshot: pytest output or layout check</a:t>
            </a:r>
            <a:endParaRPr lang="en-US" sz="1600" dirty="0"/>
          </a:p>
        </p:txBody>
      </p:sp>
      <p:sp>
        <p:nvSpPr>
          <p:cNvPr id="26" name="Text 23"/>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A9C7E0"/>
                </a:solidFill>
                <a:latin typeface="Calibri" pitchFamily="34" charset="0"/>
                <a:ea typeface="Calibri" pitchFamily="34" charset="-122"/>
                <a:cs typeface="Calibri" pitchFamily="34" charset="-120"/>
              </a:rPr>
              <a:t>Source: commands run 2026-10-12 and 2026-10-13; pytest, golden_hash, check_data, gui_layout_check</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E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8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6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14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67" fill="hold">
                            <p:stCondLst>
                              <p:cond delay="152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5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5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childTnLst>
                                </p:cTn>
                              </p:par>
                            </p:childTnLst>
                          </p:cTn>
                        </p:par>
                        <p:par>
                          <p:cTn id="74" fill="hold">
                            <p:stCondLst>
                              <p:cond delay="19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An independent audit: 140 findings, all triaged</a:t>
            </a:r>
            <a:endParaRPr lang="en-US" sz="3200" dirty="0"/>
          </a:p>
        </p:txBody>
      </p:sp>
      <p:graphicFrame>
        <p:nvGraphicFramePr>
          <p:cNvPr id="4" name="a1_chart" descr=""/>
          <p:cNvGraphicFramePr/>
          <p:nvPr/>
        </p:nvGraphicFramePr>
        <p:xfrm>
          <a:off x="548640" y="1280160"/>
          <a:ext cx="5760720" cy="3657600"/>
        </p:xfrm>
        <a:graphic xmlns:a="http://schemas.openxmlformats.org/drawingml/2006/main">
          <a:graphicData uri="http://schemas.openxmlformats.org/drawingml/2006/chart">
            <c:chart xmlns:c="http://schemas.openxmlformats.org/drawingml/2006/chart" r:id="rId1"/>
          </a:graphicData>
        </a:graphic>
      </p:graphicFrame>
      <p:sp>
        <p:nvSpPr>
          <p:cNvPr id="5" name="a2_c0"/>
          <p:cNvSpPr/>
          <p:nvPr/>
        </p:nvSpPr>
        <p:spPr>
          <a:xfrm>
            <a:off x="6583680" y="1371600"/>
            <a:ext cx="5074920" cy="1051560"/>
          </a:xfrm>
          <a:prstGeom prst="roundRect">
            <a:avLst>
              <a:gd name="adj" fmla="val 8696"/>
            </a:avLst>
          </a:prstGeom>
          <a:solidFill>
            <a:srgbClr val="EFF5FA"/>
          </a:solidFill>
          <a:ln w="12700">
            <a:solidFill>
              <a:srgbClr val="B9CFE3"/>
            </a:solidFill>
            <a:prstDash val="solid"/>
          </a:ln>
        </p:spPr>
      </p:sp>
      <p:sp>
        <p:nvSpPr>
          <p:cNvPr id="6" name="a2_ct0"/>
          <p:cNvSpPr txBox="1"/>
          <p:nvPr/>
        </p:nvSpPr>
        <p:spPr>
          <a:xfrm>
            <a:off x="6766560" y="1371600"/>
            <a:ext cx="4754880" cy="1051560"/>
          </a:xfrm>
          <a:prstGeom prst="rect">
            <a:avLst/>
          </a:prstGeom>
          <a:noFill/>
          <a:ln/>
        </p:spPr>
        <p:txBody>
          <a:bodyPr wrap="square" lIns="0" tIns="0" rIns="0" bIns="0" rtlCol="0" anchor="ctr"/>
          <a:lstStyle/>
          <a:p>
            <a:pPr indent="0" marL="0">
              <a:buNone/>
            </a:pPr>
            <a:r>
              <a:rPr lang="en-US" sz="1600" b="1" dirty="0">
                <a:solidFill>
                  <a:srgbClr val="173F6B"/>
                </a:solidFill>
                <a:latin typeface="Times New Roman" pitchFamily="34" charset="0"/>
                <a:ea typeface="Times New Roman" pitchFamily="34" charset="-122"/>
                <a:cs typeface="Times New Roman" pitchFamily="34" charset="-120"/>
              </a:rPr>
              <a:t>Fixed with a test</a:t>
            </a:r>
            <a:endParaRPr lang="en-US" sz="1600" dirty="0"/>
          </a:p>
          <a:p>
            <a:pPr indent="0" marL="0">
              <a:buNone/>
            </a:pPr>
            <a:r>
              <a:rPr lang="en-US" sz="1300" dirty="0">
                <a:solidFill>
                  <a:srgbClr val="55708A"/>
                </a:solidFill>
                <a:latin typeface="Calibri" pitchFamily="34" charset="0"/>
                <a:ea typeface="Calibri" pitchFamily="34" charset="-122"/>
                <a:cs typeface="Calibri" pitchFamily="34" charset="-120"/>
              </a:rPr>
              <a:t>engine guards, input validation, repeatable output, accessible GUI</a:t>
            </a:r>
            <a:endParaRPr lang="en-US" sz="1600" dirty="0"/>
          </a:p>
        </p:txBody>
      </p:sp>
      <p:sp>
        <p:nvSpPr>
          <p:cNvPr id="7" name="a3_c1"/>
          <p:cNvSpPr/>
          <p:nvPr/>
        </p:nvSpPr>
        <p:spPr>
          <a:xfrm>
            <a:off x="6583680" y="2560320"/>
            <a:ext cx="5074920" cy="1051560"/>
          </a:xfrm>
          <a:prstGeom prst="roundRect">
            <a:avLst>
              <a:gd name="adj" fmla="val 8696"/>
            </a:avLst>
          </a:prstGeom>
          <a:solidFill>
            <a:srgbClr val="DCEAF6"/>
          </a:solidFill>
          <a:ln w="12700">
            <a:solidFill>
              <a:srgbClr val="B9CFE3"/>
            </a:solidFill>
            <a:prstDash val="solid"/>
          </a:ln>
        </p:spPr>
      </p:sp>
      <p:sp>
        <p:nvSpPr>
          <p:cNvPr id="8" name="a3_ct1"/>
          <p:cNvSpPr txBox="1"/>
          <p:nvPr/>
        </p:nvSpPr>
        <p:spPr>
          <a:xfrm>
            <a:off x="6766560" y="2560320"/>
            <a:ext cx="4754880" cy="1051560"/>
          </a:xfrm>
          <a:prstGeom prst="rect">
            <a:avLst/>
          </a:prstGeom>
          <a:noFill/>
          <a:ln/>
        </p:spPr>
        <p:txBody>
          <a:bodyPr wrap="square" lIns="0" tIns="0" rIns="0" bIns="0" rtlCol="0" anchor="ctr"/>
          <a:lstStyle/>
          <a:p>
            <a:pPr indent="0" marL="0">
              <a:buNone/>
            </a:pPr>
            <a:r>
              <a:rPr lang="en-US" sz="1600" b="1" dirty="0">
                <a:solidFill>
                  <a:srgbClr val="173F6B"/>
                </a:solidFill>
                <a:latin typeface="Times New Roman" pitchFamily="34" charset="0"/>
                <a:ea typeface="Times New Roman" pitchFamily="34" charset="-122"/>
                <a:cs typeface="Times New Roman" pitchFamily="34" charset="-120"/>
              </a:rPr>
              <a:t>Removed (unused)</a:t>
            </a:r>
            <a:endParaRPr lang="en-US" sz="1600" dirty="0"/>
          </a:p>
          <a:p>
            <a:pPr indent="0" marL="0">
              <a:buNone/>
            </a:pPr>
            <a:r>
              <a:rPr lang="en-US" sz="1300" dirty="0">
                <a:solidFill>
                  <a:srgbClr val="55708A"/>
                </a:solidFill>
                <a:latin typeface="Calibri" pitchFamily="34" charset="0"/>
                <a:ea typeface="Calibri" pitchFamily="34" charset="-122"/>
                <a:cs typeface="Calibri" pitchFamily="34" charset="-120"/>
              </a:rPr>
              <a:t>6 GUI screens, productivity package, unused AI narrative path, duplicate folders</a:t>
            </a:r>
            <a:endParaRPr lang="en-US" sz="1600" dirty="0"/>
          </a:p>
        </p:txBody>
      </p:sp>
      <p:sp>
        <p:nvSpPr>
          <p:cNvPr id="9" name="a4_c2"/>
          <p:cNvSpPr/>
          <p:nvPr/>
        </p:nvSpPr>
        <p:spPr>
          <a:xfrm>
            <a:off x="6583680" y="3749040"/>
            <a:ext cx="5074920" cy="1051560"/>
          </a:xfrm>
          <a:prstGeom prst="roundRect">
            <a:avLst>
              <a:gd name="adj" fmla="val 8696"/>
            </a:avLst>
          </a:prstGeom>
          <a:solidFill>
            <a:srgbClr val="EFF5FA"/>
          </a:solidFill>
          <a:ln w="12700">
            <a:solidFill>
              <a:srgbClr val="B9CFE3"/>
            </a:solidFill>
            <a:prstDash val="solid"/>
          </a:ln>
        </p:spPr>
      </p:sp>
      <p:sp>
        <p:nvSpPr>
          <p:cNvPr id="10" name="a4_ct2"/>
          <p:cNvSpPr txBox="1"/>
          <p:nvPr/>
        </p:nvSpPr>
        <p:spPr>
          <a:xfrm>
            <a:off x="6766560" y="3749040"/>
            <a:ext cx="4754880" cy="1051560"/>
          </a:xfrm>
          <a:prstGeom prst="rect">
            <a:avLst/>
          </a:prstGeom>
          <a:noFill/>
          <a:ln/>
        </p:spPr>
        <p:txBody>
          <a:bodyPr wrap="square" lIns="0" tIns="0" rIns="0" bIns="0" rtlCol="0" anchor="ctr"/>
          <a:lstStyle/>
          <a:p>
            <a:pPr indent="0" marL="0">
              <a:buNone/>
            </a:pPr>
            <a:r>
              <a:rPr lang="en-US" sz="1600" b="1" dirty="0">
                <a:solidFill>
                  <a:srgbClr val="173F6B"/>
                </a:solidFill>
                <a:latin typeface="Times New Roman" pitchFamily="34" charset="0"/>
                <a:ea typeface="Times New Roman" pitchFamily="34" charset="-122"/>
                <a:cs typeface="Times New Roman" pitchFamily="34" charset="-120"/>
              </a:rPr>
              <a:t>Left for the owner</a:t>
            </a:r>
            <a:endParaRPr lang="en-US" sz="1600" dirty="0"/>
          </a:p>
          <a:p>
            <a:pPr indent="0" marL="0">
              <a:buNone/>
            </a:pPr>
            <a:r>
              <a:rPr lang="en-US" sz="1300" dirty="0">
                <a:solidFill>
                  <a:srgbClr val="55708A"/>
                </a:solidFill>
                <a:latin typeface="Calibri" pitchFamily="34" charset="0"/>
                <a:ea typeface="Calibri" pitchFamily="34" charset="-122"/>
                <a:cs typeface="Calibri" pitchFamily="34" charset="-120"/>
              </a:rPr>
              <a:t>scope, deleting files, seed values, Word documents</a:t>
            </a:r>
            <a:endParaRPr lang="en-US" sz="1600" dirty="0"/>
          </a:p>
        </p:txBody>
      </p:sp>
      <p:sp>
        <p:nvSpPr>
          <p:cNvPr id="11" name="a5_band"/>
          <p:cNvSpPr/>
          <p:nvPr/>
        </p:nvSpPr>
        <p:spPr>
          <a:xfrm>
            <a:off x="548640" y="5166360"/>
            <a:ext cx="11109960" cy="868680"/>
          </a:xfrm>
          <a:prstGeom prst="roundRect">
            <a:avLst>
              <a:gd name="adj" fmla="val 10526"/>
            </a:avLst>
          </a:prstGeom>
          <a:solidFill>
            <a:srgbClr val="0A1F3C"/>
          </a:solidFill>
          <a:ln w="12700">
            <a:solidFill>
              <a:srgbClr val="0A1F3C"/>
            </a:solidFill>
            <a:prstDash val="solid"/>
          </a:ln>
        </p:spPr>
      </p:sp>
      <p:sp>
        <p:nvSpPr>
          <p:cNvPr id="12" name="a5_bandt"/>
          <p:cNvSpPr txBox="1"/>
          <p:nvPr/>
        </p:nvSpPr>
        <p:spPr>
          <a:xfrm>
            <a:off x="822960" y="5166360"/>
            <a:ext cx="10515600" cy="8686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One finding no audit raised: output changed between runs because a set was iterated in hash order. Found by checking hashes, fixed, and now guarded by a test.</a:t>
            </a:r>
            <a:endParaRPr lang="en-US" sz="1500" dirty="0"/>
          </a:p>
        </p:txBody>
      </p:sp>
      <p:sp>
        <p:nvSpPr>
          <p:cNvPr id="13" name="Text 9"/>
          <p:cNvSpPr txBox="1"/>
          <p:nvPr/>
        </p:nvSpPr>
        <p:spPr>
          <a:xfrm>
            <a:off x="548640" y="6144768"/>
            <a:ext cx="1051560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docs/refine_round_1/ (lead_A, A2_error_path, lead_B, lead_C, lead_D, triage); docs/Project_Audit_2026-10-13.md</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6"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childTnLst>
                          </p:cTn>
                        </p:par>
                        <p:par>
                          <p:cTn id="13"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20"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childTnLst>
                          </p:cTn>
                        </p:par>
                        <p:par>
                          <p:cTn id="27" fill="hold">
                            <p:stCondLst>
                              <p:cond delay="114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childTnLst>
                          </p:cTn>
                        </p:par>
                        <p:par>
                          <p:cTn id="34" fill="hold">
                            <p:stCondLst>
                              <p:cond delay="152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Graphic spid="4" grpId="0">
        <p:bldAsOne/>
      </p:bldGraphic>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Live demo</a:t>
            </a:r>
            <a:endParaRPr lang="en-US" sz="3200" dirty="0"/>
          </a:p>
        </p:txBody>
      </p:sp>
      <p:sp>
        <p:nvSpPr>
          <p:cNvPr id="4" name="a1_loc"/>
          <p:cNvSpPr txBox="1"/>
          <p:nvPr/>
        </p:nvSpPr>
        <p:spPr>
          <a:xfrm>
            <a:off x="457200" y="3108960"/>
            <a:ext cx="3200400" cy="1371600"/>
          </a:xfrm>
          <a:prstGeom prst="rect">
            <a:avLst/>
          </a:prstGeom>
          <a:noFill/>
          <a:ln/>
        </p:spPr>
        <p:txBody>
          <a:bodyPr wrap="square" lIns="0" tIns="0" rIns="0" bIns="0" rtlCol="0" anchor="t"/>
          <a:lstStyle/>
          <a:p>
            <a:pPr indent="0" marL="0">
              <a:buNone/>
            </a:pPr>
            <a:r>
              <a:rPr lang="en-US" sz="1500" i="1" dirty="0">
                <a:solidFill>
                  <a:srgbClr val="DCEAF6"/>
                </a:solidFill>
                <a:latin typeface="Calibri" pitchFamily="34" charset="0"/>
                <a:ea typeface="Calibri" pitchFamily="34" charset="-122"/>
                <a:cs typeface="Calibri" pitchFamily="34" charset="-120"/>
              </a:rPr>
              <a:t>Runs locally and offline on this laptop. No public website is hosted.</a:t>
            </a:r>
            <a:endParaRPr lang="en-US" sz="1500" dirty="0"/>
          </a:p>
        </p:txBody>
      </p:sp>
      <p:sp>
        <p:nvSpPr>
          <p:cNvPr id="5" name="a2_urlcard"/>
          <p:cNvSpPr/>
          <p:nvPr/>
        </p:nvSpPr>
        <p:spPr>
          <a:xfrm>
            <a:off x="4434840" y="685800"/>
            <a:ext cx="7223760" cy="1600200"/>
          </a:xfrm>
          <a:prstGeom prst="roundRect">
            <a:avLst>
              <a:gd name="adj" fmla="val 5714"/>
            </a:avLst>
          </a:prstGeom>
          <a:solidFill>
            <a:srgbClr val="0A1F3C"/>
          </a:solidFill>
          <a:ln w="12700">
            <a:solidFill>
              <a:srgbClr val="0A1F3C"/>
            </a:solidFill>
            <a:prstDash val="solid"/>
          </a:ln>
        </p:spPr>
      </p:sp>
      <p:sp>
        <p:nvSpPr>
          <p:cNvPr id="6" name="a2_urlt"/>
          <p:cNvSpPr txBox="1"/>
          <p:nvPr/>
        </p:nvSpPr>
        <p:spPr>
          <a:xfrm>
            <a:off x="4709160" y="777240"/>
            <a:ext cx="6766560" cy="1417320"/>
          </a:xfrm>
          <a:prstGeom prst="rect">
            <a:avLst/>
          </a:prstGeom>
          <a:noFill/>
          <a:ln/>
        </p:spPr>
        <p:txBody>
          <a:bodyPr wrap="square" lIns="0" tIns="0" rIns="0" bIns="0" rtlCol="0" anchor="ctr"/>
          <a:lstStyle/>
          <a:p>
            <a:pPr indent="0" marL="0">
              <a:buNone/>
            </a:pPr>
            <a:r>
              <a:rPr lang="en-US" sz="1200" b="1" spc="300" kern="0" dirty="0">
                <a:solidFill>
                  <a:srgbClr val="19B5C8"/>
                </a:solidFill>
                <a:latin typeface="Calibri" pitchFamily="34" charset="0"/>
                <a:ea typeface="Calibri" pitchFamily="34" charset="-122"/>
                <a:cs typeface="Calibri" pitchFamily="34" charset="-120"/>
              </a:rPr>
              <a:t>DEMO LINK (local)</a:t>
            </a:r>
            <a:endParaRPr lang="en-US" sz="1600" dirty="0"/>
          </a:p>
          <a:p>
            <a:pPr indent="0" marL="0">
              <a:buNone/>
            </a:pPr>
            <a:r>
              <a:rPr lang="en-US" sz="3200" b="1" u="sng" dirty="0">
                <a:solidFill>
                  <a:srgbClr val="FFFFFF"/>
                </a:solidFill>
                <a:latin typeface="Times New Roman" pitchFamily="34" charset="0"/>
                <a:ea typeface="Times New Roman" pitchFamily="34" charset="-122"/>
                <a:cs typeface="Times New Roman" pitchFamily="34" charset="-120"/>
                <a:hlinkClick r:id="rId1" invalidUrl="" action="" tgtFrame="" tooltip="Open the local tool (start it first)" history="1" highlightClick="0" endSnd="0">
                  <a:extLst>
                    <a:ext uri="{A12FA001-AC4F-418D-AE19-62706E023703}">
                      <ahyp:hlinkClr xmlns:ahyp="http://schemas.microsoft.com/office/drawing/2018/hyperlinkcolor" val="tx"/>
                    </a:ext>
                  </a:extLst>
                </a:hlinkClick>
              </a:rPr>
              <a:t>http://127.0.0.1:8765</a:t>
            </a:r>
            <a:endParaRPr lang="en-US" sz="1600" dirty="0"/>
          </a:p>
          <a:p>
            <a:pPr indent="0" marL="0">
              <a:buNone/>
            </a:pPr>
            <a:r>
              <a:rPr lang="en-US" sz="1500" dirty="0">
                <a:solidFill>
                  <a:srgbClr val="DCEAF6"/>
                </a:solidFill>
                <a:latin typeface="Courier New" pitchFamily="34" charset="0"/>
                <a:ea typeface="Courier New" pitchFamily="34" charset="-122"/>
                <a:cs typeface="Courier New" pitchFamily="34" charset="-120"/>
              </a:rPr>
              <a:t>start it with:  python -m gui</a:t>
            </a:r>
            <a:endParaRPr lang="en-US" sz="1600" dirty="0"/>
          </a:p>
          <a:p>
            <a:pPr indent="0" marL="0">
              <a:buNone/>
            </a:pPr>
            <a:r>
              <a:rPr lang="en-US" sz="1300" dirty="0">
                <a:solidFill>
                  <a:srgbClr val="A9C7E0"/>
                </a:solidFill>
                <a:latin typeface="Courier New" pitchFamily="34" charset="0"/>
                <a:ea typeface="Courier New" pitchFamily="34" charset="-122"/>
                <a:cs typeface="Courier New" pitchFamily="34" charset="-120"/>
              </a:rPr>
              <a:t>Windows:  gui\run_gui.bat</a:t>
            </a:r>
            <a:endParaRPr lang="en-US" sz="1600" dirty="0"/>
          </a:p>
        </p:txBody>
      </p:sp>
      <p:sp>
        <p:nvSpPr>
          <p:cNvPr id="7" name="a3_repo"/>
          <p:cNvSpPr/>
          <p:nvPr/>
        </p:nvSpPr>
        <p:spPr>
          <a:xfrm>
            <a:off x="4434840" y="2423160"/>
            <a:ext cx="7223760" cy="777240"/>
          </a:xfrm>
          <a:prstGeom prst="roundRect">
            <a:avLst>
              <a:gd name="adj" fmla="val 11765"/>
            </a:avLst>
          </a:prstGeom>
          <a:solidFill>
            <a:srgbClr val="DCEAF6"/>
          </a:solidFill>
          <a:ln w="12700">
            <a:solidFill>
              <a:srgbClr val="DCEAF6"/>
            </a:solidFill>
            <a:prstDash val="solid"/>
          </a:ln>
        </p:spPr>
      </p:sp>
      <p:sp>
        <p:nvSpPr>
          <p:cNvPr id="8" name="a3_repot"/>
          <p:cNvSpPr txBox="1"/>
          <p:nvPr/>
        </p:nvSpPr>
        <p:spPr>
          <a:xfrm>
            <a:off x="4663440" y="2423160"/>
            <a:ext cx="6766560" cy="777240"/>
          </a:xfrm>
          <a:prstGeom prst="rect">
            <a:avLst/>
          </a:prstGeom>
          <a:noFill/>
          <a:ln/>
        </p:spPr>
        <p:txBody>
          <a:bodyPr wrap="square" lIns="0" tIns="0" rIns="0" bIns="0" rtlCol="0" anchor="ctr"/>
          <a:lstStyle/>
          <a:p>
            <a:pPr indent="0" marL="0">
              <a:buNone/>
            </a:pPr>
            <a:r>
              <a:rPr lang="en-US" sz="1800" b="1" dirty="0">
                <a:solidFill>
                  <a:srgbClr val="173F6B"/>
                </a:solidFill>
                <a:latin typeface="Calibri" pitchFamily="34" charset="0"/>
                <a:ea typeface="Calibri" pitchFamily="34" charset="-122"/>
                <a:cs typeface="Calibri" pitchFamily="34" charset="-120"/>
              </a:rPr>
              <a:t>Code and documents:  </a:t>
            </a:r>
            <a:pPr indent="0" marL="0">
              <a:buNone/>
            </a:pPr>
            <a:r>
              <a:rPr lang="en-US" sz="1800" b="1" u="sng" dirty="0">
                <a:solidFill>
                  <a:srgbClr val="2F6C9A"/>
                </a:solidFill>
                <a:latin typeface="Calibri" pitchFamily="34" charset="0"/>
                <a:ea typeface="Calibri" pitchFamily="34" charset="-122"/>
                <a:cs typeface="Calibri" pitchFamily="34" charset="-120"/>
                <a:hlinkClick r:id="rId2" invalidUrl="" action="" tgtFrame="" tooltip="Repository" history="1" highlightClick="0" endSnd="0">
                  <a:extLst>
                    <a:ext uri="{A12FA001-AC4F-418D-AE19-62706E023703}">
                      <ahyp:hlinkClr xmlns:ahyp="http://schemas.microsoft.com/office/drawing/2018/hyperlinkcolor" val="tx"/>
                    </a:ext>
                  </a:extLst>
                </a:hlinkClick>
              </a:rPr>
              <a:t>github.com/DrAssassin3214/FYP</a:t>
            </a:r>
            <a:endParaRPr lang="en-US" sz="1800" dirty="0"/>
          </a:p>
        </p:txBody>
      </p:sp>
      <p:sp>
        <p:nvSpPr>
          <p:cNvPr id="9" name="a4_ds0"/>
          <p:cNvSpPr/>
          <p:nvPr/>
        </p:nvSpPr>
        <p:spPr>
          <a:xfrm>
            <a:off x="4434840" y="3429000"/>
            <a:ext cx="3520440" cy="603504"/>
          </a:xfrm>
          <a:prstGeom prst="roundRect">
            <a:avLst>
              <a:gd name="adj" fmla="val 15152"/>
            </a:avLst>
          </a:prstGeom>
          <a:solidFill>
            <a:srgbClr val="FFFFFF"/>
          </a:solidFill>
          <a:ln w="12700">
            <a:solidFill>
              <a:srgbClr val="B9CFE3"/>
            </a:solidFill>
            <a:prstDash val="solid"/>
          </a:ln>
        </p:spPr>
      </p:sp>
      <p:sp>
        <p:nvSpPr>
          <p:cNvPr id="10" name="a4_dn0c"/>
          <p:cNvSpPr/>
          <p:nvPr/>
        </p:nvSpPr>
        <p:spPr>
          <a:xfrm>
            <a:off x="4544568" y="3520440"/>
            <a:ext cx="420624" cy="420624"/>
          </a:xfrm>
          <a:prstGeom prst="ellipse">
            <a:avLst/>
          </a:prstGeom>
          <a:solidFill>
            <a:srgbClr val="2F6C9A"/>
          </a:solidFill>
          <a:ln w="12700">
            <a:solidFill>
              <a:srgbClr val="2F6C9A"/>
            </a:solidFill>
            <a:prstDash val="solid"/>
          </a:ln>
        </p:spPr>
      </p:sp>
      <p:sp>
        <p:nvSpPr>
          <p:cNvPr id="11" name="a4_dn0t"/>
          <p:cNvSpPr txBox="1"/>
          <p:nvPr/>
        </p:nvSpPr>
        <p:spPr>
          <a:xfrm>
            <a:off x="4544568" y="35204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1</a:t>
            </a:r>
            <a:endParaRPr lang="en-US" sz="1400" dirty="0"/>
          </a:p>
        </p:txBody>
      </p:sp>
      <p:sp>
        <p:nvSpPr>
          <p:cNvPr id="12" name="a4_dt0"/>
          <p:cNvSpPr txBox="1"/>
          <p:nvPr/>
        </p:nvSpPr>
        <p:spPr>
          <a:xfrm>
            <a:off x="5074920" y="3429000"/>
            <a:ext cx="2788920" cy="603504"/>
          </a:xfrm>
          <a:prstGeom prst="rect">
            <a:avLst/>
          </a:prstGeom>
          <a:noFill/>
          <a:ln/>
        </p:spPr>
        <p:txBody>
          <a:bodyPr wrap="square" lIns="0" tIns="0" rIns="0" bIns="0" rtlCol="0" anchor="ctr"/>
          <a:lstStyle/>
          <a:p>
            <a:pPr indent="0" marL="0">
              <a:buNone/>
            </a:pPr>
            <a:r>
              <a:rPr lang="en-US" sz="1300" dirty="0">
                <a:solidFill>
                  <a:srgbClr val="12233B"/>
                </a:solidFill>
                <a:latin typeface="Calibri" pitchFamily="34" charset="0"/>
                <a:ea typeface="Calibri" pitchFamily="34" charset="-122"/>
                <a:cs typeface="Calibri" pitchFamily="34" charset="-120"/>
              </a:rPr>
              <a:t>Load the ILLUSTRATIVE example</a:t>
            </a:r>
            <a:endParaRPr lang="en-US" sz="1300" dirty="0"/>
          </a:p>
        </p:txBody>
      </p:sp>
      <p:sp>
        <p:nvSpPr>
          <p:cNvPr id="13" name="a4_ds1"/>
          <p:cNvSpPr/>
          <p:nvPr/>
        </p:nvSpPr>
        <p:spPr>
          <a:xfrm>
            <a:off x="8083296" y="3429000"/>
            <a:ext cx="3520440" cy="603504"/>
          </a:xfrm>
          <a:prstGeom prst="roundRect">
            <a:avLst>
              <a:gd name="adj" fmla="val 15152"/>
            </a:avLst>
          </a:prstGeom>
          <a:solidFill>
            <a:srgbClr val="FFFFFF"/>
          </a:solidFill>
          <a:ln w="12700">
            <a:solidFill>
              <a:srgbClr val="B9CFE3"/>
            </a:solidFill>
            <a:prstDash val="solid"/>
          </a:ln>
        </p:spPr>
      </p:sp>
      <p:sp>
        <p:nvSpPr>
          <p:cNvPr id="14" name="a4_dn1c"/>
          <p:cNvSpPr/>
          <p:nvPr/>
        </p:nvSpPr>
        <p:spPr>
          <a:xfrm>
            <a:off x="8193024" y="3520440"/>
            <a:ext cx="420624" cy="420624"/>
          </a:xfrm>
          <a:prstGeom prst="ellipse">
            <a:avLst/>
          </a:prstGeom>
          <a:solidFill>
            <a:srgbClr val="2F6C9A"/>
          </a:solidFill>
          <a:ln w="12700">
            <a:solidFill>
              <a:srgbClr val="2F6C9A"/>
            </a:solidFill>
            <a:prstDash val="solid"/>
          </a:ln>
        </p:spPr>
      </p:sp>
      <p:sp>
        <p:nvSpPr>
          <p:cNvPr id="15" name="a4_dn1t"/>
          <p:cNvSpPr txBox="1"/>
          <p:nvPr/>
        </p:nvSpPr>
        <p:spPr>
          <a:xfrm>
            <a:off x="8193024" y="35204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2</a:t>
            </a:r>
            <a:endParaRPr lang="en-US" sz="1400" dirty="0"/>
          </a:p>
        </p:txBody>
      </p:sp>
      <p:sp>
        <p:nvSpPr>
          <p:cNvPr id="16" name="a4_dt1"/>
          <p:cNvSpPr txBox="1"/>
          <p:nvPr/>
        </p:nvSpPr>
        <p:spPr>
          <a:xfrm>
            <a:off x="8723376" y="3429000"/>
            <a:ext cx="2788920" cy="603504"/>
          </a:xfrm>
          <a:prstGeom prst="rect">
            <a:avLst/>
          </a:prstGeom>
          <a:noFill/>
          <a:ln/>
        </p:spPr>
        <p:txBody>
          <a:bodyPr wrap="square" lIns="0" tIns="0" rIns="0" bIns="0" rtlCol="0" anchor="ctr"/>
          <a:lstStyle/>
          <a:p>
            <a:pPr indent="0" marL="0">
              <a:buNone/>
            </a:pPr>
            <a:r>
              <a:rPr lang="en-US" sz="1300" dirty="0">
                <a:solidFill>
                  <a:srgbClr val="12233B"/>
                </a:solidFill>
                <a:latin typeface="Calibri" pitchFamily="34" charset="0"/>
                <a:ea typeface="Calibri" pitchFamily="34" charset="-122"/>
                <a:cs typeface="Calibri" pitchFamily="34" charset="-120"/>
              </a:rPr>
              <a:t>Add library risks to the register</a:t>
            </a:r>
            <a:endParaRPr lang="en-US" sz="1300" dirty="0"/>
          </a:p>
        </p:txBody>
      </p:sp>
      <p:sp>
        <p:nvSpPr>
          <p:cNvPr id="17" name="a4_ds2"/>
          <p:cNvSpPr/>
          <p:nvPr/>
        </p:nvSpPr>
        <p:spPr>
          <a:xfrm>
            <a:off x="4434840" y="4142232"/>
            <a:ext cx="3520440" cy="603504"/>
          </a:xfrm>
          <a:prstGeom prst="roundRect">
            <a:avLst>
              <a:gd name="adj" fmla="val 15152"/>
            </a:avLst>
          </a:prstGeom>
          <a:solidFill>
            <a:srgbClr val="FFFFFF"/>
          </a:solidFill>
          <a:ln w="12700">
            <a:solidFill>
              <a:srgbClr val="B9CFE3"/>
            </a:solidFill>
            <a:prstDash val="solid"/>
          </a:ln>
        </p:spPr>
      </p:sp>
      <p:sp>
        <p:nvSpPr>
          <p:cNvPr id="18" name="a4_dn2c"/>
          <p:cNvSpPr/>
          <p:nvPr/>
        </p:nvSpPr>
        <p:spPr>
          <a:xfrm>
            <a:off x="4544568" y="4233672"/>
            <a:ext cx="420624" cy="420624"/>
          </a:xfrm>
          <a:prstGeom prst="ellipse">
            <a:avLst/>
          </a:prstGeom>
          <a:solidFill>
            <a:srgbClr val="2F6C9A"/>
          </a:solidFill>
          <a:ln w="12700">
            <a:solidFill>
              <a:srgbClr val="2F6C9A"/>
            </a:solidFill>
            <a:prstDash val="solid"/>
          </a:ln>
        </p:spPr>
      </p:sp>
      <p:sp>
        <p:nvSpPr>
          <p:cNvPr id="19" name="a4_dn2t"/>
          <p:cNvSpPr txBox="1"/>
          <p:nvPr/>
        </p:nvSpPr>
        <p:spPr>
          <a:xfrm>
            <a:off x="4544568" y="42336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3</a:t>
            </a:r>
            <a:endParaRPr lang="en-US" sz="1400" dirty="0"/>
          </a:p>
        </p:txBody>
      </p:sp>
      <p:sp>
        <p:nvSpPr>
          <p:cNvPr id="20" name="a4_dt2"/>
          <p:cNvSpPr txBox="1"/>
          <p:nvPr/>
        </p:nvSpPr>
        <p:spPr>
          <a:xfrm>
            <a:off x="5074920" y="4142232"/>
            <a:ext cx="2788920" cy="603504"/>
          </a:xfrm>
          <a:prstGeom prst="rect">
            <a:avLst/>
          </a:prstGeom>
          <a:noFill/>
          <a:ln/>
        </p:spPr>
        <p:txBody>
          <a:bodyPr wrap="square" lIns="0" tIns="0" rIns="0" bIns="0" rtlCol="0" anchor="ctr"/>
          <a:lstStyle/>
          <a:p>
            <a:pPr indent="0" marL="0">
              <a:buNone/>
            </a:pPr>
            <a:r>
              <a:rPr lang="en-US" sz="1300" dirty="0">
                <a:solidFill>
                  <a:srgbClr val="12233B"/>
                </a:solidFill>
                <a:latin typeface="Calibri" pitchFamily="34" charset="0"/>
                <a:ea typeface="Calibri" pitchFamily="34" charset="-122"/>
                <a:cs typeface="Calibri" pitchFamily="34" charset="-120"/>
              </a:rPr>
              <a:t>Enter p and delay with Sources</a:t>
            </a:r>
            <a:endParaRPr lang="en-US" sz="1300" dirty="0"/>
          </a:p>
        </p:txBody>
      </p:sp>
      <p:sp>
        <p:nvSpPr>
          <p:cNvPr id="21" name="a4_ds3"/>
          <p:cNvSpPr/>
          <p:nvPr/>
        </p:nvSpPr>
        <p:spPr>
          <a:xfrm>
            <a:off x="8083296" y="4142232"/>
            <a:ext cx="3520440" cy="603504"/>
          </a:xfrm>
          <a:prstGeom prst="roundRect">
            <a:avLst>
              <a:gd name="adj" fmla="val 15152"/>
            </a:avLst>
          </a:prstGeom>
          <a:solidFill>
            <a:srgbClr val="FFFFFF"/>
          </a:solidFill>
          <a:ln w="12700">
            <a:solidFill>
              <a:srgbClr val="B9CFE3"/>
            </a:solidFill>
            <a:prstDash val="solid"/>
          </a:ln>
        </p:spPr>
      </p:sp>
      <p:sp>
        <p:nvSpPr>
          <p:cNvPr id="22" name="a4_dn3c"/>
          <p:cNvSpPr/>
          <p:nvPr/>
        </p:nvSpPr>
        <p:spPr>
          <a:xfrm>
            <a:off x="8193024" y="4233672"/>
            <a:ext cx="420624" cy="420624"/>
          </a:xfrm>
          <a:prstGeom prst="ellipse">
            <a:avLst/>
          </a:prstGeom>
          <a:solidFill>
            <a:srgbClr val="2F6C9A"/>
          </a:solidFill>
          <a:ln w="12700">
            <a:solidFill>
              <a:srgbClr val="2F6C9A"/>
            </a:solidFill>
            <a:prstDash val="solid"/>
          </a:ln>
        </p:spPr>
      </p:sp>
      <p:sp>
        <p:nvSpPr>
          <p:cNvPr id="23" name="a4_dn3t"/>
          <p:cNvSpPr txBox="1"/>
          <p:nvPr/>
        </p:nvSpPr>
        <p:spPr>
          <a:xfrm>
            <a:off x="8193024" y="42336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4</a:t>
            </a:r>
            <a:endParaRPr lang="en-US" sz="1400" dirty="0"/>
          </a:p>
        </p:txBody>
      </p:sp>
      <p:sp>
        <p:nvSpPr>
          <p:cNvPr id="24" name="a4_dt3"/>
          <p:cNvSpPr txBox="1"/>
          <p:nvPr/>
        </p:nvSpPr>
        <p:spPr>
          <a:xfrm>
            <a:off x="8723376" y="4142232"/>
            <a:ext cx="2788920" cy="603504"/>
          </a:xfrm>
          <a:prstGeom prst="rect">
            <a:avLst/>
          </a:prstGeom>
          <a:noFill/>
          <a:ln/>
        </p:spPr>
        <p:txBody>
          <a:bodyPr wrap="square" lIns="0" tIns="0" rIns="0" bIns="0" rtlCol="0" anchor="ctr"/>
          <a:lstStyle/>
          <a:p>
            <a:pPr indent="0" marL="0">
              <a:buNone/>
            </a:pPr>
            <a:r>
              <a:rPr lang="en-US" sz="1300" dirty="0">
                <a:solidFill>
                  <a:srgbClr val="12233B"/>
                </a:solidFill>
                <a:latin typeface="Calibri" pitchFamily="34" charset="0"/>
                <a:ea typeface="Calibri" pitchFamily="34" charset="-122"/>
                <a:cs typeface="Calibri" pitchFamily="34" charset="-120"/>
              </a:rPr>
              <a:t>Open the 5x5 matrix</a:t>
            </a:r>
            <a:endParaRPr lang="en-US" sz="1300" dirty="0"/>
          </a:p>
        </p:txBody>
      </p:sp>
      <p:sp>
        <p:nvSpPr>
          <p:cNvPr id="25" name="a4_ds4"/>
          <p:cNvSpPr/>
          <p:nvPr/>
        </p:nvSpPr>
        <p:spPr>
          <a:xfrm>
            <a:off x="4434840" y="4855464"/>
            <a:ext cx="3520440" cy="603504"/>
          </a:xfrm>
          <a:prstGeom prst="roundRect">
            <a:avLst>
              <a:gd name="adj" fmla="val 15152"/>
            </a:avLst>
          </a:prstGeom>
          <a:solidFill>
            <a:srgbClr val="FFFFFF"/>
          </a:solidFill>
          <a:ln w="12700">
            <a:solidFill>
              <a:srgbClr val="B9CFE3"/>
            </a:solidFill>
            <a:prstDash val="solid"/>
          </a:ln>
        </p:spPr>
      </p:sp>
      <p:sp>
        <p:nvSpPr>
          <p:cNvPr id="26" name="a4_dn4c"/>
          <p:cNvSpPr/>
          <p:nvPr/>
        </p:nvSpPr>
        <p:spPr>
          <a:xfrm>
            <a:off x="4544568" y="4946904"/>
            <a:ext cx="420624" cy="420624"/>
          </a:xfrm>
          <a:prstGeom prst="ellipse">
            <a:avLst/>
          </a:prstGeom>
          <a:solidFill>
            <a:srgbClr val="2F6C9A"/>
          </a:solidFill>
          <a:ln w="12700">
            <a:solidFill>
              <a:srgbClr val="2F6C9A"/>
            </a:solidFill>
            <a:prstDash val="solid"/>
          </a:ln>
        </p:spPr>
      </p:sp>
      <p:sp>
        <p:nvSpPr>
          <p:cNvPr id="27" name="a4_dn4t"/>
          <p:cNvSpPr txBox="1"/>
          <p:nvPr/>
        </p:nvSpPr>
        <p:spPr>
          <a:xfrm>
            <a:off x="4544568" y="49469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5</a:t>
            </a:r>
            <a:endParaRPr lang="en-US" sz="1400" dirty="0"/>
          </a:p>
        </p:txBody>
      </p:sp>
      <p:sp>
        <p:nvSpPr>
          <p:cNvPr id="28" name="a4_dt4"/>
          <p:cNvSpPr txBox="1"/>
          <p:nvPr/>
        </p:nvSpPr>
        <p:spPr>
          <a:xfrm>
            <a:off x="5074920" y="4855464"/>
            <a:ext cx="2788920" cy="603504"/>
          </a:xfrm>
          <a:prstGeom prst="rect">
            <a:avLst/>
          </a:prstGeom>
          <a:noFill/>
          <a:ln/>
        </p:spPr>
        <p:txBody>
          <a:bodyPr wrap="square" lIns="0" tIns="0" rIns="0" bIns="0" rtlCol="0" anchor="ctr"/>
          <a:lstStyle/>
          <a:p>
            <a:pPr indent="0" marL="0">
              <a:buNone/>
            </a:pPr>
            <a:r>
              <a:rPr lang="en-US" sz="1300" dirty="0">
                <a:solidFill>
                  <a:srgbClr val="12233B"/>
                </a:solidFill>
                <a:latin typeface="Calibri" pitchFamily="34" charset="0"/>
                <a:ea typeface="Calibri" pitchFamily="34" charset="-122"/>
                <a:cs typeface="Calibri" pitchFamily="34" charset="-120"/>
              </a:rPr>
              <a:t>See rule flags and evidence</a:t>
            </a:r>
            <a:endParaRPr lang="en-US" sz="1300" dirty="0"/>
          </a:p>
        </p:txBody>
      </p:sp>
      <p:sp>
        <p:nvSpPr>
          <p:cNvPr id="29" name="a4_ds5"/>
          <p:cNvSpPr/>
          <p:nvPr/>
        </p:nvSpPr>
        <p:spPr>
          <a:xfrm>
            <a:off x="8083296" y="4855464"/>
            <a:ext cx="3520440" cy="603504"/>
          </a:xfrm>
          <a:prstGeom prst="roundRect">
            <a:avLst>
              <a:gd name="adj" fmla="val 15152"/>
            </a:avLst>
          </a:prstGeom>
          <a:solidFill>
            <a:srgbClr val="FFFFFF"/>
          </a:solidFill>
          <a:ln w="12700">
            <a:solidFill>
              <a:srgbClr val="B9CFE3"/>
            </a:solidFill>
            <a:prstDash val="solid"/>
          </a:ln>
        </p:spPr>
      </p:sp>
      <p:sp>
        <p:nvSpPr>
          <p:cNvPr id="30" name="a4_dn5c"/>
          <p:cNvSpPr/>
          <p:nvPr/>
        </p:nvSpPr>
        <p:spPr>
          <a:xfrm>
            <a:off x="8193024" y="4946904"/>
            <a:ext cx="420624" cy="420624"/>
          </a:xfrm>
          <a:prstGeom prst="ellipse">
            <a:avLst/>
          </a:prstGeom>
          <a:solidFill>
            <a:srgbClr val="2F6C9A"/>
          </a:solidFill>
          <a:ln w="12700">
            <a:solidFill>
              <a:srgbClr val="2F6C9A"/>
            </a:solidFill>
            <a:prstDash val="solid"/>
          </a:ln>
        </p:spPr>
      </p:sp>
      <p:sp>
        <p:nvSpPr>
          <p:cNvPr id="31" name="a4_dn5t"/>
          <p:cNvSpPr txBox="1"/>
          <p:nvPr/>
        </p:nvSpPr>
        <p:spPr>
          <a:xfrm>
            <a:off x="8193024" y="49469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6</a:t>
            </a:r>
            <a:endParaRPr lang="en-US" sz="1400" dirty="0"/>
          </a:p>
        </p:txBody>
      </p:sp>
      <p:sp>
        <p:nvSpPr>
          <p:cNvPr id="32" name="a4_dt5"/>
          <p:cNvSpPr txBox="1"/>
          <p:nvPr/>
        </p:nvSpPr>
        <p:spPr>
          <a:xfrm>
            <a:off x="8723376" y="4855464"/>
            <a:ext cx="2788920" cy="603504"/>
          </a:xfrm>
          <a:prstGeom prst="rect">
            <a:avLst/>
          </a:prstGeom>
          <a:noFill/>
          <a:ln/>
        </p:spPr>
        <p:txBody>
          <a:bodyPr wrap="square" lIns="0" tIns="0" rIns="0" bIns="0" rtlCol="0" anchor="ctr"/>
          <a:lstStyle/>
          <a:p>
            <a:pPr indent="0" marL="0">
              <a:buNone/>
            </a:pPr>
            <a:r>
              <a:rPr lang="en-US" sz="1300" dirty="0">
                <a:solidFill>
                  <a:srgbClr val="12233B"/>
                </a:solidFill>
                <a:latin typeface="Calibri" pitchFamily="34" charset="0"/>
                <a:ea typeface="Calibri" pitchFamily="34" charset="-122"/>
                <a:cs typeface="Calibri" pitchFamily="34" charset="-120"/>
              </a:rPr>
              <a:t>Export report.html and register.csv</a:t>
            </a:r>
            <a:endParaRPr lang="en-US" sz="1300" dirty="0"/>
          </a:p>
        </p:txBody>
      </p:sp>
      <p:sp>
        <p:nvSpPr>
          <p:cNvPr id="33" name="a5_imgframe"/>
          <p:cNvSpPr/>
          <p:nvPr/>
        </p:nvSpPr>
        <p:spPr>
          <a:xfrm>
            <a:off x="457200" y="4617720"/>
            <a:ext cx="3200400" cy="1600200"/>
          </a:xfrm>
          <a:prstGeom prst="roundRect">
            <a:avLst>
              <a:gd name="adj" fmla="val 4571"/>
            </a:avLst>
          </a:prstGeom>
          <a:solidFill>
            <a:srgbClr val="EFF5FA"/>
          </a:solidFill>
          <a:ln w="15875">
            <a:solidFill>
              <a:srgbClr val="2F6C9A"/>
            </a:solidFill>
            <a:prstDash val="dash"/>
          </a:ln>
        </p:spPr>
      </p:sp>
      <p:sp>
        <p:nvSpPr>
          <p:cNvPr id="34" name="a5_imglabel"/>
          <p:cNvSpPr txBox="1"/>
          <p:nvPr/>
        </p:nvSpPr>
        <p:spPr>
          <a:xfrm>
            <a:off x="594360" y="4617720"/>
            <a:ext cx="2926080" cy="160020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backup screenshot of the live tool</a:t>
            </a:r>
            <a:endParaRPr lang="en-US" sz="1600" dirty="0"/>
          </a:p>
        </p:txBody>
      </p:sp>
      <p:sp>
        <p:nvSpPr>
          <p:cNvPr id="35" name="Text 32"/>
          <p:cNvSpPr txBox="1"/>
          <p:nvPr/>
        </p:nvSpPr>
        <p:spPr>
          <a:xfrm>
            <a:off x="4434840" y="6144768"/>
            <a:ext cx="7223760" cy="274320"/>
          </a:xfrm>
          <a:prstGeom prst="rect">
            <a:avLst/>
          </a:prstGeom>
          <a:noFill/>
          <a:ln/>
        </p:spPr>
        <p:txBody>
          <a:bodyPr wrap="square" lIns="0" tIns="0" rIns="0" bIns="0" rtlCol="0" anchor="t"/>
          <a:lstStyle/>
          <a:p>
            <a:pPr indent="0" marL="0">
              <a:buNone/>
            </a:pPr>
            <a:r>
              <a:rPr lang="en-US" sz="1100" i="1" dirty="0">
                <a:solidFill>
                  <a:srgbClr val="55708A"/>
                </a:solidFill>
                <a:latin typeface="Calibri" pitchFamily="34" charset="0"/>
                <a:ea typeface="Calibri" pitchFamily="34" charset="-122"/>
                <a:cs typeface="Calibri" pitchFamily="34" charset="-120"/>
              </a:rPr>
              <a:t>Source: README (Run section). 127.0.0.1 is the presenter's own computer; start the tool before opening the link.</a:t>
            </a:r>
            <a:endParaRPr lang="en-US" sz="11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1"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3"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childTnLst>
                          </p:cTn>
                        </p:par>
                        <p:par>
                          <p:cTn id="20"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childTnLst>
                          </p:cTn>
                        </p:par>
                        <p:par>
                          <p:cTn id="93" fill="hold">
                            <p:stCondLst>
                              <p:cond delay="114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45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45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45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45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45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45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45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45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450"/>
                                        <p:tgtEl>
                                          <p:spTgt spid="32"/>
                                        </p:tgtEl>
                                      </p:cBhvr>
                                    </p:animEffect>
                                  </p:childTnLst>
                                </p:cTn>
                              </p:par>
                            </p:childTnLst>
                          </p:cTn>
                        </p:par>
                        <p:par>
                          <p:cTn id="100" fill="hold">
                            <p:stCondLst>
                              <p:cond delay="1520"/>
                            </p:stCondLst>
                            <p:childTnLst>
                              <p:par>
                                <p:cTn id="94" presetID="10" presetClass="entr" presetSubtype="0" fill="hold" grpId="0" nodeType="after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45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What the tool claims and what it does not</a:t>
            </a:r>
            <a:endParaRPr lang="en-US" sz="3200" dirty="0"/>
          </a:p>
        </p:txBody>
      </p:sp>
      <p:sp>
        <p:nvSpPr>
          <p:cNvPr id="4" name="a1_yes"/>
          <p:cNvSpPr/>
          <p:nvPr/>
        </p:nvSpPr>
        <p:spPr>
          <a:xfrm>
            <a:off x="548640" y="1371600"/>
            <a:ext cx="5440680" cy="4572000"/>
          </a:xfrm>
          <a:prstGeom prst="roundRect">
            <a:avLst>
              <a:gd name="adj" fmla="val 2000"/>
            </a:avLst>
          </a:prstGeom>
          <a:solidFill>
            <a:srgbClr val="DCEAF6"/>
          </a:solidFill>
          <a:ln w="12700">
            <a:solidFill>
              <a:srgbClr val="B9CFE3"/>
            </a:solidFill>
            <a:prstDash val="solid"/>
          </a:ln>
        </p:spPr>
      </p:sp>
      <p:sp>
        <p:nvSpPr>
          <p:cNvPr id="5" name="a1_yh"/>
          <p:cNvSpPr txBox="1"/>
          <p:nvPr/>
        </p:nvSpPr>
        <p:spPr>
          <a:xfrm>
            <a:off x="822960" y="1508760"/>
            <a:ext cx="4846320" cy="457200"/>
          </a:xfrm>
          <a:prstGeom prst="rect">
            <a:avLst/>
          </a:prstGeom>
          <a:noFill/>
          <a:ln/>
        </p:spPr>
        <p:txBody>
          <a:bodyPr wrap="square" lIns="0" tIns="0" rIns="0" bIns="0" rtlCol="0" anchor="t"/>
          <a:lstStyle/>
          <a:p>
            <a:pPr indent="0" marL="0">
              <a:buNone/>
            </a:pPr>
            <a:r>
              <a:rPr lang="en-US" sz="2400" b="1" dirty="0">
                <a:solidFill>
                  <a:srgbClr val="173F6B"/>
                </a:solidFill>
                <a:latin typeface="Times New Roman" pitchFamily="34" charset="0"/>
                <a:ea typeface="Times New Roman" pitchFamily="34" charset="-122"/>
                <a:cs typeface="Times New Roman" pitchFamily="34" charset="-120"/>
              </a:rPr>
              <a:t>We can say</a:t>
            </a:r>
            <a:endParaRPr lang="en-US" sz="2400" dirty="0"/>
          </a:p>
        </p:txBody>
      </p:sp>
      <p:sp>
        <p:nvSpPr>
          <p:cNvPr id="6" name="a1_yl"/>
          <p:cNvSpPr txBox="1"/>
          <p:nvPr/>
        </p:nvSpPr>
        <p:spPr>
          <a:xfrm>
            <a:off x="822960" y="2148840"/>
            <a:ext cx="4937760" cy="3657600"/>
          </a:xfrm>
          <a:prstGeom prst="rect">
            <a:avLst/>
          </a:prstGeom>
          <a:noFill/>
          <a:ln/>
        </p:spPr>
        <p:txBody>
          <a:bodyPr wrap="square" lIns="0" tIns="0" rIns="0" bIns="0" rtlCol="0" anchor="t"/>
          <a:lstStyle/>
          <a:p>
            <a:pPr marL="203200" indent="-203200">
              <a:spcAft>
                <a:spcPts val="1400"/>
              </a:spcAft>
              <a:buSzPct val="100000"/>
              <a:buChar char="•"/>
            </a:pPr>
            <a:r>
              <a:rPr lang="en-US" sz="1900" dirty="0">
                <a:solidFill>
                  <a:srgbClr val="12233B"/>
                </a:solidFill>
                <a:latin typeface="Calibri" pitchFamily="34" charset="0"/>
                <a:ea typeface="Calibri" pitchFamily="34" charset="-122"/>
                <a:cs typeface="Calibri" pitchFamily="34" charset="-120"/>
              </a:rPr>
              <a:t>Risks are ordered, with each number's Source printed</a:t>
            </a:r>
            <a:endParaRPr lang="en-US" sz="1900" dirty="0"/>
          </a:p>
          <a:p>
            <a:pPr marL="203200" indent="-203200">
              <a:spcAft>
                <a:spcPts val="1400"/>
              </a:spcAft>
              <a:buSzPct val="100000"/>
              <a:buChar char="•"/>
            </a:pPr>
            <a:r>
              <a:rPr lang="en-US" sz="1900" dirty="0">
                <a:solidFill>
                  <a:srgbClr val="12233B"/>
                </a:solidFill>
                <a:latin typeface="Calibri" pitchFamily="34" charset="0"/>
                <a:ea typeface="Calibri" pitchFamily="34" charset="-122"/>
                <a:cs typeface="Calibri" pitchFamily="34" charset="-120"/>
              </a:rPr>
              <a:t>A starting position comes from 11 published surveys, labelled as an Assumption</a:t>
            </a:r>
            <a:endParaRPr lang="en-US" sz="1900" dirty="0"/>
          </a:p>
          <a:p>
            <a:pPr marL="203200" indent="-203200">
              <a:spcAft>
                <a:spcPts val="1400"/>
              </a:spcAft>
              <a:buSzPct val="100000"/>
              <a:buChar char="•"/>
            </a:pPr>
            <a:r>
              <a:rPr lang="en-US" sz="1900" dirty="0">
                <a:solidFill>
                  <a:srgbClr val="12233B"/>
                </a:solidFill>
                <a:latin typeface="Calibri" pitchFamily="34" charset="0"/>
                <a:ea typeface="Calibri" pitchFamily="34" charset="-122"/>
                <a:cs typeface="Calibri" pitchFamily="34" charset="-120"/>
              </a:rPr>
              <a:t>Rule flags follow stated facts, with the rule shown</a:t>
            </a:r>
            <a:endParaRPr lang="en-US" sz="1900" dirty="0"/>
          </a:p>
          <a:p>
            <a:pPr marL="203200" indent="-203200">
              <a:spcAft>
                <a:spcPts val="1400"/>
              </a:spcAft>
              <a:buSzPct val="100000"/>
              <a:buChar char="•"/>
            </a:pPr>
            <a:r>
              <a:rPr lang="en-US" sz="1900" dirty="0">
                <a:solidFill>
                  <a:srgbClr val="12233B"/>
                </a:solidFill>
                <a:latin typeface="Calibri" pitchFamily="34" charset="0"/>
                <a:ea typeface="Calibri" pitchFamily="34" charset="-122"/>
                <a:cs typeface="Calibri" pitchFamily="34" charset="-120"/>
              </a:rPr>
              <a:t>Outputs repeat exactly and every check is reproducible</a:t>
            </a:r>
            <a:endParaRPr lang="en-US" sz="1900" dirty="0"/>
          </a:p>
        </p:txBody>
      </p:sp>
      <p:sp>
        <p:nvSpPr>
          <p:cNvPr id="7" name="a2_no"/>
          <p:cNvSpPr/>
          <p:nvPr/>
        </p:nvSpPr>
        <p:spPr>
          <a:xfrm>
            <a:off x="6217920" y="1371600"/>
            <a:ext cx="5440680" cy="4572000"/>
          </a:xfrm>
          <a:prstGeom prst="roundRect">
            <a:avLst>
              <a:gd name="adj" fmla="val 2000"/>
            </a:avLst>
          </a:prstGeom>
          <a:solidFill>
            <a:srgbClr val="0A1F3C"/>
          </a:solidFill>
          <a:ln w="12700">
            <a:solidFill>
              <a:srgbClr val="0A1F3C"/>
            </a:solidFill>
            <a:prstDash val="solid"/>
          </a:ln>
        </p:spPr>
      </p:sp>
      <p:sp>
        <p:nvSpPr>
          <p:cNvPr id="8" name="a2_nh"/>
          <p:cNvSpPr txBox="1"/>
          <p:nvPr/>
        </p:nvSpPr>
        <p:spPr>
          <a:xfrm>
            <a:off x="6492240" y="1508760"/>
            <a:ext cx="4846320" cy="457200"/>
          </a:xfrm>
          <a:prstGeom prst="rect">
            <a:avLst/>
          </a:prstGeom>
          <a:noFill/>
          <a:ln/>
        </p:spPr>
        <p:txBody>
          <a:bodyPr wrap="square" lIns="0" tIns="0" rIns="0" bIns="0" rtlCol="0" anchor="t"/>
          <a:lstStyle/>
          <a:p>
            <a:pPr indent="0" marL="0">
              <a:buNone/>
            </a:pPr>
            <a:r>
              <a:rPr lang="en-US" sz="2400" b="1" dirty="0">
                <a:solidFill>
                  <a:srgbClr val="19B5C8"/>
                </a:solidFill>
                <a:latin typeface="Times New Roman" pitchFamily="34" charset="0"/>
                <a:ea typeface="Times New Roman" pitchFamily="34" charset="-122"/>
                <a:cs typeface="Times New Roman" pitchFamily="34" charset="-120"/>
              </a:rPr>
              <a:t>We do not say</a:t>
            </a:r>
            <a:endParaRPr lang="en-US" sz="2400" dirty="0"/>
          </a:p>
        </p:txBody>
      </p:sp>
      <p:sp>
        <p:nvSpPr>
          <p:cNvPr id="9" name="a2_nl"/>
          <p:cNvSpPr txBox="1"/>
          <p:nvPr/>
        </p:nvSpPr>
        <p:spPr>
          <a:xfrm>
            <a:off x="6492240" y="2148840"/>
            <a:ext cx="4937760" cy="3657600"/>
          </a:xfrm>
          <a:prstGeom prst="rect">
            <a:avLst/>
          </a:prstGeom>
          <a:noFill/>
          <a:ln/>
        </p:spPr>
        <p:txBody>
          <a:bodyPr wrap="square" lIns="0" tIns="0" rIns="0" bIns="0" rtlCol="0" anchor="t"/>
          <a:lstStyle/>
          <a:p>
            <a:pPr marL="203200" indent="-203200">
              <a:spcAft>
                <a:spcPts val="1400"/>
              </a:spcAft>
              <a:buSzPct val="100000"/>
              <a:buChar char="•"/>
            </a:pPr>
            <a:r>
              <a:rPr lang="en-US" sz="1900" dirty="0">
                <a:solidFill>
                  <a:srgbClr val="FFFFFF"/>
                </a:solidFill>
                <a:latin typeface="Calibri" pitchFamily="34" charset="0"/>
                <a:ea typeface="Calibri" pitchFamily="34" charset="-122"/>
                <a:cs typeface="Calibri" pitchFamily="34" charset="-120"/>
              </a:rPr>
              <a:t>That a probability or delay is predicted or validated</a:t>
            </a:r>
            <a:endParaRPr lang="en-US" sz="1900" dirty="0"/>
          </a:p>
          <a:p>
            <a:pPr marL="203200" indent="-203200">
              <a:spcAft>
                <a:spcPts val="1400"/>
              </a:spcAft>
              <a:buSzPct val="100000"/>
              <a:buChar char="•"/>
            </a:pPr>
            <a:r>
              <a:rPr lang="en-US" sz="1900" dirty="0">
                <a:solidFill>
                  <a:srgbClr val="FFFFFF"/>
                </a:solidFill>
                <a:latin typeface="Calibri" pitchFamily="34" charset="0"/>
                <a:ea typeface="Calibri" pitchFamily="34" charset="-122"/>
                <a:cs typeface="Calibri" pitchFamily="34" charset="-120"/>
              </a:rPr>
              <a:t>That a survey rank is a likelihood or a number of days</a:t>
            </a:r>
            <a:endParaRPr lang="en-US" sz="1900" dirty="0"/>
          </a:p>
          <a:p>
            <a:pPr marL="203200" indent="-203200">
              <a:spcAft>
                <a:spcPts val="1400"/>
              </a:spcAft>
              <a:buSzPct val="100000"/>
              <a:buChar char="•"/>
            </a:pPr>
            <a:r>
              <a:rPr lang="en-US" sz="1900" dirty="0">
                <a:solidFill>
                  <a:srgbClr val="FFFFFF"/>
                </a:solidFill>
                <a:latin typeface="Calibri" pitchFamily="34" charset="0"/>
                <a:ea typeface="Calibri" pitchFamily="34" charset="-122"/>
                <a:cs typeface="Calibri" pitchFamily="34" charset="-120"/>
              </a:rPr>
              <a:t>That 14 of 30 single-study tiers are reliable: neighbouring ranks are nearly tied</a:t>
            </a:r>
            <a:endParaRPr lang="en-US" sz="1900" dirty="0"/>
          </a:p>
          <a:p>
            <a:pPr marL="203200" indent="-203200">
              <a:spcAft>
                <a:spcPts val="1400"/>
              </a:spcAft>
              <a:buSzPct val="100000"/>
              <a:buChar char="•"/>
            </a:pPr>
            <a:r>
              <a:rPr lang="en-US" sz="1900" dirty="0">
                <a:solidFill>
                  <a:srgbClr val="FFFFFF"/>
                </a:solidFill>
                <a:latin typeface="Calibri" pitchFamily="34" charset="0"/>
                <a:ea typeface="Calibri" pitchFamily="34" charset="-122"/>
                <a:cs typeface="Calibri" pitchFamily="34" charset="-120"/>
              </a:rPr>
              <a:t>That one site would prove general validity</a:t>
            </a:r>
            <a:endParaRPr lang="en-US" sz="19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8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Next: test the tool against site data</a:t>
            </a:r>
            <a:endParaRPr lang="en-US" sz="3200" dirty="0"/>
          </a:p>
        </p:txBody>
      </p:sp>
      <p:sp>
        <p:nvSpPr>
          <p:cNvPr id="4" name="a1_tag"/>
          <p:cNvSpPr txBox="1"/>
          <p:nvPr/>
        </p:nvSpPr>
        <p:spPr>
          <a:xfrm>
            <a:off x="548640" y="1280160"/>
            <a:ext cx="11064240" cy="411480"/>
          </a:xfrm>
          <a:prstGeom prst="rect">
            <a:avLst/>
          </a:prstGeom>
          <a:noFill/>
          <a:ln/>
        </p:spPr>
        <p:txBody>
          <a:bodyPr wrap="square" lIns="0" tIns="0" rIns="0" bIns="0" rtlCol="0" anchor="t"/>
          <a:lstStyle/>
          <a:p>
            <a:pPr indent="0" marL="0">
              <a:buNone/>
            </a:pPr>
            <a:r>
              <a:rPr lang="en-US" sz="1700" b="1" spc="100" kern="0" dirty="0">
                <a:solidFill>
                  <a:srgbClr val="19B5C8"/>
                </a:solidFill>
                <a:latin typeface="Calibri" pitchFamily="34" charset="0"/>
                <a:ea typeface="Calibri" pitchFamily="34" charset="-122"/>
                <a:cs typeface="Calibri" pitchFamily="34" charset="-120"/>
              </a:rPr>
              <a:t>PLANNED, NOT STARTED: baseline from MS Project or Primavera P6</a:t>
            </a:r>
            <a:endParaRPr lang="en-US" sz="1700" dirty="0"/>
          </a:p>
        </p:txBody>
      </p:sp>
      <p:sp>
        <p:nvSpPr>
          <p:cNvPr id="5" name="a2_card"/>
          <p:cNvSpPr/>
          <p:nvPr/>
        </p:nvSpPr>
        <p:spPr>
          <a:xfrm>
            <a:off x="548640" y="1828800"/>
            <a:ext cx="2606040" cy="3017520"/>
          </a:xfrm>
          <a:prstGeom prst="roundRect">
            <a:avLst>
              <a:gd name="adj" fmla="val 3509"/>
            </a:avLst>
          </a:prstGeom>
          <a:solidFill>
            <a:srgbClr val="173F6B"/>
          </a:solidFill>
          <a:ln w="12700">
            <a:solidFill>
              <a:srgbClr val="173F6B"/>
            </a:solidFill>
            <a:prstDash val="solid"/>
          </a:ln>
        </p:spPr>
      </p:sp>
      <p:sp>
        <p:nvSpPr>
          <p:cNvPr id="6" name="a2_nc"/>
          <p:cNvSpPr/>
          <p:nvPr/>
        </p:nvSpPr>
        <p:spPr>
          <a:xfrm>
            <a:off x="749808" y="2011680"/>
            <a:ext cx="594360" cy="594360"/>
          </a:xfrm>
          <a:prstGeom prst="ellipse">
            <a:avLst/>
          </a:prstGeom>
          <a:solidFill>
            <a:srgbClr val="19B5C8"/>
          </a:solidFill>
          <a:ln w="12700">
            <a:solidFill>
              <a:srgbClr val="19B5C8"/>
            </a:solidFill>
            <a:prstDash val="solid"/>
          </a:ln>
        </p:spPr>
      </p:sp>
      <p:sp>
        <p:nvSpPr>
          <p:cNvPr id="7" name="a2_nt"/>
          <p:cNvSpPr txBox="1"/>
          <p:nvPr/>
        </p:nvSpPr>
        <p:spPr>
          <a:xfrm>
            <a:off x="749808" y="2011680"/>
            <a:ext cx="594360" cy="594360"/>
          </a:xfrm>
          <a:prstGeom prst="rect">
            <a:avLst/>
          </a:prstGeom>
          <a:noFill/>
          <a:ln/>
        </p:spPr>
        <p:txBody>
          <a:bodyPr wrap="square" lIns="0" tIns="0" rIns="0" bIns="0" rtlCol="0" anchor="ctr"/>
          <a:lstStyle/>
          <a:p>
            <a:pPr algn="ctr" indent="0" marL="0">
              <a:buNone/>
            </a:pPr>
            <a:r>
              <a:rPr lang="en-US" sz="2000" b="1" dirty="0">
                <a:solidFill>
                  <a:srgbClr val="12233B"/>
                </a:solidFill>
                <a:latin typeface="Times New Roman" pitchFamily="34" charset="0"/>
                <a:ea typeface="Times New Roman" pitchFamily="34" charset="-122"/>
                <a:cs typeface="Times New Roman" pitchFamily="34" charset="-120"/>
              </a:rPr>
              <a:t>1</a:t>
            </a:r>
            <a:endParaRPr lang="en-US" sz="2000" dirty="0"/>
          </a:p>
        </p:txBody>
      </p:sp>
      <p:sp>
        <p:nvSpPr>
          <p:cNvPr id="8" name="a2_h"/>
          <p:cNvSpPr txBox="1"/>
          <p:nvPr/>
        </p:nvSpPr>
        <p:spPr>
          <a:xfrm>
            <a:off x="1463040" y="2057400"/>
            <a:ext cx="1554480" cy="502920"/>
          </a:xfrm>
          <a:prstGeom prst="rect">
            <a:avLst/>
          </a:prstGeom>
          <a:noFill/>
          <a:ln/>
        </p:spPr>
        <p:txBody>
          <a:bodyPr wrap="square" lIns="0" tIns="0" rIns="0" bIns="0" rtlCol="0" anchor="ctr"/>
          <a:lstStyle/>
          <a:p>
            <a:pPr indent="0" marL="0">
              <a:buNone/>
            </a:pPr>
            <a:r>
              <a:rPr lang="en-US" sz="2200" b="1" dirty="0">
                <a:solidFill>
                  <a:srgbClr val="FFFFFF"/>
                </a:solidFill>
                <a:latin typeface="Times New Roman" pitchFamily="34" charset="0"/>
                <a:ea typeface="Times New Roman" pitchFamily="34" charset="-122"/>
                <a:cs typeface="Times New Roman" pitchFamily="34" charset="-120"/>
              </a:rPr>
              <a:t>Obtain</a:t>
            </a:r>
            <a:endParaRPr lang="en-US" sz="2200" dirty="0"/>
          </a:p>
        </p:txBody>
      </p:sp>
      <p:sp>
        <p:nvSpPr>
          <p:cNvPr id="9" name="a2_d"/>
          <p:cNvSpPr txBox="1"/>
          <p:nvPr/>
        </p:nvSpPr>
        <p:spPr>
          <a:xfrm>
            <a:off x="749808" y="2788920"/>
            <a:ext cx="2240280" cy="2011680"/>
          </a:xfrm>
          <a:prstGeom prst="rect">
            <a:avLst/>
          </a:prstGeom>
          <a:noFill/>
          <a:ln/>
        </p:spPr>
        <p:txBody>
          <a:bodyPr wrap="square" lIns="0" tIns="0" rIns="0" bIns="0" rtlCol="0" anchor="t"/>
          <a:lstStyle/>
          <a:p>
            <a:pPr indent="0" marL="0">
              <a:buNone/>
            </a:pPr>
            <a:r>
              <a:rPr lang="en-US" sz="1300" dirty="0">
                <a:solidFill>
                  <a:srgbClr val="DCEAF6"/>
                </a:solidFill>
                <a:latin typeface="Calibri" pitchFamily="34" charset="0"/>
                <a:ea typeface="Calibri" pitchFamily="34" charset="-122"/>
                <a:cs typeface="Calibri" pitchFamily="34" charset="-120"/>
              </a:rPr>
              <a:t>Schedule export (XML, Excel or XER): baseline and actual dates, calendar, plus the delay log or site diary with causes. Anonymised, with the site's permission.</a:t>
            </a:r>
            <a:endParaRPr lang="en-US" sz="1300" dirty="0"/>
          </a:p>
        </p:txBody>
      </p:sp>
      <p:sp>
        <p:nvSpPr>
          <p:cNvPr id="10" name="a2_ar"/>
          <p:cNvSpPr/>
          <p:nvPr/>
        </p:nvSpPr>
        <p:spPr>
          <a:xfrm>
            <a:off x="3182112" y="3200400"/>
            <a:ext cx="164592" cy="365760"/>
          </a:xfrm>
          <a:prstGeom prst="rightArrow">
            <a:avLst/>
          </a:prstGeom>
          <a:solidFill>
            <a:srgbClr val="19B5C8"/>
          </a:solidFill>
          <a:ln w="12700">
            <a:solidFill>
              <a:srgbClr val="19B5C8"/>
            </a:solidFill>
            <a:prstDash val="solid"/>
          </a:ln>
        </p:spPr>
      </p:sp>
      <p:sp>
        <p:nvSpPr>
          <p:cNvPr id="11" name="a3_card"/>
          <p:cNvSpPr/>
          <p:nvPr/>
        </p:nvSpPr>
        <p:spPr>
          <a:xfrm>
            <a:off x="3355848" y="1828800"/>
            <a:ext cx="2606040" cy="3017520"/>
          </a:xfrm>
          <a:prstGeom prst="roundRect">
            <a:avLst>
              <a:gd name="adj" fmla="val 3509"/>
            </a:avLst>
          </a:prstGeom>
          <a:solidFill>
            <a:srgbClr val="173F6B"/>
          </a:solidFill>
          <a:ln w="12700">
            <a:solidFill>
              <a:srgbClr val="173F6B"/>
            </a:solidFill>
            <a:prstDash val="solid"/>
          </a:ln>
        </p:spPr>
      </p:sp>
      <p:sp>
        <p:nvSpPr>
          <p:cNvPr id="12" name="a3_nc"/>
          <p:cNvSpPr/>
          <p:nvPr/>
        </p:nvSpPr>
        <p:spPr>
          <a:xfrm>
            <a:off x="3557016" y="2011680"/>
            <a:ext cx="594360" cy="594360"/>
          </a:xfrm>
          <a:prstGeom prst="ellipse">
            <a:avLst/>
          </a:prstGeom>
          <a:solidFill>
            <a:srgbClr val="19B5C8"/>
          </a:solidFill>
          <a:ln w="12700">
            <a:solidFill>
              <a:srgbClr val="19B5C8"/>
            </a:solidFill>
            <a:prstDash val="solid"/>
          </a:ln>
        </p:spPr>
      </p:sp>
      <p:sp>
        <p:nvSpPr>
          <p:cNvPr id="13" name="a3_nt"/>
          <p:cNvSpPr txBox="1"/>
          <p:nvPr/>
        </p:nvSpPr>
        <p:spPr>
          <a:xfrm>
            <a:off x="3557016" y="2011680"/>
            <a:ext cx="594360" cy="594360"/>
          </a:xfrm>
          <a:prstGeom prst="rect">
            <a:avLst/>
          </a:prstGeom>
          <a:noFill/>
          <a:ln/>
        </p:spPr>
        <p:txBody>
          <a:bodyPr wrap="square" lIns="0" tIns="0" rIns="0" bIns="0" rtlCol="0" anchor="ctr"/>
          <a:lstStyle/>
          <a:p>
            <a:pPr algn="ctr" indent="0" marL="0">
              <a:buNone/>
            </a:pPr>
            <a:r>
              <a:rPr lang="en-US" sz="2000" b="1" dirty="0">
                <a:solidFill>
                  <a:srgbClr val="12233B"/>
                </a:solidFill>
                <a:latin typeface="Times New Roman" pitchFamily="34" charset="0"/>
                <a:ea typeface="Times New Roman" pitchFamily="34" charset="-122"/>
                <a:cs typeface="Times New Roman" pitchFamily="34" charset="-120"/>
              </a:rPr>
              <a:t>2</a:t>
            </a:r>
            <a:endParaRPr lang="en-US" sz="2000" dirty="0"/>
          </a:p>
        </p:txBody>
      </p:sp>
      <p:sp>
        <p:nvSpPr>
          <p:cNvPr id="14" name="a3_h"/>
          <p:cNvSpPr txBox="1"/>
          <p:nvPr/>
        </p:nvSpPr>
        <p:spPr>
          <a:xfrm>
            <a:off x="4270248" y="2057400"/>
            <a:ext cx="1554480" cy="502920"/>
          </a:xfrm>
          <a:prstGeom prst="rect">
            <a:avLst/>
          </a:prstGeom>
          <a:noFill/>
          <a:ln/>
        </p:spPr>
        <p:txBody>
          <a:bodyPr wrap="square" lIns="0" tIns="0" rIns="0" bIns="0" rtlCol="0" anchor="ctr"/>
          <a:lstStyle/>
          <a:p>
            <a:pPr indent="0" marL="0">
              <a:buNone/>
            </a:pPr>
            <a:r>
              <a:rPr lang="en-US" sz="2200" b="1" dirty="0">
                <a:solidFill>
                  <a:srgbClr val="FFFFFF"/>
                </a:solidFill>
                <a:latin typeface="Times New Roman" pitchFamily="34" charset="0"/>
                <a:ea typeface="Times New Roman" pitchFamily="34" charset="-122"/>
                <a:cs typeface="Times New Roman" pitchFamily="34" charset="-120"/>
              </a:rPr>
              <a:t>Map</a:t>
            </a:r>
            <a:endParaRPr lang="en-US" sz="2200" dirty="0"/>
          </a:p>
        </p:txBody>
      </p:sp>
      <p:sp>
        <p:nvSpPr>
          <p:cNvPr id="15" name="a3_d"/>
          <p:cNvSpPr txBox="1"/>
          <p:nvPr/>
        </p:nvSpPr>
        <p:spPr>
          <a:xfrm>
            <a:off x="3557016" y="2788920"/>
            <a:ext cx="2240280" cy="2011680"/>
          </a:xfrm>
          <a:prstGeom prst="rect">
            <a:avLst/>
          </a:prstGeom>
          <a:noFill/>
          <a:ln/>
        </p:spPr>
        <p:txBody>
          <a:bodyPr wrap="square" lIns="0" tIns="0" rIns="0" bIns="0" rtlCol="0" anchor="t"/>
          <a:lstStyle/>
          <a:p>
            <a:pPr indent="0" marL="0">
              <a:buNone/>
            </a:pPr>
            <a:r>
              <a:rPr lang="en-US" sz="1300" dirty="0">
                <a:solidFill>
                  <a:srgbClr val="DCEAF6"/>
                </a:solidFill>
                <a:latin typeface="Calibri" pitchFamily="34" charset="0"/>
                <a:ea typeface="Calibri" pitchFamily="34" charset="-122"/>
                <a:cs typeface="Calibri" pitchFamily="34" charset="-120"/>
              </a:rPr>
              <a:t>Code each logged cause to a library risk. Two coders work independently; agreement is reported.</a:t>
            </a:r>
            <a:endParaRPr lang="en-US" sz="1300" dirty="0"/>
          </a:p>
        </p:txBody>
      </p:sp>
      <p:sp>
        <p:nvSpPr>
          <p:cNvPr id="16" name="a3_ar"/>
          <p:cNvSpPr/>
          <p:nvPr/>
        </p:nvSpPr>
        <p:spPr>
          <a:xfrm>
            <a:off x="5989320" y="3200400"/>
            <a:ext cx="164592" cy="365760"/>
          </a:xfrm>
          <a:prstGeom prst="rightArrow">
            <a:avLst/>
          </a:prstGeom>
          <a:solidFill>
            <a:srgbClr val="19B5C8"/>
          </a:solidFill>
          <a:ln w="12700">
            <a:solidFill>
              <a:srgbClr val="19B5C8"/>
            </a:solidFill>
            <a:prstDash val="solid"/>
          </a:ln>
        </p:spPr>
      </p:sp>
      <p:sp>
        <p:nvSpPr>
          <p:cNvPr id="17" name="a4_card"/>
          <p:cNvSpPr/>
          <p:nvPr/>
        </p:nvSpPr>
        <p:spPr>
          <a:xfrm>
            <a:off x="6163056" y="1828800"/>
            <a:ext cx="2606040" cy="3017520"/>
          </a:xfrm>
          <a:prstGeom prst="roundRect">
            <a:avLst>
              <a:gd name="adj" fmla="val 3509"/>
            </a:avLst>
          </a:prstGeom>
          <a:solidFill>
            <a:srgbClr val="173F6B"/>
          </a:solidFill>
          <a:ln w="12700">
            <a:solidFill>
              <a:srgbClr val="173F6B"/>
            </a:solidFill>
            <a:prstDash val="solid"/>
          </a:ln>
        </p:spPr>
      </p:sp>
      <p:sp>
        <p:nvSpPr>
          <p:cNvPr id="18" name="a4_nc"/>
          <p:cNvSpPr/>
          <p:nvPr/>
        </p:nvSpPr>
        <p:spPr>
          <a:xfrm>
            <a:off x="6364224" y="2011680"/>
            <a:ext cx="594360" cy="594360"/>
          </a:xfrm>
          <a:prstGeom prst="ellipse">
            <a:avLst/>
          </a:prstGeom>
          <a:solidFill>
            <a:srgbClr val="19B5C8"/>
          </a:solidFill>
          <a:ln w="12700">
            <a:solidFill>
              <a:srgbClr val="19B5C8"/>
            </a:solidFill>
            <a:prstDash val="solid"/>
          </a:ln>
        </p:spPr>
      </p:sp>
      <p:sp>
        <p:nvSpPr>
          <p:cNvPr id="19" name="a4_nt"/>
          <p:cNvSpPr txBox="1"/>
          <p:nvPr/>
        </p:nvSpPr>
        <p:spPr>
          <a:xfrm>
            <a:off x="6364224" y="2011680"/>
            <a:ext cx="594360" cy="594360"/>
          </a:xfrm>
          <a:prstGeom prst="rect">
            <a:avLst/>
          </a:prstGeom>
          <a:noFill/>
          <a:ln/>
        </p:spPr>
        <p:txBody>
          <a:bodyPr wrap="square" lIns="0" tIns="0" rIns="0" bIns="0" rtlCol="0" anchor="ctr"/>
          <a:lstStyle/>
          <a:p>
            <a:pPr algn="ctr" indent="0" marL="0">
              <a:buNone/>
            </a:pPr>
            <a:r>
              <a:rPr lang="en-US" sz="2000" b="1" dirty="0">
                <a:solidFill>
                  <a:srgbClr val="12233B"/>
                </a:solidFill>
                <a:latin typeface="Times New Roman" pitchFamily="34" charset="0"/>
                <a:ea typeface="Times New Roman" pitchFamily="34" charset="-122"/>
                <a:cs typeface="Times New Roman" pitchFamily="34" charset="-120"/>
              </a:rPr>
              <a:t>3</a:t>
            </a:r>
            <a:endParaRPr lang="en-US" sz="2000" dirty="0"/>
          </a:p>
        </p:txBody>
      </p:sp>
      <p:sp>
        <p:nvSpPr>
          <p:cNvPr id="20" name="a4_h"/>
          <p:cNvSpPr txBox="1"/>
          <p:nvPr/>
        </p:nvSpPr>
        <p:spPr>
          <a:xfrm>
            <a:off x="7077456" y="2057400"/>
            <a:ext cx="1554480" cy="502920"/>
          </a:xfrm>
          <a:prstGeom prst="rect">
            <a:avLst/>
          </a:prstGeom>
          <a:noFill/>
          <a:ln/>
        </p:spPr>
        <p:txBody>
          <a:bodyPr wrap="square" lIns="0" tIns="0" rIns="0" bIns="0" rtlCol="0" anchor="ctr"/>
          <a:lstStyle/>
          <a:p>
            <a:pPr indent="0" marL="0">
              <a:buNone/>
            </a:pPr>
            <a:r>
              <a:rPr lang="en-US" sz="2200" b="1" dirty="0">
                <a:solidFill>
                  <a:srgbClr val="FFFFFF"/>
                </a:solidFill>
                <a:latin typeface="Times New Roman" pitchFamily="34" charset="0"/>
                <a:ea typeface="Times New Roman" pitchFamily="34" charset="-122"/>
                <a:cs typeface="Times New Roman" pitchFamily="34" charset="-120"/>
              </a:rPr>
              <a:t>Run</a:t>
            </a:r>
            <a:endParaRPr lang="en-US" sz="2200" dirty="0"/>
          </a:p>
        </p:txBody>
      </p:sp>
      <p:sp>
        <p:nvSpPr>
          <p:cNvPr id="21" name="a4_d"/>
          <p:cNvSpPr txBox="1"/>
          <p:nvPr/>
        </p:nvSpPr>
        <p:spPr>
          <a:xfrm>
            <a:off x="6364224" y="2788920"/>
            <a:ext cx="2240280" cy="2011680"/>
          </a:xfrm>
          <a:prstGeom prst="rect">
            <a:avLst/>
          </a:prstGeom>
          <a:noFill/>
          <a:ln/>
        </p:spPr>
        <p:txBody>
          <a:bodyPr wrap="square" lIns="0" tIns="0" rIns="0" bIns="0" rtlCol="0" anchor="t"/>
          <a:lstStyle/>
          <a:p>
            <a:pPr indent="0" marL="0">
              <a:buNone/>
            </a:pPr>
            <a:r>
              <a:rPr lang="en-US" sz="1300" dirty="0">
                <a:solidFill>
                  <a:srgbClr val="DCEAF6"/>
                </a:solidFill>
                <a:latin typeface="Calibri" pitchFamily="34" charset="0"/>
                <a:ea typeface="Calibri" pitchFamily="34" charset="-122"/>
                <a:cs typeface="Calibri" pitchFamily="34" charset="-120"/>
              </a:rPr>
              <a:t>Run the tool on the same activity using only what was known before the work began.</a:t>
            </a:r>
            <a:endParaRPr lang="en-US" sz="1300" dirty="0"/>
          </a:p>
        </p:txBody>
      </p:sp>
      <p:sp>
        <p:nvSpPr>
          <p:cNvPr id="22" name="a4_ar"/>
          <p:cNvSpPr/>
          <p:nvPr/>
        </p:nvSpPr>
        <p:spPr>
          <a:xfrm>
            <a:off x="8796528" y="3200400"/>
            <a:ext cx="164592" cy="365760"/>
          </a:xfrm>
          <a:prstGeom prst="rightArrow">
            <a:avLst/>
          </a:prstGeom>
          <a:solidFill>
            <a:srgbClr val="19B5C8"/>
          </a:solidFill>
          <a:ln w="12700">
            <a:solidFill>
              <a:srgbClr val="19B5C8"/>
            </a:solidFill>
            <a:prstDash val="solid"/>
          </a:ln>
        </p:spPr>
      </p:sp>
      <p:sp>
        <p:nvSpPr>
          <p:cNvPr id="23" name="a5_card"/>
          <p:cNvSpPr/>
          <p:nvPr/>
        </p:nvSpPr>
        <p:spPr>
          <a:xfrm>
            <a:off x="8970264" y="1828800"/>
            <a:ext cx="2606040" cy="3017520"/>
          </a:xfrm>
          <a:prstGeom prst="roundRect">
            <a:avLst>
              <a:gd name="adj" fmla="val 3509"/>
            </a:avLst>
          </a:prstGeom>
          <a:solidFill>
            <a:srgbClr val="173F6B"/>
          </a:solidFill>
          <a:ln w="12700">
            <a:solidFill>
              <a:srgbClr val="173F6B"/>
            </a:solidFill>
            <a:prstDash val="solid"/>
          </a:ln>
        </p:spPr>
      </p:sp>
      <p:sp>
        <p:nvSpPr>
          <p:cNvPr id="24" name="a5_nc"/>
          <p:cNvSpPr/>
          <p:nvPr/>
        </p:nvSpPr>
        <p:spPr>
          <a:xfrm>
            <a:off x="9171432" y="2011680"/>
            <a:ext cx="594360" cy="594360"/>
          </a:xfrm>
          <a:prstGeom prst="ellipse">
            <a:avLst/>
          </a:prstGeom>
          <a:solidFill>
            <a:srgbClr val="19B5C8"/>
          </a:solidFill>
          <a:ln w="12700">
            <a:solidFill>
              <a:srgbClr val="19B5C8"/>
            </a:solidFill>
            <a:prstDash val="solid"/>
          </a:ln>
        </p:spPr>
      </p:sp>
      <p:sp>
        <p:nvSpPr>
          <p:cNvPr id="25" name="a5_nt"/>
          <p:cNvSpPr txBox="1"/>
          <p:nvPr/>
        </p:nvSpPr>
        <p:spPr>
          <a:xfrm>
            <a:off x="9171432" y="2011680"/>
            <a:ext cx="594360" cy="594360"/>
          </a:xfrm>
          <a:prstGeom prst="rect">
            <a:avLst/>
          </a:prstGeom>
          <a:noFill/>
          <a:ln/>
        </p:spPr>
        <p:txBody>
          <a:bodyPr wrap="square" lIns="0" tIns="0" rIns="0" bIns="0" rtlCol="0" anchor="ctr"/>
          <a:lstStyle/>
          <a:p>
            <a:pPr algn="ctr" indent="0" marL="0">
              <a:buNone/>
            </a:pPr>
            <a:r>
              <a:rPr lang="en-US" sz="2000" b="1" dirty="0">
                <a:solidFill>
                  <a:srgbClr val="12233B"/>
                </a:solidFill>
                <a:latin typeface="Times New Roman" pitchFamily="34" charset="0"/>
                <a:ea typeface="Times New Roman" pitchFamily="34" charset="-122"/>
                <a:cs typeface="Times New Roman" pitchFamily="34" charset="-120"/>
              </a:rPr>
              <a:t>4</a:t>
            </a:r>
            <a:endParaRPr lang="en-US" sz="2000" dirty="0"/>
          </a:p>
        </p:txBody>
      </p:sp>
      <p:sp>
        <p:nvSpPr>
          <p:cNvPr id="26" name="a5_h"/>
          <p:cNvSpPr txBox="1"/>
          <p:nvPr/>
        </p:nvSpPr>
        <p:spPr>
          <a:xfrm>
            <a:off x="9884664" y="2057400"/>
            <a:ext cx="1554480" cy="502920"/>
          </a:xfrm>
          <a:prstGeom prst="rect">
            <a:avLst/>
          </a:prstGeom>
          <a:noFill/>
          <a:ln/>
        </p:spPr>
        <p:txBody>
          <a:bodyPr wrap="square" lIns="0" tIns="0" rIns="0" bIns="0" rtlCol="0" anchor="ctr"/>
          <a:lstStyle/>
          <a:p>
            <a:pPr indent="0" marL="0">
              <a:buNone/>
            </a:pPr>
            <a:r>
              <a:rPr lang="en-US" sz="2200" b="1" dirty="0">
                <a:solidFill>
                  <a:srgbClr val="FFFFFF"/>
                </a:solidFill>
                <a:latin typeface="Times New Roman" pitchFamily="34" charset="0"/>
                <a:ea typeface="Times New Roman" pitchFamily="34" charset="-122"/>
                <a:cs typeface="Times New Roman" pitchFamily="34" charset="-120"/>
              </a:rPr>
              <a:t>Compare</a:t>
            </a:r>
            <a:endParaRPr lang="en-US" sz="2200" dirty="0"/>
          </a:p>
        </p:txBody>
      </p:sp>
      <p:sp>
        <p:nvSpPr>
          <p:cNvPr id="27" name="a5_d"/>
          <p:cNvSpPr txBox="1"/>
          <p:nvPr/>
        </p:nvSpPr>
        <p:spPr>
          <a:xfrm>
            <a:off x="9171432" y="2788920"/>
            <a:ext cx="2240280" cy="2011680"/>
          </a:xfrm>
          <a:prstGeom prst="rect">
            <a:avLst/>
          </a:prstGeom>
          <a:noFill/>
          <a:ln/>
        </p:spPr>
        <p:txBody>
          <a:bodyPr wrap="square" lIns="0" tIns="0" rIns="0" bIns="0" rtlCol="0" anchor="t"/>
          <a:lstStyle/>
          <a:p>
            <a:pPr indent="0" marL="0">
              <a:buNone/>
            </a:pPr>
            <a:r>
              <a:rPr lang="en-US" sz="1300" dirty="0">
                <a:solidFill>
                  <a:srgbClr val="DCEAF6"/>
                </a:solidFill>
                <a:latin typeface="Calibri" pitchFamily="34" charset="0"/>
                <a:ea typeface="Calibri" pitchFamily="34" charset="-122"/>
                <a:cs typeface="Calibri" pitchFamily="34" charset="-120"/>
              </a:rPr>
              <a:t>Rank agreement, rule-flag hits and misses, and matrix levels against the actual slip; report with uncertainty.</a:t>
            </a:r>
            <a:endParaRPr lang="en-US" sz="1300" dirty="0"/>
          </a:p>
        </p:txBody>
      </p:sp>
      <p:sp>
        <p:nvSpPr>
          <p:cNvPr id="28" name="a6_imgframe"/>
          <p:cNvSpPr/>
          <p:nvPr/>
        </p:nvSpPr>
        <p:spPr>
          <a:xfrm>
            <a:off x="548640" y="5074920"/>
            <a:ext cx="5394960" cy="1097280"/>
          </a:xfrm>
          <a:prstGeom prst="roundRect">
            <a:avLst>
              <a:gd name="adj" fmla="val 6667"/>
            </a:avLst>
          </a:prstGeom>
          <a:solidFill>
            <a:srgbClr val="EFF5FA"/>
          </a:solidFill>
          <a:ln w="15875">
            <a:solidFill>
              <a:srgbClr val="2F6C9A"/>
            </a:solidFill>
            <a:prstDash val="dash"/>
          </a:ln>
        </p:spPr>
      </p:sp>
      <p:sp>
        <p:nvSpPr>
          <p:cNvPr id="29" name="a6_imglabel"/>
          <p:cNvSpPr txBox="1"/>
          <p:nvPr/>
        </p:nvSpPr>
        <p:spPr>
          <a:xfrm>
            <a:off x="685800" y="5074920"/>
            <a:ext cx="5120640" cy="109728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sample schedule screenshot (Gantt or table)</a:t>
            </a:r>
            <a:endParaRPr lang="en-US" sz="1600" dirty="0"/>
          </a:p>
        </p:txBody>
      </p:sp>
      <p:sp>
        <p:nvSpPr>
          <p:cNvPr id="30" name="a6_note"/>
          <p:cNvSpPr txBox="1"/>
          <p:nvPr/>
        </p:nvSpPr>
        <p:spPr>
          <a:xfrm>
            <a:off x="6172200" y="5074920"/>
            <a:ext cx="5486400" cy="1097280"/>
          </a:xfrm>
          <a:prstGeom prst="rect">
            <a:avLst/>
          </a:prstGeom>
          <a:noFill/>
          <a:ln/>
        </p:spPr>
        <p:txBody>
          <a:bodyPr wrap="square" lIns="0" tIns="0" rIns="0" bIns="0" rtlCol="0" anchor="ctr"/>
          <a:lstStyle/>
          <a:p>
            <a:pPr indent="0" marL="0">
              <a:buNone/>
            </a:pPr>
            <a:r>
              <a:rPr lang="en-US" sz="1600" i="1" dirty="0">
                <a:solidFill>
                  <a:srgbClr val="FFFFFF"/>
                </a:solidFill>
                <a:latin typeface="Times New Roman" pitchFamily="34" charset="0"/>
                <a:ea typeface="Times New Roman" pitchFamily="34" charset="-122"/>
                <a:cs typeface="Times New Roman" pitchFamily="34" charset="-120"/>
              </a:rPr>
              <a:t>Reported as an agreement check with its uncertainty and sample size, never as validation. One site is one case.</a:t>
            </a:r>
            <a:endParaRPr lang="en-US" sz="16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E0"/>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25"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childTnLst>
                          </p:cTn>
                        </p:par>
                        <p:par>
                          <p:cTn id="44" fill="hold">
                            <p:stCondLst>
                              <p:cond delay="760"/>
                            </p:stCondLst>
                            <p:childTnLst>
                              <p:par>
                                <p:cTn id="26" presetID="10" presetClass="entr" presetSubtype="0" fill="hold" grpId="0" nodeType="after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childTnLst>
                          </p:cTn>
                        </p:par>
                        <p:par>
                          <p:cTn id="63" fill="hold">
                            <p:stCondLst>
                              <p:cond delay="1140"/>
                            </p:stCondLst>
                            <p:childTnLst>
                              <p:par>
                                <p:cTn id="45" presetID="10" presetClass="entr" presetSubtype="0" fill="hold" grpId="0" nodeType="after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childTnLst>
                          </p:cTn>
                        </p:par>
                        <p:par>
                          <p:cTn id="79" fill="hold">
                            <p:stCondLst>
                              <p:cond delay="1520"/>
                            </p:stCondLst>
                            <p:childTnLst>
                              <p:par>
                                <p:cTn id="64" presetID="10" presetClass="entr" presetSubtype="0" fill="hold" grpId="0"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50"/>
                                        <p:tgtEl>
                                          <p:spTgt spid="27"/>
                                        </p:tgtEl>
                                      </p:cBhvr>
                                    </p:animEffect>
                                  </p:childTnLst>
                                </p:cTn>
                              </p:par>
                            </p:childTnLst>
                          </p:cTn>
                        </p:par>
                        <p:par>
                          <p:cTn id="89" fill="hold">
                            <p:stCondLst>
                              <p:cond delay="1900"/>
                            </p:stCondLst>
                            <p:childTnLst>
                              <p:par>
                                <p:cTn id="80" presetID="10" presetClass="entr" presetSubtype="0" fill="hold" grpId="0"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50"/>
                                        <p:tgtEl>
                                          <p:spTgt spid="28"/>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450"/>
                                        <p:tgtEl>
                                          <p:spTgt spid="29"/>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How the comparison will be judged</a:t>
            </a:r>
            <a:endParaRPr lang="en-US" sz="3200" dirty="0"/>
          </a:p>
        </p:txBody>
      </p:sp>
      <p:graphicFrame>
        <p:nvGraphicFramePr>
          <p:cNvPr id="31" name="a1_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5212080"/>
                <a:gridCol w="256032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73F6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Proposed method</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73F6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Reported as</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73F6B"/>
                    </a:solidFill>
                  </a:tcPr>
                </a:tc>
              </a:tr>
              <a:tr h="914400">
                <a:tc>
                  <a:txBody>
                    <a:bodyPr/>
                    <a:lstStyle/>
                    <a:p>
                      <a:pPr indent="0" marL="0">
                        <a:buNone/>
                      </a:pPr>
                      <a:r>
                        <a:rPr lang="en-US" sz="1400" b="1" dirty="0">
                          <a:solidFill>
                            <a:srgbClr val="12233B"/>
                          </a:solidFill>
                          <a:latin typeface="Calibri" pitchFamily="34" charset="0"/>
                          <a:ea typeface="Calibri" pitchFamily="34" charset="-122"/>
                          <a:cs typeface="Calibri" pitchFamily="34" charset="-120"/>
                        </a:rPr>
                        <a:t>Does the tool's ranking match what delayed the site?</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6"/>
                    </a:solidFill>
                  </a:tcPr>
                </a:tc>
                <a:tc>
                  <a:txBody>
                    <a:bodyPr/>
                    <a:lstStyle/>
                    <a:p>
                      <a:pPr indent="0" marL="0">
                        <a:buNone/>
                      </a:pPr>
                      <a:r>
                        <a:rPr lang="en-US" sz="1400" dirty="0">
                          <a:solidFill>
                            <a:srgbClr val="12233B"/>
                          </a:solidFill>
                          <a:latin typeface="Calibri" pitchFamily="34" charset="0"/>
                          <a:ea typeface="Calibri" pitchFamily="34" charset="-122"/>
                          <a:cs typeface="Calibri" pitchFamily="34" charset="-120"/>
                        </a:rPr>
                        <a:t>Spearman rank agreement against observed delay days per cause; permutation p-value with Holm correction</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FF5FA"/>
                    </a:solidFill>
                  </a:tcPr>
                </a:tc>
                <a:tc>
                  <a:txBody>
                    <a:bodyPr/>
                    <a:lstStyle/>
                    <a:p>
                      <a:pPr indent="0" marL="0">
                        <a:buNone/>
                      </a:pPr>
                      <a:r>
                        <a:rPr lang="en-US" sz="1400" dirty="0">
                          <a:solidFill>
                            <a:srgbClr val="12233B"/>
                          </a:solidFill>
                          <a:latin typeface="Calibri" pitchFamily="34" charset="0"/>
                          <a:ea typeface="Calibri" pitchFamily="34" charset="-122"/>
                          <a:cs typeface="Calibri" pitchFamily="34" charset="-120"/>
                        </a:rPr>
                        <a:t>ρ with uncertainty and n</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FF5FA"/>
                    </a:solidFill>
                  </a:tcPr>
                </a:tc>
              </a:tr>
              <a:tr h="914400">
                <a:tc>
                  <a:txBody>
                    <a:bodyPr/>
                    <a:lstStyle/>
                    <a:p>
                      <a:pPr indent="0" marL="0">
                        <a:buNone/>
                      </a:pPr>
                      <a:r>
                        <a:rPr lang="en-US" sz="1400" b="1" dirty="0">
                          <a:solidFill>
                            <a:srgbClr val="12233B"/>
                          </a:solidFill>
                          <a:latin typeface="Calibri" pitchFamily="34" charset="0"/>
                          <a:ea typeface="Calibri" pitchFamily="34" charset="-122"/>
                          <a:cs typeface="Calibri" pitchFamily="34" charset="-120"/>
                        </a:rPr>
                        <a:t>Do the rule flags match real events?</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6"/>
                    </a:solidFill>
                  </a:tcPr>
                </a:tc>
                <a:tc>
                  <a:txBody>
                    <a:bodyPr/>
                    <a:lstStyle/>
                    <a:p>
                      <a:pPr indent="0" marL="0">
                        <a:buNone/>
                      </a:pPr>
                      <a:r>
                        <a:rPr lang="en-US" sz="1400" dirty="0">
                          <a:solidFill>
                            <a:srgbClr val="12233B"/>
                          </a:solidFill>
                          <a:latin typeface="Calibri" pitchFamily="34" charset="0"/>
                          <a:ea typeface="Calibri" pitchFamily="34" charset="-122"/>
                          <a:cs typeface="Calibri" pitchFamily="34" charset="-120"/>
                        </a:rPr>
                        <a:t>Count flagged risks found in the delay log, and logged causes the rules missed</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FF5FA"/>
                    </a:solidFill>
                  </a:tcPr>
                </a:tc>
                <a:tc>
                  <a:txBody>
                    <a:bodyPr/>
                    <a:lstStyle/>
                    <a:p>
                      <a:pPr indent="0" marL="0">
                        <a:buNone/>
                      </a:pPr>
                      <a:r>
                        <a:rPr lang="en-US" sz="1400" dirty="0">
                          <a:solidFill>
                            <a:srgbClr val="12233B"/>
                          </a:solidFill>
                          <a:latin typeface="Calibri" pitchFamily="34" charset="0"/>
                          <a:ea typeface="Calibri" pitchFamily="34" charset="-122"/>
                          <a:cs typeface="Calibri" pitchFamily="34" charset="-120"/>
                        </a:rPr>
                        <a:t>Hits and misses, listed</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FF5FA"/>
                    </a:solidFill>
                  </a:tcPr>
                </a:tc>
              </a:tr>
              <a:tr h="914400">
                <a:tc>
                  <a:txBody>
                    <a:bodyPr/>
                    <a:lstStyle/>
                    <a:p>
                      <a:pPr indent="0" marL="0">
                        <a:buNone/>
                      </a:pPr>
                      <a:r>
                        <a:rPr lang="en-US" sz="1400" b="1" dirty="0">
                          <a:solidFill>
                            <a:srgbClr val="12233B"/>
                          </a:solidFill>
                          <a:latin typeface="Calibri" pitchFamily="34" charset="0"/>
                          <a:ea typeface="Calibri" pitchFamily="34" charset="-122"/>
                          <a:cs typeface="Calibri" pitchFamily="34" charset="-120"/>
                        </a:rPr>
                        <a:t>Do site numbers give sensible levels?</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6"/>
                    </a:solidFill>
                  </a:tcPr>
                </a:tc>
                <a:tc>
                  <a:txBody>
                    <a:bodyPr/>
                    <a:lstStyle/>
                    <a:p>
                      <a:pPr indent="0" marL="0">
                        <a:buNone/>
                      </a:pPr>
                      <a:r>
                        <a:rPr lang="en-US" sz="1400" dirty="0">
                          <a:solidFill>
                            <a:srgbClr val="12233B"/>
                          </a:solidFill>
                          <a:latin typeface="Calibri" pitchFamily="34" charset="0"/>
                          <a:ea typeface="Calibri" pitchFamily="34" charset="-122"/>
                          <a:cs typeface="Calibri" pitchFamily="34" charset="-120"/>
                        </a:rPr>
                        <a:t>Re-run with p and delay taken from the schedule; compare matrix levels with the actual slip</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FF5FA"/>
                    </a:solidFill>
                  </a:tcPr>
                </a:tc>
                <a:tc>
                  <a:txBody>
                    <a:bodyPr/>
                    <a:lstStyle/>
                    <a:p>
                      <a:pPr indent="0" marL="0">
                        <a:buNone/>
                      </a:pPr>
                      <a:r>
                        <a:rPr lang="en-US" sz="1400" dirty="0">
                          <a:solidFill>
                            <a:srgbClr val="12233B"/>
                          </a:solidFill>
                          <a:latin typeface="Calibri" pitchFamily="34" charset="0"/>
                          <a:ea typeface="Calibri" pitchFamily="34" charset="-122"/>
                          <a:cs typeface="Calibri" pitchFamily="34" charset="-120"/>
                        </a:rPr>
                        <a:t>Before and after matrix</a:t>
                      </a:r>
                      <a:endParaRPr lang="en-US" sz="1400" dirty="0">
                        <a:latin typeface="Calibri" charset="0"/>
                        <a:ea typeface="Calibri" charset="0"/>
                        <a:cs typeface="Calibri"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FF5FA"/>
                    </a:solidFill>
                  </a:tcPr>
                </a:tc>
              </a:tr>
            </a:tbl>
          </a:graphicData>
        </a:graphic>
      </p:graphicFrame>
      <p:sp>
        <p:nvSpPr>
          <p:cNvPr id="5" name="a2_c0"/>
          <p:cNvSpPr/>
          <p:nvPr/>
        </p:nvSpPr>
        <p:spPr>
          <a:xfrm>
            <a:off x="548640" y="4754880"/>
            <a:ext cx="3520440" cy="1234440"/>
          </a:xfrm>
          <a:prstGeom prst="roundRect">
            <a:avLst>
              <a:gd name="adj" fmla="val 7407"/>
            </a:avLst>
          </a:prstGeom>
          <a:solidFill>
            <a:srgbClr val="0A1F3C"/>
          </a:solidFill>
          <a:ln w="12700">
            <a:solidFill>
              <a:srgbClr val="0A1F3C"/>
            </a:solidFill>
            <a:prstDash val="solid"/>
          </a:ln>
        </p:spPr>
      </p:sp>
      <p:sp>
        <p:nvSpPr>
          <p:cNvPr id="6" name="a2_ct0"/>
          <p:cNvSpPr txBox="1"/>
          <p:nvPr/>
        </p:nvSpPr>
        <p:spPr>
          <a:xfrm>
            <a:off x="777240" y="4754880"/>
            <a:ext cx="3108960" cy="1234440"/>
          </a:xfrm>
          <a:prstGeom prst="rect">
            <a:avLst/>
          </a:prstGeom>
          <a:noFill/>
          <a:ln/>
        </p:spPr>
        <p:txBody>
          <a:bodyPr wrap="square" lIns="0" tIns="0" rIns="0" bIns="0" rtlCol="0" anchor="ctr"/>
          <a:lstStyle/>
          <a:p>
            <a:pPr indent="0" marL="0">
              <a:buNone/>
            </a:pPr>
            <a:r>
              <a:rPr lang="en-US" sz="1800" b="1" dirty="0">
                <a:solidFill>
                  <a:srgbClr val="19B5C8"/>
                </a:solidFill>
                <a:latin typeface="Times New Roman" pitchFamily="34" charset="0"/>
                <a:ea typeface="Times New Roman" pitchFamily="34" charset="-122"/>
                <a:cs typeface="Times New Roman" pitchFamily="34" charset="-120"/>
              </a:rPr>
              <a:t>Hold out</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keep the outcome hidden while running the tool</a:t>
            </a:r>
            <a:endParaRPr lang="en-US" sz="1600" dirty="0"/>
          </a:p>
        </p:txBody>
      </p:sp>
      <p:sp>
        <p:nvSpPr>
          <p:cNvPr id="7" name="a2_c1"/>
          <p:cNvSpPr/>
          <p:nvPr/>
        </p:nvSpPr>
        <p:spPr>
          <a:xfrm>
            <a:off x="4297680" y="4754880"/>
            <a:ext cx="3520440" cy="1234440"/>
          </a:xfrm>
          <a:prstGeom prst="roundRect">
            <a:avLst>
              <a:gd name="adj" fmla="val 7407"/>
            </a:avLst>
          </a:prstGeom>
          <a:solidFill>
            <a:srgbClr val="0A1F3C"/>
          </a:solidFill>
          <a:ln w="12700">
            <a:solidFill>
              <a:srgbClr val="0A1F3C"/>
            </a:solidFill>
            <a:prstDash val="solid"/>
          </a:ln>
        </p:spPr>
      </p:sp>
      <p:sp>
        <p:nvSpPr>
          <p:cNvPr id="8" name="a2_ct1"/>
          <p:cNvSpPr txBox="1"/>
          <p:nvPr/>
        </p:nvSpPr>
        <p:spPr>
          <a:xfrm>
            <a:off x="4526280" y="4754880"/>
            <a:ext cx="3108960" cy="1234440"/>
          </a:xfrm>
          <a:prstGeom prst="rect">
            <a:avLst/>
          </a:prstGeom>
          <a:noFill/>
          <a:ln/>
        </p:spPr>
        <p:txBody>
          <a:bodyPr wrap="square" lIns="0" tIns="0" rIns="0" bIns="0" rtlCol="0" anchor="ctr"/>
          <a:lstStyle/>
          <a:p>
            <a:pPr indent="0" marL="0">
              <a:buNone/>
            </a:pPr>
            <a:r>
              <a:rPr lang="en-US" sz="1800" b="1" dirty="0">
                <a:solidFill>
                  <a:srgbClr val="19B5C8"/>
                </a:solidFill>
                <a:latin typeface="Times New Roman" pitchFamily="34" charset="0"/>
                <a:ea typeface="Times New Roman" pitchFamily="34" charset="-122"/>
                <a:cs typeface="Times New Roman" pitchFamily="34" charset="-120"/>
              </a:rPr>
              <a:t>Two coders</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report agreement when mapping causes to risks</a:t>
            </a:r>
            <a:endParaRPr lang="en-US" sz="1600" dirty="0"/>
          </a:p>
        </p:txBody>
      </p:sp>
      <p:sp>
        <p:nvSpPr>
          <p:cNvPr id="9" name="a2_c2"/>
          <p:cNvSpPr/>
          <p:nvPr/>
        </p:nvSpPr>
        <p:spPr>
          <a:xfrm>
            <a:off x="8046720" y="4754880"/>
            <a:ext cx="3520440" cy="1234440"/>
          </a:xfrm>
          <a:prstGeom prst="roundRect">
            <a:avLst>
              <a:gd name="adj" fmla="val 7407"/>
            </a:avLst>
          </a:prstGeom>
          <a:solidFill>
            <a:srgbClr val="0A1F3C"/>
          </a:solidFill>
          <a:ln w="12700">
            <a:solidFill>
              <a:srgbClr val="0A1F3C"/>
            </a:solidFill>
            <a:prstDash val="solid"/>
          </a:ln>
        </p:spPr>
      </p:sp>
      <p:sp>
        <p:nvSpPr>
          <p:cNvPr id="10" name="a2_ct2"/>
          <p:cNvSpPr txBox="1"/>
          <p:nvPr/>
        </p:nvSpPr>
        <p:spPr>
          <a:xfrm>
            <a:off x="8275320" y="4754880"/>
            <a:ext cx="3108960" cy="1234440"/>
          </a:xfrm>
          <a:prstGeom prst="rect">
            <a:avLst/>
          </a:prstGeom>
          <a:noFill/>
          <a:ln/>
        </p:spPr>
        <p:txBody>
          <a:bodyPr wrap="square" lIns="0" tIns="0" rIns="0" bIns="0" rtlCol="0" anchor="ctr"/>
          <a:lstStyle/>
          <a:p>
            <a:pPr indent="0" marL="0">
              <a:buNone/>
            </a:pPr>
            <a:r>
              <a:rPr lang="en-US" sz="1800" b="1" dirty="0">
                <a:solidFill>
                  <a:srgbClr val="19B5C8"/>
                </a:solidFill>
                <a:latin typeface="Times New Roman" pitchFamily="34" charset="0"/>
                <a:ea typeface="Times New Roman" pitchFamily="34" charset="-122"/>
                <a:cs typeface="Times New Roman" pitchFamily="34" charset="-120"/>
              </a:rPr>
              <a:t>State limits</a:t>
            </a:r>
            <a:endParaRPr lang="en-US" sz="1600" dirty="0"/>
          </a:p>
          <a:p>
            <a:pPr indent="0" marL="0">
              <a:buNone/>
            </a:pPr>
            <a:r>
              <a:rPr lang="en-US" sz="1300" dirty="0">
                <a:solidFill>
                  <a:srgbClr val="DCEAF6"/>
                </a:solidFill>
                <a:latin typeface="Calibri" pitchFamily="34" charset="0"/>
                <a:ea typeface="Calibri" pitchFamily="34" charset="-122"/>
                <a:cs typeface="Calibri" pitchFamily="34" charset="-120"/>
              </a:rPr>
              <a:t>one site, partial logs, several risks per cause</a:t>
            </a:r>
            <a:endParaRPr lang="en-US" sz="16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6"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wipe(left)">
                                      <p:cBhvr>
                                        <p:cTn id="5" dur="450"/>
                                        <p:tgtEl>
                                          <p:spTgt spid="31"/>
                                        </p:tgtEl>
                                      </p:cBhvr>
                                    </p:animEffect>
                                  </p:childTnLst>
                                </p:cTn>
                              </p:par>
                            </p:childTnLst>
                          </p:cTn>
                        </p:par>
                        <p:par>
                          <p:cTn id="25" fill="hold">
                            <p:stCondLst>
                              <p:cond delay="38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457200" y="640080"/>
            <a:ext cx="3154680" cy="2743200"/>
          </a:xfrm>
          <a:prstGeom prst="rect">
            <a:avLst/>
          </a:prstGeom>
          <a:noFill/>
          <a:ln/>
        </p:spPr>
        <p:txBody>
          <a:bodyPr wrap="square" lIns="0" tIns="0" rIns="0" bIns="0" rtlCol="0" anchor="t"/>
          <a:lstStyle/>
          <a:p>
            <a:pPr algn="l" indent="0" marL="0">
              <a:buNone/>
            </a:pPr>
            <a:r>
              <a:rPr lang="en-US" sz="3200" b="1" dirty="0">
                <a:solidFill>
                  <a:srgbClr val="FFFFFF"/>
                </a:solidFill>
                <a:latin typeface="Times New Roman" pitchFamily="34" charset="0"/>
                <a:ea typeface="Times New Roman" pitchFamily="34" charset="-122"/>
                <a:cs typeface="Times New Roman" pitchFamily="34" charset="-120"/>
              </a:rPr>
              <a:t>Decisions we need</a:t>
            </a:r>
            <a:endParaRPr lang="en-US" sz="3200" dirty="0"/>
          </a:p>
        </p:txBody>
      </p:sp>
      <p:sp>
        <p:nvSpPr>
          <p:cNvPr id="4" name="a1_card"/>
          <p:cNvSpPr/>
          <p:nvPr/>
        </p:nvSpPr>
        <p:spPr>
          <a:xfrm>
            <a:off x="4434840" y="640080"/>
            <a:ext cx="7223760" cy="1280160"/>
          </a:xfrm>
          <a:prstGeom prst="roundRect">
            <a:avLst>
              <a:gd name="adj" fmla="val 7143"/>
            </a:avLst>
          </a:prstGeom>
          <a:solidFill>
            <a:srgbClr val="FFFFFF"/>
          </a:solidFill>
          <a:ln w="12700">
            <a:solidFill>
              <a:srgbClr val="B9CFE3"/>
            </a:solidFill>
            <a:prstDash val="solid"/>
          </a:ln>
        </p:spPr>
      </p:sp>
      <p:sp>
        <p:nvSpPr>
          <p:cNvPr id="5" name="a1_nc"/>
          <p:cNvSpPr/>
          <p:nvPr/>
        </p:nvSpPr>
        <p:spPr>
          <a:xfrm>
            <a:off x="4617720" y="987552"/>
            <a:ext cx="594360" cy="594360"/>
          </a:xfrm>
          <a:prstGeom prst="ellipse">
            <a:avLst/>
          </a:prstGeom>
          <a:solidFill>
            <a:srgbClr val="173F6B"/>
          </a:solidFill>
          <a:ln w="12700">
            <a:solidFill>
              <a:srgbClr val="173F6B"/>
            </a:solidFill>
            <a:prstDash val="solid"/>
          </a:ln>
        </p:spPr>
      </p:sp>
      <p:sp>
        <p:nvSpPr>
          <p:cNvPr id="6" name="a1_nt"/>
          <p:cNvSpPr txBox="1"/>
          <p:nvPr/>
        </p:nvSpPr>
        <p:spPr>
          <a:xfrm>
            <a:off x="4617720" y="98755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1</a:t>
            </a:r>
            <a:endParaRPr lang="en-US" sz="2000" dirty="0"/>
          </a:p>
        </p:txBody>
      </p:sp>
      <p:sp>
        <p:nvSpPr>
          <p:cNvPr id="7" name="a1_h"/>
          <p:cNvSpPr txBox="1"/>
          <p:nvPr/>
        </p:nvSpPr>
        <p:spPr>
          <a:xfrm>
            <a:off x="5440680" y="749808"/>
            <a:ext cx="6035040" cy="411480"/>
          </a:xfrm>
          <a:prstGeom prst="rect">
            <a:avLst/>
          </a:prstGeom>
          <a:noFill/>
          <a:ln/>
        </p:spPr>
        <p:txBody>
          <a:bodyPr wrap="square" lIns="0" tIns="0" rIns="0" bIns="0" rtlCol="0" anchor="t"/>
          <a:lstStyle/>
          <a:p>
            <a:pPr indent="0" marL="0">
              <a:buNone/>
            </a:pPr>
            <a:r>
              <a:rPr lang="en-US" sz="2000" b="1" dirty="0">
                <a:solidFill>
                  <a:srgbClr val="12233B"/>
                </a:solidFill>
                <a:latin typeface="Times New Roman" pitchFamily="34" charset="0"/>
                <a:ea typeface="Times New Roman" pitchFamily="34" charset="-122"/>
                <a:cs typeface="Times New Roman" pitchFamily="34" charset="-120"/>
              </a:rPr>
              <a:t>Scope</a:t>
            </a:r>
            <a:endParaRPr lang="en-US" sz="2000" dirty="0"/>
          </a:p>
        </p:txBody>
      </p:sp>
      <p:sp>
        <p:nvSpPr>
          <p:cNvPr id="8" name="a1_d"/>
          <p:cNvSpPr txBox="1"/>
          <p:nvPr/>
        </p:nvSpPr>
        <p:spPr>
          <a:xfrm>
            <a:off x="5440680" y="1188720"/>
            <a:ext cx="6035040" cy="68580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Keep the cost and decision layer, or limit to identify, register, matrix? The registered title describes the larger scope.</a:t>
            </a:r>
            <a:endParaRPr lang="en-US" sz="1400" dirty="0"/>
          </a:p>
        </p:txBody>
      </p:sp>
      <p:sp>
        <p:nvSpPr>
          <p:cNvPr id="9" name="a2_card"/>
          <p:cNvSpPr/>
          <p:nvPr/>
        </p:nvSpPr>
        <p:spPr>
          <a:xfrm>
            <a:off x="4434840" y="2103120"/>
            <a:ext cx="7223760" cy="1280160"/>
          </a:xfrm>
          <a:prstGeom prst="roundRect">
            <a:avLst>
              <a:gd name="adj" fmla="val 7143"/>
            </a:avLst>
          </a:prstGeom>
          <a:solidFill>
            <a:srgbClr val="FFFFFF"/>
          </a:solidFill>
          <a:ln w="12700">
            <a:solidFill>
              <a:srgbClr val="B9CFE3"/>
            </a:solidFill>
            <a:prstDash val="solid"/>
          </a:ln>
        </p:spPr>
      </p:sp>
      <p:sp>
        <p:nvSpPr>
          <p:cNvPr id="10" name="a2_nc"/>
          <p:cNvSpPr/>
          <p:nvPr/>
        </p:nvSpPr>
        <p:spPr>
          <a:xfrm>
            <a:off x="4617720" y="2450592"/>
            <a:ext cx="594360" cy="594360"/>
          </a:xfrm>
          <a:prstGeom prst="ellipse">
            <a:avLst/>
          </a:prstGeom>
          <a:solidFill>
            <a:srgbClr val="2F6C9A"/>
          </a:solidFill>
          <a:ln w="12700">
            <a:solidFill>
              <a:srgbClr val="2F6C9A"/>
            </a:solidFill>
            <a:prstDash val="solid"/>
          </a:ln>
        </p:spPr>
      </p:sp>
      <p:sp>
        <p:nvSpPr>
          <p:cNvPr id="11" name="a2_nt"/>
          <p:cNvSpPr txBox="1"/>
          <p:nvPr/>
        </p:nvSpPr>
        <p:spPr>
          <a:xfrm>
            <a:off x="4617720"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2</a:t>
            </a:r>
            <a:endParaRPr lang="en-US" sz="2000" dirty="0"/>
          </a:p>
        </p:txBody>
      </p:sp>
      <p:sp>
        <p:nvSpPr>
          <p:cNvPr id="12" name="a2_h"/>
          <p:cNvSpPr txBox="1"/>
          <p:nvPr/>
        </p:nvSpPr>
        <p:spPr>
          <a:xfrm>
            <a:off x="5440680" y="2212848"/>
            <a:ext cx="6035040" cy="411480"/>
          </a:xfrm>
          <a:prstGeom prst="rect">
            <a:avLst/>
          </a:prstGeom>
          <a:noFill/>
          <a:ln/>
        </p:spPr>
        <p:txBody>
          <a:bodyPr wrap="square" lIns="0" tIns="0" rIns="0" bIns="0" rtlCol="0" anchor="t"/>
          <a:lstStyle/>
          <a:p>
            <a:pPr indent="0" marL="0">
              <a:buNone/>
            </a:pPr>
            <a:r>
              <a:rPr lang="en-US" sz="2000" b="1" dirty="0">
                <a:solidFill>
                  <a:srgbClr val="12233B"/>
                </a:solidFill>
                <a:latin typeface="Times New Roman" pitchFamily="34" charset="0"/>
                <a:ea typeface="Times New Roman" pitchFamily="34" charset="-122"/>
                <a:cs typeface="Times New Roman" pitchFamily="34" charset="-120"/>
              </a:rPr>
              <a:t>Site data</a:t>
            </a:r>
            <a:endParaRPr lang="en-US" sz="2000" dirty="0"/>
          </a:p>
        </p:txBody>
      </p:sp>
      <p:sp>
        <p:nvSpPr>
          <p:cNvPr id="13" name="a2_d"/>
          <p:cNvSpPr txBox="1"/>
          <p:nvPr/>
        </p:nvSpPr>
        <p:spPr>
          <a:xfrm>
            <a:off x="5440680" y="2651760"/>
            <a:ext cx="6035040" cy="68580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Which site, which schedule export, and permission to use it.</a:t>
            </a:r>
            <a:endParaRPr lang="en-US" sz="1400" dirty="0"/>
          </a:p>
        </p:txBody>
      </p:sp>
      <p:sp>
        <p:nvSpPr>
          <p:cNvPr id="14" name="a3_card"/>
          <p:cNvSpPr/>
          <p:nvPr/>
        </p:nvSpPr>
        <p:spPr>
          <a:xfrm>
            <a:off x="4434840" y="3566160"/>
            <a:ext cx="7223760" cy="1280160"/>
          </a:xfrm>
          <a:prstGeom prst="roundRect">
            <a:avLst>
              <a:gd name="adj" fmla="val 7143"/>
            </a:avLst>
          </a:prstGeom>
          <a:solidFill>
            <a:srgbClr val="FFFFFF"/>
          </a:solidFill>
          <a:ln w="12700">
            <a:solidFill>
              <a:srgbClr val="B9CFE3"/>
            </a:solidFill>
            <a:prstDash val="solid"/>
          </a:ln>
        </p:spPr>
      </p:sp>
      <p:sp>
        <p:nvSpPr>
          <p:cNvPr id="15" name="a3_nc"/>
          <p:cNvSpPr/>
          <p:nvPr/>
        </p:nvSpPr>
        <p:spPr>
          <a:xfrm>
            <a:off x="4617720" y="3913632"/>
            <a:ext cx="594360" cy="594360"/>
          </a:xfrm>
          <a:prstGeom prst="ellipse">
            <a:avLst/>
          </a:prstGeom>
          <a:solidFill>
            <a:srgbClr val="173F6B"/>
          </a:solidFill>
          <a:ln w="12700">
            <a:solidFill>
              <a:srgbClr val="173F6B"/>
            </a:solidFill>
            <a:prstDash val="solid"/>
          </a:ln>
        </p:spPr>
      </p:sp>
      <p:sp>
        <p:nvSpPr>
          <p:cNvPr id="16" name="a3_nt"/>
          <p:cNvSpPr txBox="1"/>
          <p:nvPr/>
        </p:nvSpPr>
        <p:spPr>
          <a:xfrm>
            <a:off x="4617720" y="391363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3</a:t>
            </a:r>
            <a:endParaRPr lang="en-US" sz="2000" dirty="0"/>
          </a:p>
        </p:txBody>
      </p:sp>
      <p:sp>
        <p:nvSpPr>
          <p:cNvPr id="17" name="a3_h"/>
          <p:cNvSpPr txBox="1"/>
          <p:nvPr/>
        </p:nvSpPr>
        <p:spPr>
          <a:xfrm>
            <a:off x="5440680" y="3675888"/>
            <a:ext cx="6035040" cy="411480"/>
          </a:xfrm>
          <a:prstGeom prst="rect">
            <a:avLst/>
          </a:prstGeom>
          <a:noFill/>
          <a:ln/>
        </p:spPr>
        <p:txBody>
          <a:bodyPr wrap="square" lIns="0" tIns="0" rIns="0" bIns="0" rtlCol="0" anchor="t"/>
          <a:lstStyle/>
          <a:p>
            <a:pPr indent="0" marL="0">
              <a:buNone/>
            </a:pPr>
            <a:r>
              <a:rPr lang="en-US" sz="2000" b="1" dirty="0">
                <a:solidFill>
                  <a:srgbClr val="12233B"/>
                </a:solidFill>
                <a:latin typeface="Times New Roman" pitchFamily="34" charset="0"/>
                <a:ea typeface="Times New Roman" pitchFamily="34" charset="-122"/>
                <a:cs typeface="Times New Roman" pitchFamily="34" charset="-120"/>
              </a:rPr>
              <a:t>Statistical method</a:t>
            </a:r>
            <a:endParaRPr lang="en-US" sz="2000" dirty="0"/>
          </a:p>
        </p:txBody>
      </p:sp>
      <p:sp>
        <p:nvSpPr>
          <p:cNvPr id="18" name="a3_d"/>
          <p:cNvSpPr txBox="1"/>
          <p:nvPr/>
        </p:nvSpPr>
        <p:spPr>
          <a:xfrm>
            <a:off x="5440680" y="4114800"/>
            <a:ext cx="6035040" cy="68580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Confirm rank agreement with permutation p-values and Holm correction for the site comparison.</a:t>
            </a:r>
            <a:endParaRPr lang="en-US" sz="1400" dirty="0"/>
          </a:p>
        </p:txBody>
      </p:sp>
      <p:sp>
        <p:nvSpPr>
          <p:cNvPr id="19" name="a4_card"/>
          <p:cNvSpPr/>
          <p:nvPr/>
        </p:nvSpPr>
        <p:spPr>
          <a:xfrm>
            <a:off x="4434840" y="5029200"/>
            <a:ext cx="7223760" cy="1280160"/>
          </a:xfrm>
          <a:prstGeom prst="roundRect">
            <a:avLst>
              <a:gd name="adj" fmla="val 7143"/>
            </a:avLst>
          </a:prstGeom>
          <a:solidFill>
            <a:srgbClr val="FFFFFF"/>
          </a:solidFill>
          <a:ln w="12700">
            <a:solidFill>
              <a:srgbClr val="B9CFE3"/>
            </a:solidFill>
            <a:prstDash val="solid"/>
          </a:ln>
        </p:spPr>
      </p:sp>
      <p:sp>
        <p:nvSpPr>
          <p:cNvPr id="20" name="a4_nc"/>
          <p:cNvSpPr/>
          <p:nvPr/>
        </p:nvSpPr>
        <p:spPr>
          <a:xfrm>
            <a:off x="4617720" y="5376672"/>
            <a:ext cx="594360" cy="594360"/>
          </a:xfrm>
          <a:prstGeom prst="ellipse">
            <a:avLst/>
          </a:prstGeom>
          <a:solidFill>
            <a:srgbClr val="2F6C9A"/>
          </a:solidFill>
          <a:ln w="12700">
            <a:solidFill>
              <a:srgbClr val="2F6C9A"/>
            </a:solidFill>
            <a:prstDash val="solid"/>
          </a:ln>
        </p:spPr>
      </p:sp>
      <p:sp>
        <p:nvSpPr>
          <p:cNvPr id="21" name="a4_nt"/>
          <p:cNvSpPr txBox="1"/>
          <p:nvPr/>
        </p:nvSpPr>
        <p:spPr>
          <a:xfrm>
            <a:off x="4617720" y="537667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Times New Roman" pitchFamily="34" charset="0"/>
                <a:ea typeface="Times New Roman" pitchFamily="34" charset="-122"/>
                <a:cs typeface="Times New Roman" pitchFamily="34" charset="-120"/>
              </a:rPr>
              <a:t>4</a:t>
            </a:r>
            <a:endParaRPr lang="en-US" sz="2000" dirty="0"/>
          </a:p>
        </p:txBody>
      </p:sp>
      <p:sp>
        <p:nvSpPr>
          <p:cNvPr id="22" name="a4_h"/>
          <p:cNvSpPr txBox="1"/>
          <p:nvPr/>
        </p:nvSpPr>
        <p:spPr>
          <a:xfrm>
            <a:off x="5440680" y="5138928"/>
            <a:ext cx="6035040" cy="411480"/>
          </a:xfrm>
          <a:prstGeom prst="rect">
            <a:avLst/>
          </a:prstGeom>
          <a:noFill/>
          <a:ln/>
        </p:spPr>
        <p:txBody>
          <a:bodyPr wrap="square" lIns="0" tIns="0" rIns="0" bIns="0" rtlCol="0" anchor="t"/>
          <a:lstStyle/>
          <a:p>
            <a:pPr indent="0" marL="0">
              <a:buNone/>
            </a:pPr>
            <a:r>
              <a:rPr lang="en-US" sz="2000" b="1" dirty="0">
                <a:solidFill>
                  <a:srgbClr val="12233B"/>
                </a:solidFill>
                <a:latin typeface="Times New Roman" pitchFamily="34" charset="0"/>
                <a:ea typeface="Times New Roman" pitchFamily="34" charset="-122"/>
                <a:cs typeface="Times New Roman" pitchFamily="34" charset="-120"/>
              </a:rPr>
              <a:t>Records and documents</a:t>
            </a:r>
            <a:endParaRPr lang="en-US" sz="2000" dirty="0"/>
          </a:p>
        </p:txBody>
      </p:sp>
      <p:sp>
        <p:nvSpPr>
          <p:cNvPr id="23" name="a4_d"/>
          <p:cNvSpPr txBox="1"/>
          <p:nvPr/>
        </p:nvSpPr>
        <p:spPr>
          <a:xfrm>
            <a:off x="5440680" y="5577840"/>
            <a:ext cx="6035040" cy="685800"/>
          </a:xfrm>
          <a:prstGeom prst="rect">
            <a:avLst/>
          </a:prstGeom>
          <a:noFill/>
          <a:ln/>
        </p:spPr>
        <p:txBody>
          <a:bodyPr wrap="square" lIns="0" tIns="0" rIns="0" bIns="0" rtlCol="0" anchor="t"/>
          <a:lstStyle/>
          <a:p>
            <a:pPr indent="0" marL="0">
              <a:buNone/>
            </a:pPr>
            <a:r>
              <a:rPr lang="en-US" sz="1400" dirty="0">
                <a:solidFill>
                  <a:srgbClr val="55708A"/>
                </a:solidFill>
                <a:latin typeface="Calibri" pitchFamily="34" charset="0"/>
                <a:ea typeface="Calibri" pitchFamily="34" charset="-122"/>
                <a:cs typeface="Calibri" pitchFamily="34" charset="-120"/>
              </a:rPr>
              <a:t>One agreed literature record count; regenerate or retire Word files that carry withdrawn wording.</a:t>
            </a:r>
            <a:endParaRPr lang="en-US" sz="1400" dirty="0"/>
          </a:p>
        </p:txBody>
      </p:sp>
      <p:sp>
        <p:nvSpPr>
          <p:cNvPr id="24" name="a5_full"/>
          <p:cNvSpPr txBox="1"/>
          <p:nvPr/>
        </p:nvSpPr>
        <p:spPr>
          <a:xfrm>
            <a:off x="457200" y="3840480"/>
            <a:ext cx="3200400" cy="1097280"/>
          </a:xfrm>
          <a:prstGeom prst="rect">
            <a:avLst/>
          </a:prstGeom>
          <a:noFill/>
          <a:ln/>
        </p:spPr>
        <p:txBody>
          <a:bodyPr wrap="square" lIns="0" tIns="0" rIns="0" bIns="0" rtlCol="0" anchor="t"/>
          <a:lstStyle/>
          <a:p>
            <a:pPr indent="0" marL="0">
              <a:buNone/>
            </a:pPr>
            <a:r>
              <a:rPr lang="en-US" sz="1400" i="1" dirty="0">
                <a:solidFill>
                  <a:srgbClr val="DCEAF6"/>
                </a:solidFill>
                <a:latin typeface="Calibri" pitchFamily="34" charset="0"/>
                <a:ea typeface="Calibri" pitchFamily="34" charset="-122"/>
                <a:cs typeface="Calibri" pitchFamily="34" charset="-120"/>
              </a:rPr>
              <a:t>Full list: docs/refine_round_1/lead_D.md (31 open decisions).</a:t>
            </a:r>
            <a:endParaRPr lang="en-US" sz="14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18"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childTnLst>
                                </p:cTn>
                              </p:par>
                            </p:childTnLst>
                          </p:cTn>
                        </p:par>
                        <p:par>
                          <p:cTn id="34" fill="hold">
                            <p:stCondLst>
                              <p:cond delay="380"/>
                            </p:stCondLst>
                            <p:childTnLst>
                              <p:par>
                                <p:cTn id="19" presetID="10" presetClass="entr" presetSubtype="0"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par>
                          <p:cTn id="50" fill="hold">
                            <p:stCondLst>
                              <p:cond delay="760"/>
                            </p:stCondLst>
                            <p:childTnLst>
                              <p:par>
                                <p:cTn id="35" presetID="10" presetClass="entr" presetSubtype="0" fill="hold" grpId="0" nodeType="after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childTnLst>
                          </p:cTn>
                        </p:par>
                        <p:par>
                          <p:cTn id="66" fill="hold">
                            <p:stCondLst>
                              <p:cond delay="1140"/>
                            </p:stCondLst>
                            <p:childTnLst>
                              <p:par>
                                <p:cTn id="51" presetID="10" presetClass="entr" presetSubtype="0" fill="hold" grpId="0" nodeType="after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5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5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50"/>
                                        <p:tgtEl>
                                          <p:spTgt spid="23"/>
                                        </p:tgtEl>
                                      </p:cBhvr>
                                    </p:animEffect>
                                  </p:childTnLst>
                                </p:cTn>
                              </p:par>
                            </p:childTnLst>
                          </p:cTn>
                        </p:par>
                        <p:par>
                          <p:cTn id="70" fill="hold">
                            <p:stCondLst>
                              <p:cond delay="152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References (1 of 2): surveys in the seed dataset</a:t>
            </a:r>
            <a:endParaRPr lang="en-US" sz="3200" dirty="0"/>
          </a:p>
        </p:txBody>
      </p:sp>
      <p:sp>
        <p:nvSpPr>
          <p:cNvPr id="4" name="a1_refs"/>
          <p:cNvSpPr txBox="1"/>
          <p:nvPr/>
        </p:nvSpPr>
        <p:spPr>
          <a:xfrm>
            <a:off x="548640" y="1280160"/>
            <a:ext cx="11064240" cy="5029200"/>
          </a:xfrm>
          <a:prstGeom prst="rect">
            <a:avLst/>
          </a:prstGeom>
          <a:noFill/>
          <a:ln/>
        </p:spPr>
        <p:txBody>
          <a:bodyPr wrap="square" lIns="0" tIns="0" rIns="0" bIns="0" rtlCol="0" anchor="t"/>
          <a:lstStyle/>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Karthik, D. &amp; Rao, C.B.K. (2019). The analysis of essential factors responsible for loss of labour productivity in building construction projects in India. Engineering Journal 23(2): 55-70. doi:10.4186/ej.2019.23.2.55  [M01, seed]</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Ponmalar, Aravindraj &amp; Nandhini (2018). Study on factors influencing labour productivity in residential buildings in Indian scenario. IJETMR 5(2): 239-248. doi:10.29121/ijetmr.v5.i2.2018.168  [A02, seed]</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Dixit, Mandal, Thanikal &amp; Saurabh (2019). Study of significant factors affecting construction productivity using relative importance index in Indian construction industry. E3S Web of Conferences 140, 09010. doi:10.1051/e3sconf/201914009010  [M06, seed]</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Abeysinghe &amp; Jayathilaka (2022). Factors influencing the timely completion of construction projects in Sri Lanka. PLoS ONE 17(12): e0278318. doi:10.1371/journal.pone.0278318  [A14, seed]</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Manoharan et al. (2022). Labour-related factors affecting construction productivity in Sri Lankan building projects: perspectives of engineers and managers. Frontiers in Engineering and Built Environment. doi:10.1108/FEBE-03-2022-0009  [A15, seed]</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Adebowale, O.J. &amp; Agumba, J.N. (2023). A meta-analysis of factors affecting construction labour productivity in the Middle East. Journal of Construction in Developing Countries 28(1): 193-220. doi:10.21315/jcdc-12-21-0192  [M10, held out]</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de Almeida, E.L.G., Feitoza, V.A.S., Carvalho, M.T.M., Pina, A.B.S., Araujo, L.G. &amp; Aidar, L.A.G. (2021). Study of delays in constructions: a managerial point of view of private companies in Brasilia, Brazil. Gestao &amp; Producao 28(3): e5194. doi:10.1590/1806-9649-2021v28e5194  [M15, held out]</a:t>
            </a:r>
            <a:endParaRPr lang="en-US" sz="14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868680"/>
          </a:xfrm>
          <a:prstGeom prst="rect">
            <a:avLst/>
          </a:prstGeom>
          <a:noFill/>
          <a:ln/>
        </p:spPr>
        <p:txBody>
          <a:bodyPr wrap="square" lIns="0" tIns="0" rIns="0" bIns="0" rtlCol="0" anchor="ctr"/>
          <a:lstStyle/>
          <a:p>
            <a:pPr algn="l" indent="0" marL="0">
              <a:buNone/>
            </a:pPr>
            <a:r>
              <a:rPr lang="en-US" sz="3200" b="1" dirty="0">
                <a:solidFill>
                  <a:srgbClr val="12233B"/>
                </a:solidFill>
                <a:latin typeface="Times New Roman" pitchFamily="34" charset="0"/>
                <a:ea typeface="Times New Roman" pitchFamily="34" charset="-122"/>
                <a:cs typeface="Times New Roman" pitchFamily="34" charset="-120"/>
              </a:rPr>
              <a:t>References (2 of 2): held-out surveys and methods</a:t>
            </a:r>
            <a:endParaRPr lang="en-US" sz="3200" dirty="0"/>
          </a:p>
        </p:txBody>
      </p:sp>
      <p:sp>
        <p:nvSpPr>
          <p:cNvPr id="4" name="a1_refs"/>
          <p:cNvSpPr txBox="1"/>
          <p:nvPr/>
        </p:nvSpPr>
        <p:spPr>
          <a:xfrm>
            <a:off x="548640" y="1280160"/>
            <a:ext cx="11064240" cy="5029200"/>
          </a:xfrm>
          <a:prstGeom prst="rect">
            <a:avLst/>
          </a:prstGeom>
          <a:noFill/>
          <a:ln/>
        </p:spPr>
        <p:txBody>
          <a:bodyPr wrap="square" lIns="0" tIns="0" rIns="0" bIns="0" rtlCol="0" anchor="t"/>
          <a:lstStyle/>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Loekito, Dani, Zulfikar, Triarso &amp; Prasetyono (2026). Factors influencing construction worker productivity in Indonesia and strategies for improvement. Multidisciplinary Science Journal 8: e2026243. doi:10.31893/multiscience.2026243  [M14, held out]</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Pinky Devi &amp; Sindhu (2025). Delay analysis of infrastructure construction projects in India. Journal of The Institution of Engineers (India): Series A 106(3): 763-771. doi:10.1007/s40030-025-00899-5  [A10, held out]</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Ouansrimeang &amp; Wisaeang (2024). Analyzing the critical delay factors for construction projects in the public sector using relative importance index and machine learning techniques. Journal of Infrastructure, Policy and Development 8(8): 6208. doi:10.24294/jipd.v8i8.6208  [A21, held out]</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Hassoon et al. (2025). Journal of Infrastructure Preservation and Resilience 6, article 3. doi:10.1186/s43065-025-00116-4  [HAS25, held out; full title not recorded in the project data]</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Cox, L.A. Jr. (2008). What's wrong with risk matrices? Risk Analysis 28(2): 497-512.</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Malcolm, D.G., Roseboom, J.H., Clark, C.E. &amp; Fazar, W. (1959). Application of a technique for research and development program evaluation. Operations Research 7(5): 646-669.</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Spearman, C. (1904). The proof and measurement of association between two things. American Journal of Psychology 15(1): 72-101.</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Holm, S. (1979). A simple sequentially rejective multiple test procedure. Scandinavian Journal of Statistics 6(2): 65-70.</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Priem, J., Piwowar, H. &amp; Orr, R. (2022). OpenAlex: a fully-open index of scholarly works, authors, venues, institutions, and concepts. arXiv:2205.01833.</a:t>
            </a:r>
            <a:endParaRPr lang="en-US" sz="1450" dirty="0"/>
          </a:p>
          <a:p>
            <a:pPr indent="0" marL="0">
              <a:spcAft>
                <a:spcPts val="900"/>
              </a:spcAft>
              <a:buNone/>
            </a:pPr>
            <a:r>
              <a:rPr lang="en-US" sz="1450" dirty="0">
                <a:solidFill>
                  <a:srgbClr val="12233B"/>
                </a:solidFill>
                <a:latin typeface="Calibri" pitchFamily="34" charset="0"/>
                <a:ea typeface="Calibri" pitchFamily="34" charset="-122"/>
                <a:cs typeface="Calibri" pitchFamily="34" charset="-120"/>
              </a:rPr>
              <a:t>Project documents: docs/Project_Charter.md, docs/Project_Handoff_Summary.md, docs/refine_round_1/, docs/Project_Audit_2026-10-13.md (repository DrAssassin3214/FYP).</a:t>
            </a:r>
            <a:endParaRPr lang="en-US" sz="14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5708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a1_ty"/>
          <p:cNvSpPr txBox="1"/>
          <p:nvPr/>
        </p:nvSpPr>
        <p:spPr>
          <a:xfrm>
            <a:off x="548640" y="1828800"/>
            <a:ext cx="6766560" cy="1188720"/>
          </a:xfrm>
          <a:prstGeom prst="rect">
            <a:avLst/>
          </a:prstGeom>
          <a:noFill/>
          <a:ln/>
        </p:spPr>
        <p:txBody>
          <a:bodyPr wrap="square" lIns="0" tIns="0" rIns="0" bIns="0" rtlCol="0" anchor="t"/>
          <a:lstStyle/>
          <a:p>
            <a:pPr indent="0" marL="0">
              <a:buNone/>
            </a:pPr>
            <a:r>
              <a:rPr lang="en-US" sz="6600" b="1" dirty="0">
                <a:solidFill>
                  <a:srgbClr val="FFFFFF"/>
                </a:solidFill>
                <a:latin typeface="Times New Roman" pitchFamily="34" charset="0"/>
                <a:ea typeface="Times New Roman" pitchFamily="34" charset="-122"/>
                <a:cs typeface="Times New Roman" pitchFamily="34" charset="-120"/>
              </a:rPr>
              <a:t>Thank you</a:t>
            </a:r>
            <a:endParaRPr lang="en-US" sz="6600" dirty="0"/>
          </a:p>
        </p:txBody>
      </p:sp>
      <p:sp>
        <p:nvSpPr>
          <p:cNvPr id="4" name="a1_q"/>
          <p:cNvSpPr txBox="1"/>
          <p:nvPr/>
        </p:nvSpPr>
        <p:spPr>
          <a:xfrm>
            <a:off x="548640" y="3063240"/>
            <a:ext cx="6766560" cy="548640"/>
          </a:xfrm>
          <a:prstGeom prst="rect">
            <a:avLst/>
          </a:prstGeom>
          <a:noFill/>
          <a:ln/>
        </p:spPr>
        <p:txBody>
          <a:bodyPr wrap="square" lIns="0" tIns="0" rIns="0" bIns="0" rtlCol="0" anchor="t"/>
          <a:lstStyle/>
          <a:p>
            <a:pPr indent="0" marL="0">
              <a:buNone/>
            </a:pPr>
            <a:r>
              <a:rPr lang="en-US" sz="2600" i="1" dirty="0">
                <a:solidFill>
                  <a:srgbClr val="DCEAF6"/>
                </a:solidFill>
                <a:latin typeface="Times New Roman" pitchFamily="34" charset="0"/>
                <a:ea typeface="Times New Roman" pitchFamily="34" charset="-122"/>
                <a:cs typeface="Times New Roman" pitchFamily="34" charset="-120"/>
              </a:rPr>
              <a:t>Questions and discussion</a:t>
            </a:r>
            <a:endParaRPr lang="en-US" sz="2600" dirty="0"/>
          </a:p>
        </p:txBody>
      </p:sp>
      <p:sp>
        <p:nvSpPr>
          <p:cNvPr id="5" name="a2_links"/>
          <p:cNvSpPr txBox="1"/>
          <p:nvPr/>
        </p:nvSpPr>
        <p:spPr>
          <a:xfrm>
            <a:off x="548640" y="4389120"/>
            <a:ext cx="6766560" cy="822960"/>
          </a:xfrm>
          <a:prstGeom prst="rect">
            <a:avLst/>
          </a:prstGeom>
          <a:noFill/>
          <a:ln/>
        </p:spPr>
        <p:txBody>
          <a:bodyPr wrap="square" lIns="0" tIns="0" rIns="0" bIns="0" rtlCol="0" anchor="t"/>
          <a:lstStyle/>
          <a:p>
            <a:pPr indent="0" marL="0">
              <a:buNone/>
            </a:pPr>
            <a:r>
              <a:rPr lang="en-US" sz="1600" u="sng" dirty="0">
                <a:solidFill>
                  <a:srgbClr val="19B5C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Bricks-ly  |  github.com/DrAssassin3214/FYP</a:t>
            </a:r>
            <a:endParaRPr lang="en-US" sz="1600" dirty="0"/>
          </a:p>
          <a:p>
            <a:pPr indent="0" marL="0">
              <a:buNone/>
            </a:pPr>
            <a:r>
              <a:rPr lang="en-US" sz="1600" dirty="0">
                <a:solidFill>
                  <a:srgbClr val="A9C7E0"/>
                </a:solidFill>
                <a:latin typeface="Calibri" pitchFamily="34" charset="0"/>
                <a:ea typeface="Calibri" pitchFamily="34" charset="-122"/>
                <a:cs typeface="Calibri" pitchFamily="34" charset="-120"/>
              </a:rPr>
              <a:t>Local demo: http://127.0.0.1:8765</a:t>
            </a:r>
            <a:endParaRPr lang="en-US" sz="1600" dirty="0"/>
          </a:p>
        </p:txBody>
      </p:sp>
      <p:sp>
        <p:nvSpPr>
          <p:cNvPr id="6" name="a3_imgframe"/>
          <p:cNvSpPr/>
          <p:nvPr/>
        </p:nvSpPr>
        <p:spPr>
          <a:xfrm>
            <a:off x="7863840" y="1463040"/>
            <a:ext cx="3749040" cy="3566160"/>
          </a:xfrm>
          <a:prstGeom prst="roundRect">
            <a:avLst>
              <a:gd name="adj" fmla="val 2051"/>
            </a:avLst>
          </a:prstGeom>
          <a:solidFill>
            <a:srgbClr val="EFF5FA"/>
          </a:solidFill>
          <a:ln w="15875">
            <a:solidFill>
              <a:srgbClr val="2F6C9A"/>
            </a:solidFill>
            <a:prstDash val="dash"/>
          </a:ln>
        </p:spPr>
      </p:sp>
      <p:sp>
        <p:nvSpPr>
          <p:cNvPr id="7" name="a3_imglabel"/>
          <p:cNvSpPr txBox="1"/>
          <p:nvPr/>
        </p:nvSpPr>
        <p:spPr>
          <a:xfrm>
            <a:off x="8001000" y="1463040"/>
            <a:ext cx="3474720" cy="3566160"/>
          </a:xfrm>
          <a:prstGeom prst="rect">
            <a:avLst/>
          </a:prstGeom>
          <a:noFill/>
          <a:ln/>
        </p:spPr>
        <p:txBody>
          <a:bodyPr wrap="square" lIns="0" tIns="0" rIns="0" bIns="0" rtlCol="0" anchor="ctr"/>
          <a:lstStyle/>
          <a:p>
            <a:pPr algn="ctr" indent="0" marL="0">
              <a:buNone/>
            </a:pPr>
            <a:r>
              <a:rPr lang="en-US" sz="1200" b="1" dirty="0">
                <a:solidFill>
                  <a:srgbClr val="2F6C9A"/>
                </a:solidFill>
                <a:latin typeface="Calibri" pitchFamily="34" charset="0"/>
                <a:ea typeface="Calibri" pitchFamily="34" charset="-122"/>
                <a:cs typeface="Calibri" pitchFamily="34" charset="-120"/>
              </a:rPr>
              <a:t>IMAGE SPACE</a:t>
            </a:r>
            <a:endParaRPr lang="en-US" sz="1600" dirty="0"/>
          </a:p>
          <a:p>
            <a:pPr algn="ctr" indent="0" marL="0">
              <a:buNone/>
            </a:pPr>
            <a:r>
              <a:rPr lang="en-US" sz="1200" i="1" dirty="0">
                <a:solidFill>
                  <a:srgbClr val="55708A"/>
                </a:solidFill>
                <a:latin typeface="Calibri" pitchFamily="34" charset="0"/>
                <a:ea typeface="Calibri" pitchFamily="34" charset="-122"/>
                <a:cs typeface="Calibri" pitchFamily="34" charset="-120"/>
              </a:rPr>
              <a:t>team photograph, institute logo or supervisor names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3" fill="hold">
                            <p:stCondLst>
                              <p:cond delay="38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childTnLst>
                          </p:cTn>
                        </p:par>
                        <p:par>
                          <p:cTn id="20" fill="hold">
                            <p:stCondLst>
                              <p:cond delay="76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theme/theme1.xml><?xml version="1.0" encoding="utf-8"?>
<a:theme xmlns:a="http://schemas.openxmlformats.org/drawingml/2006/main" name="Cool Framework">
  <a:themeElements>
    <a:clrScheme name="Cool Framework">
      <a:dk1>
        <a:srgbClr val="12233B"/>
      </a:dk1>
      <a:lt1>
        <a:srgbClr val="FFFFFF"/>
      </a:lt1>
      <a:dk2>
        <a:srgbClr val="0A1F3C"/>
      </a:dk2>
      <a:lt2>
        <a:srgbClr val="EFF5FA"/>
      </a:lt2>
      <a:accent1>
        <a:srgbClr val="2F6C9A"/>
      </a:accent1>
      <a:accent2>
        <a:srgbClr val="19B5C8"/>
      </a:accent2>
      <a:accent3>
        <a:srgbClr val="4B5BA8"/>
      </a:accent3>
      <a:accent4>
        <a:srgbClr val="5FA8D3"/>
      </a:accent4>
      <a:accent5>
        <a:srgbClr val="55708A"/>
      </a:accent5>
      <a:accent6>
        <a:srgbClr val="173F6B"/>
      </a:accent6>
      <a:hlink>
        <a:srgbClr val="2F6C9A"/>
      </a:hlink>
      <a:folHlink>
        <a:srgbClr val="4B5BA8"/>
      </a:folHlink>
    </a:clrScheme>
    <a:fontScheme name="Cool Framework">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NICMAR University Pune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Bricks-ly: from a prediction model to a risk-based framework</dc:title>
  <dc:subject>PptxGenJS Presentation</dc:subject>
  <dc:creator>Bricks-ly project team</dc:creator>
  <cp:lastModifiedBy>Bricks-ly project team</cp:lastModifiedBy>
  <cp:revision>1</cp:revision>
  <dcterms:created xsi:type="dcterms:W3CDTF">2026-10-13T10:19:45Z</dcterms:created>
  <dcterms:modified xsi:type="dcterms:W3CDTF">2026-10-13T10:19:45Z</dcterms:modified>
</cp:coreProperties>
</file>