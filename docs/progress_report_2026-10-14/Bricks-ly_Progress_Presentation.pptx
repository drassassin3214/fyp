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0efdf10-be2a-8e3c-5981-24b511283597}">
          <p14:sldIdLst>
            <p14:sldId id="256"/>
            <p14:sldId id="257"/>
            <p14:sldId id="258"/>
          </p14:sldIdLst>
        </p14:section>
        <p14:section name="Evidence and audit" id="{1e3f5154-b7b7-7473-2231-421a35efca9c}">
          <p14:sldIdLst>
            <p14:sldId id="259"/>
            <p14:sldId id="260"/>
          </p14:sldIdLst>
        </p14:section>
        <p14:section name="Fixes and quality" id="{dd6d47b6-abec-7fea-8132-df40b772e13f}">
          <p14:sldIdLst>
            <p14:sldId id="261"/>
            <p14:sldId id="262"/>
            <p14:sldId id="263"/>
          </p14:sldIdLst>
        </p14:section>
        <p14:section name="Limits and next" id="{ae4d6c36-5a91-4ec9-834c-2ee5d1738198}">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522"/>
                </a:solidFill>
                <a:latin typeface="Arial"/>
              </a:defRPr>
            </a:pPr>
            <a:r>
              <a:rPr sz="1400" b="0" i="0" u="none" strike="noStrike">
                <a:solidFill>
                  <a:srgbClr val="2B2522"/>
                </a:solidFill>
                <a:latin typeface="Arial"/>
              </a:rPr>
              <a:t>Findings by area (round 1)</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B85042"/>
            </a:solidFill>
            <a:effectLst/>
          </c:spPr>
          <c:invertIfNegative val="0"/>
          <c:dLbls>
            <c:numFmt formatCode="#,##0" sourceLinked="0"/>
            <c:txPr>
              <a:bodyPr/>
              <a:lstStyle/>
              <a:p>
                <a:pPr>
                  <a:defRPr b="0" i="0" strike="noStrike" sz="1400" u="none">
                    <a:solidFill>
                      <a:srgbClr val="2B2522"/>
                    </a:solidFill>
                    <a:latin typeface="Arial"/>
                  </a:defRPr>
                </a:pPr>
              </a:p>
            </c:txPr>
            <c:showLegendKey val="0"/>
            <c:showVal val="1"/>
            <c:showCatName val="0"/>
            <c:showSerName val="0"/>
            <c:showPercent val="0"/>
            <c:showBubbleSize val="0"/>
            <c:showLeaderLines val="0"/>
          </c:dLbls>
          <c:cat>
            <c:multiLvlStrRef>
              <c:f>Sheet1!$A$2:$A$5</c:f>
              <c:multiLvlStrCache>
                <c:ptCount val="4"/>
                <c:lvl>
                  <c:pt idx="0">
                    <c:v>GUI and usability</c:v>
                  </c:pt>
                  <c:pt idx="1">
                    <c:v>Engine, API, error paths, tests</c:v>
                  </c:pt>
                  <c:pt idx="2">
                    <c:v>Research data and scripts</c:v>
                  </c:pt>
                  <c:pt idx="3">
                    <c:v>Documents and numbers</c:v>
                  </c:pt>
                </c:lvl>
              </c:multiLvlStrCache>
            </c:multiLvlStrRef>
          </c:cat>
          <c:val>
            <c:numRef>
              <c:f>Sheet1!$B$2:$B$5</c:f>
              <c:numCache>
                <c:formatCode>General</c:formatCode>
                <c:ptCount val="4"/>
                <c:pt idx="0">
                  <c:v>48</c:v>
                </c:pt>
                <c:pt idx="1">
                  <c:v>35</c:v>
                </c:pt>
                <c:pt idx="2">
                  <c:v>31</c:v>
                </c:pt>
                <c:pt idx="3">
                  <c:v>26</c:v>
                </c:pt>
              </c:numCache>
            </c:numRef>
          </c:val>
        </c:ser>
        <c:dLbls>
          <c:numFmt formatCode="#,##0" sourceLinked="0"/>
          <c:txPr>
            <a:bodyPr/>
            <a:lstStyle/>
            <a:p>
              <a:pPr>
                <a:defRPr b="0" i="0" strike="noStrike" sz="1400" u="none">
                  <a:solidFill>
                    <a:srgbClr val="2B25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B2522"/>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One sentence: Bricks-ly helps a site engineer list, rank and review the delay risks of a single brick-masonry activity. Today: where the project stands, what the audit found and fixed, what the tool can and cannot claim, and the next test against real site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46 risks and 22 rules are the library and rule base. 182 rows from 11 published surveys are the literature starting point. 600 tests pass in the cloud copy after this round; the local run had 556 collected before. Say the limit out loud: ordinal prioritisation, not a prediction, and no site comparison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left to right. Stress the rule that every number shown was entered with a Source, and that tool-supplied placements are labelled as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evidence slide. The seed is a starting position, not a probability. Two facts a reviewer may probe: 14 of the 30 seeded risks come from one study only, and rank 12 versus 13 differ by 0.0008. Agreement with the held-out surveys was weak and none of three tests survived correction (Holm).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audit leads plus an error-path audit reviewed engine, GUI, data and documents: 15 + 20 + 48 + 31 + 26 = 140 findings. Each was triaged; worker claims were not trusted until reproduced. Several were re-run by hand before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repeatable-output item to explain: it is the kind of quiet variation that makes a tool look unreliable in a demo. It was found by the root reviewer, not by the audits.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never invents a probability, delay or cost: entered numbers carry a Source, and tool placements are labelled. This slide shows how the remaining entry points for bad numbers were narrowed. The removal is one commit and can be reverted.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numbers from commands run this week, not estimates. Say plainly that passing tests show the code does what we wrote, not that the method is right: that is what the site comparison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these before anyone asks. They are the reason the next step is a comparison against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point of the next phase. Everything so far shows the tool is built carefully; this shows whether it helps. The data source is a site schedule from MS Project or Primavera P6. It is a plan: no site data has been received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this is a proposal. The method choices (rank agreement, permutation p-value, correction for multiple tests) follow what the project already uses for the literature check, but the supervisor should confirm. What we will not say afterwards: validated, or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The scope question and the site data are the two that change the plan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indent="0" marL="0">
              <a:buNone/>
              <a:defRPr lang="en-US" sz="3400" b="1" dirty="0">
                <a:solidFill>
                  <a:schemeClr val="tx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indent="0" marL="0">
              <a:buNone/>
              <a:defRPr lang="en-US" sz="3400" b="1" dirty="0">
                <a:solidFill>
                  <a:schemeClr val="bg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828800"/>
            <a:ext cx="10058400" cy="118872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Bricks-ly</a:t>
            </a:r>
            <a:endParaRPr lang="en-US" sz="6600" dirty="0"/>
          </a:p>
        </p:txBody>
      </p:sp>
      <p:sp>
        <p:nvSpPr>
          <p:cNvPr id="3" name="Text 1"/>
          <p:cNvSpPr txBox="1"/>
          <p:nvPr/>
        </p:nvSpPr>
        <p:spPr>
          <a:xfrm>
            <a:off x="548640" y="3108960"/>
            <a:ext cx="9601200" cy="822960"/>
          </a:xfrm>
          <a:prstGeom prst="rect">
            <a:avLst/>
          </a:prstGeom>
          <a:noFill/>
          <a:ln/>
        </p:spPr>
        <p:txBody>
          <a:bodyPr wrap="square" lIns="0" tIns="0" rIns="0" bIns="0" rtlCol="0" anchor="t"/>
          <a:lstStyle/>
          <a:p>
            <a:pPr indent="0" marL="0">
              <a:buNone/>
            </a:pPr>
            <a:r>
              <a:rPr lang="en-US" sz="2400" dirty="0">
                <a:solidFill>
                  <a:schemeClr val="bg2"/>
                </a:solidFill>
                <a:latin typeface="Calibri" pitchFamily="34" charset="0"/>
                <a:ea typeface="Calibri" pitchFamily="34" charset="-122"/>
                <a:cs typeface="Calibri" pitchFamily="34" charset="-120"/>
              </a:rPr>
              <a:t>Delay-risk identification, register and matrix for one brick-masonry activity</a:t>
            </a:r>
            <a:endParaRPr lang="en-US" sz="2400" dirty="0"/>
          </a:p>
        </p:txBody>
      </p:sp>
      <p:sp>
        <p:nvSpPr>
          <p:cNvPr id="4" name="Text 2"/>
          <p:cNvSpPr txBox="1"/>
          <p:nvPr/>
        </p:nvSpPr>
        <p:spPr>
          <a:xfrm>
            <a:off x="548640" y="4846320"/>
            <a:ext cx="10058400" cy="365760"/>
          </a:xfrm>
          <a:prstGeom prst="rect">
            <a:avLst/>
          </a:prstGeom>
          <a:noFill/>
          <a:ln/>
        </p:spPr>
        <p:txBody>
          <a:bodyPr wrap="square" lIns="0" tIns="0" rIns="0" bIns="0" rtlCol="0" anchor="t"/>
          <a:lstStyle/>
          <a:p>
            <a:pPr indent="0" marL="0">
              <a:buNone/>
            </a:pPr>
            <a:r>
              <a:rPr lang="en-US" sz="1600" dirty="0">
                <a:solidFill>
                  <a:schemeClr val="accent6"/>
                </a:solidFill>
                <a:latin typeface="Calibri" pitchFamily="34" charset="0"/>
                <a:ea typeface="Calibri" pitchFamily="34" charset="-122"/>
                <a:cs typeface="Calibri" pitchFamily="34" charset="-120"/>
              </a:rPr>
              <a:t>Progress report  |  14 October 2026  |  B.Tech civil engineering final-year 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Where we stand</a:t>
            </a:r>
            <a:endParaRPr lang="en-US" sz="3400" dirty="0"/>
          </a:p>
        </p:txBody>
      </p:sp>
      <p:sp>
        <p:nvSpPr>
          <p:cNvPr id="3" name="stat-card-1"/>
          <p:cNvSpPr/>
          <p:nvPr/>
        </p:nvSpPr>
        <p:spPr>
          <a:xfrm>
            <a:off x="548640" y="1554480"/>
            <a:ext cx="3474720" cy="2743200"/>
          </a:xfrm>
          <a:prstGeom prst="rect">
            <a:avLst/>
          </a:prstGeom>
          <a:solidFill>
            <a:schemeClr val="bg2"/>
          </a:solidFill>
          <a:ln w="12700">
            <a:solidFill>
              <a:schemeClr val="bg2"/>
            </a:solidFill>
            <a:prstDash val="solid"/>
          </a:ln>
        </p:spPr>
      </p:sp>
      <p:sp>
        <p:nvSpPr>
          <p:cNvPr id="4" name="Text 2"/>
          <p:cNvSpPr txBox="1"/>
          <p:nvPr/>
        </p:nvSpPr>
        <p:spPr>
          <a:xfrm>
            <a:off x="822960" y="1783080"/>
            <a:ext cx="292608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46 + 22</a:t>
            </a:r>
            <a:endParaRPr lang="en-US" sz="5400" dirty="0"/>
          </a:p>
        </p:txBody>
      </p:sp>
      <p:sp>
        <p:nvSpPr>
          <p:cNvPr id="5" name="Text 3"/>
          <p:cNvSpPr txBox="1"/>
          <p:nvPr/>
        </p:nvSpPr>
        <p:spPr>
          <a:xfrm>
            <a:off x="822960" y="2926080"/>
            <a:ext cx="2926080" cy="11887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risks in the library and site-fact rules that flag them</a:t>
            </a:r>
            <a:endParaRPr lang="en-US" sz="1800" dirty="0"/>
          </a:p>
        </p:txBody>
      </p:sp>
      <p:sp>
        <p:nvSpPr>
          <p:cNvPr id="6" name="stat-card-2"/>
          <p:cNvSpPr/>
          <p:nvPr/>
        </p:nvSpPr>
        <p:spPr>
          <a:xfrm>
            <a:off x="4297680" y="1554480"/>
            <a:ext cx="3474720" cy="2743200"/>
          </a:xfrm>
          <a:prstGeom prst="rect">
            <a:avLst/>
          </a:prstGeom>
          <a:solidFill>
            <a:schemeClr val="bg2"/>
          </a:solidFill>
          <a:ln w="12700">
            <a:solidFill>
              <a:schemeClr val="bg2"/>
            </a:solidFill>
            <a:prstDash val="solid"/>
          </a:ln>
        </p:spPr>
      </p:sp>
      <p:sp>
        <p:nvSpPr>
          <p:cNvPr id="7" name="Text 5"/>
          <p:cNvSpPr txBox="1"/>
          <p:nvPr/>
        </p:nvSpPr>
        <p:spPr>
          <a:xfrm>
            <a:off x="4572000" y="1783080"/>
            <a:ext cx="292608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182</a:t>
            </a:r>
            <a:endParaRPr lang="en-US" sz="5400" dirty="0"/>
          </a:p>
        </p:txBody>
      </p:sp>
      <p:sp>
        <p:nvSpPr>
          <p:cNvPr id="8" name="Text 6"/>
          <p:cNvSpPr txBox="1"/>
          <p:nvPr/>
        </p:nvSpPr>
        <p:spPr>
          <a:xfrm>
            <a:off x="4572000" y="2926080"/>
            <a:ext cx="2926080" cy="11887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published survey values from 11 studies feed the starting ranking</a:t>
            </a:r>
            <a:endParaRPr lang="en-US" sz="1800" dirty="0"/>
          </a:p>
        </p:txBody>
      </p:sp>
      <p:sp>
        <p:nvSpPr>
          <p:cNvPr id="9" name="stat-card-3"/>
          <p:cNvSpPr/>
          <p:nvPr/>
        </p:nvSpPr>
        <p:spPr>
          <a:xfrm>
            <a:off x="8046720" y="1554480"/>
            <a:ext cx="3474720" cy="2743200"/>
          </a:xfrm>
          <a:prstGeom prst="rect">
            <a:avLst/>
          </a:prstGeom>
          <a:solidFill>
            <a:schemeClr val="bg2"/>
          </a:solidFill>
          <a:ln w="12700">
            <a:solidFill>
              <a:schemeClr val="bg2"/>
            </a:solidFill>
            <a:prstDash val="solid"/>
          </a:ln>
        </p:spPr>
      </p:sp>
      <p:sp>
        <p:nvSpPr>
          <p:cNvPr id="10" name="Text 8"/>
          <p:cNvSpPr txBox="1"/>
          <p:nvPr/>
        </p:nvSpPr>
        <p:spPr>
          <a:xfrm>
            <a:off x="8321040" y="1783080"/>
            <a:ext cx="292608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600</a:t>
            </a:r>
            <a:endParaRPr lang="en-US" sz="5400" dirty="0"/>
          </a:p>
        </p:txBody>
      </p:sp>
      <p:sp>
        <p:nvSpPr>
          <p:cNvPr id="11" name="Text 9"/>
          <p:cNvSpPr txBox="1"/>
          <p:nvPr/>
        </p:nvSpPr>
        <p:spPr>
          <a:xfrm>
            <a:off x="8321040" y="2926080"/>
            <a:ext cx="2926080" cy="11887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automated tests pass (553 before this round)</a:t>
            </a:r>
            <a:endParaRPr lang="en-US" sz="1800" dirty="0"/>
          </a:p>
        </p:txBody>
      </p:sp>
      <p:sp>
        <p:nvSpPr>
          <p:cNvPr id="12" name="Text 10"/>
          <p:cNvSpPr txBox="1"/>
          <p:nvPr/>
        </p:nvSpPr>
        <p:spPr>
          <a:xfrm>
            <a:off x="548640" y="4754880"/>
            <a:ext cx="11064240" cy="9144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The tool prioritises risks on an ordinal scale. It does not predict days of delay, and it has not yet been tested against site data.</a:t>
            </a:r>
            <a:endParaRPr lang="en-US" sz="2000" dirty="0"/>
          </a:p>
        </p:txBody>
      </p:sp>
      <p:sp>
        <p:nvSpPr>
          <p:cNvPr id="13" name="Text 11"/>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Source: data/ files and test run, 2026-10-13</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What the tool does</a:t>
            </a:r>
            <a:endParaRPr lang="en-US" sz="3400" dirty="0"/>
          </a:p>
        </p:txBody>
      </p:sp>
      <p:sp>
        <p:nvSpPr>
          <p:cNvPr id="3" name="step-card-1"/>
          <p:cNvSpPr/>
          <p:nvPr/>
        </p:nvSpPr>
        <p:spPr>
          <a:xfrm>
            <a:off x="548640" y="1554480"/>
            <a:ext cx="2606040" cy="2468880"/>
          </a:xfrm>
          <a:prstGeom prst="rect">
            <a:avLst/>
          </a:prstGeom>
          <a:solidFill>
            <a:schemeClr val="bg2"/>
          </a:solidFill>
          <a:ln w="12700">
            <a:solidFill>
              <a:schemeClr val="bg2"/>
            </a:solidFill>
            <a:prstDash val="solid"/>
          </a:ln>
        </p:spPr>
      </p:sp>
      <p:sp>
        <p:nvSpPr>
          <p:cNvPr id="4" name="Text 2"/>
          <p:cNvSpPr txBox="1"/>
          <p:nvPr/>
        </p:nvSpPr>
        <p:spPr>
          <a:xfrm>
            <a:off x="777240" y="1783080"/>
            <a:ext cx="219456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  Identify</a:t>
            </a:r>
            <a:endParaRPr lang="en-US" sz="2200" dirty="0"/>
          </a:p>
        </p:txBody>
      </p:sp>
      <p:sp>
        <p:nvSpPr>
          <p:cNvPr id="5" name="Text 3"/>
          <p:cNvSpPr txBox="1"/>
          <p:nvPr/>
        </p:nvSpPr>
        <p:spPr>
          <a:xfrm>
            <a:off x="777240" y="2468880"/>
            <a:ext cx="219456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Risk library of 46, site-fact rules, evidence-cited suggestions</a:t>
            </a:r>
            <a:endParaRPr lang="en-US" sz="1600" dirty="0"/>
          </a:p>
        </p:txBody>
      </p:sp>
      <p:sp>
        <p:nvSpPr>
          <p:cNvPr id="6" name="step-card-2"/>
          <p:cNvSpPr/>
          <p:nvPr/>
        </p:nvSpPr>
        <p:spPr>
          <a:xfrm>
            <a:off x="3355848" y="1554480"/>
            <a:ext cx="2606040" cy="2468880"/>
          </a:xfrm>
          <a:prstGeom prst="rect">
            <a:avLst/>
          </a:prstGeom>
          <a:solidFill>
            <a:schemeClr val="bg2"/>
          </a:solidFill>
          <a:ln w="12700">
            <a:solidFill>
              <a:schemeClr val="bg2"/>
            </a:solidFill>
            <a:prstDash val="solid"/>
          </a:ln>
        </p:spPr>
      </p:sp>
      <p:sp>
        <p:nvSpPr>
          <p:cNvPr id="7" name="Text 5"/>
          <p:cNvSpPr txBox="1"/>
          <p:nvPr/>
        </p:nvSpPr>
        <p:spPr>
          <a:xfrm>
            <a:off x="3584448" y="1783080"/>
            <a:ext cx="219456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2  Register</a:t>
            </a:r>
            <a:endParaRPr lang="en-US" sz="2200" dirty="0"/>
          </a:p>
        </p:txBody>
      </p:sp>
      <p:sp>
        <p:nvSpPr>
          <p:cNvPr id="8" name="Text 6"/>
          <p:cNvSpPr txBox="1"/>
          <p:nvPr/>
        </p:nvSpPr>
        <p:spPr>
          <a:xfrm>
            <a:off x="3584448" y="2468880"/>
            <a:ext cx="219456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Probability and delay range per risk, each with a Source label</a:t>
            </a:r>
            <a:endParaRPr lang="en-US" sz="1600" dirty="0"/>
          </a:p>
        </p:txBody>
      </p:sp>
      <p:sp>
        <p:nvSpPr>
          <p:cNvPr id="9" name="step-card-3"/>
          <p:cNvSpPr/>
          <p:nvPr/>
        </p:nvSpPr>
        <p:spPr>
          <a:xfrm>
            <a:off x="6163056" y="1554480"/>
            <a:ext cx="2606040" cy="2468880"/>
          </a:xfrm>
          <a:prstGeom prst="rect">
            <a:avLst/>
          </a:prstGeom>
          <a:solidFill>
            <a:schemeClr val="bg2"/>
          </a:solidFill>
          <a:ln w="12700">
            <a:solidFill>
              <a:schemeClr val="bg2"/>
            </a:solidFill>
            <a:prstDash val="solid"/>
          </a:ln>
        </p:spPr>
      </p:sp>
      <p:sp>
        <p:nvSpPr>
          <p:cNvPr id="10" name="Text 8"/>
          <p:cNvSpPr txBox="1"/>
          <p:nvPr/>
        </p:nvSpPr>
        <p:spPr>
          <a:xfrm>
            <a:off x="6391656" y="1783080"/>
            <a:ext cx="219456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3  Matrix</a:t>
            </a:r>
            <a:endParaRPr lang="en-US" sz="2200" dirty="0"/>
          </a:p>
        </p:txBody>
      </p:sp>
      <p:sp>
        <p:nvSpPr>
          <p:cNvPr id="11" name="Text 9"/>
          <p:cNvSpPr txBox="1"/>
          <p:nvPr/>
        </p:nvSpPr>
        <p:spPr>
          <a:xfrm>
            <a:off x="6391656" y="2468880"/>
            <a:ext cx="219456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5x5 probability-impact matrix; level = class x class</a:t>
            </a:r>
            <a:endParaRPr lang="en-US" sz="1600" dirty="0"/>
          </a:p>
        </p:txBody>
      </p:sp>
      <p:sp>
        <p:nvSpPr>
          <p:cNvPr id="12" name="step-card-4"/>
          <p:cNvSpPr/>
          <p:nvPr/>
        </p:nvSpPr>
        <p:spPr>
          <a:xfrm>
            <a:off x="8970264" y="1554480"/>
            <a:ext cx="2606040" cy="2468880"/>
          </a:xfrm>
          <a:prstGeom prst="rect">
            <a:avLst/>
          </a:prstGeom>
          <a:solidFill>
            <a:schemeClr val="bg2"/>
          </a:solidFill>
          <a:ln w="12700">
            <a:solidFill>
              <a:schemeClr val="bg2"/>
            </a:solidFill>
            <a:prstDash val="solid"/>
          </a:ln>
        </p:spPr>
      </p:sp>
      <p:sp>
        <p:nvSpPr>
          <p:cNvPr id="13" name="Text 11"/>
          <p:cNvSpPr txBox="1"/>
          <p:nvPr/>
        </p:nvSpPr>
        <p:spPr>
          <a:xfrm>
            <a:off x="9198864" y="1783080"/>
            <a:ext cx="219456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4  Export</a:t>
            </a:r>
            <a:endParaRPr lang="en-US" sz="2200" dirty="0"/>
          </a:p>
        </p:txBody>
      </p:sp>
      <p:sp>
        <p:nvSpPr>
          <p:cNvPr id="14" name="Text 12"/>
          <p:cNvSpPr txBox="1"/>
          <p:nvPr/>
        </p:nvSpPr>
        <p:spPr>
          <a:xfrm>
            <a:off x="9198864" y="2468880"/>
            <a:ext cx="219456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report.html, matrix png/svg, register md/csv, case JSON</a:t>
            </a:r>
            <a:endParaRPr lang="en-US" sz="1600" dirty="0"/>
          </a:p>
        </p:txBody>
      </p:sp>
      <p:sp>
        <p:nvSpPr>
          <p:cNvPr id="15" name="limits-callout"/>
          <p:cNvSpPr/>
          <p:nvPr/>
        </p:nvSpPr>
        <p:spPr>
          <a:xfrm>
            <a:off x="548640" y="4389120"/>
            <a:ext cx="11064240" cy="1371600"/>
          </a:xfrm>
          <a:prstGeom prst="rect">
            <a:avLst/>
          </a:prstGeom>
          <a:solidFill>
            <a:schemeClr val="tx2"/>
          </a:solidFill>
          <a:ln w="12700">
            <a:solidFill>
              <a:schemeClr val="tx2"/>
            </a:solidFill>
            <a:prstDash val="solid"/>
          </a:ln>
        </p:spPr>
      </p:sp>
      <p:sp>
        <p:nvSpPr>
          <p:cNvPr id="16" name="Text 14"/>
          <p:cNvSpPr txBox="1"/>
          <p:nvPr/>
        </p:nvSpPr>
        <p:spPr>
          <a:xfrm>
            <a:off x="868680" y="4572000"/>
            <a:ext cx="10424160" cy="1005840"/>
          </a:xfrm>
          <a:prstGeom prst="rect">
            <a:avLst/>
          </a:prstGeom>
          <a:noFill/>
          <a:ln/>
        </p:spPr>
        <p:txBody>
          <a:bodyPr wrap="square" lIns="0" tIns="0" rIns="0" bIns="0" rtlCol="0" anchor="ctr"/>
          <a:lstStyle/>
          <a:p>
            <a:pPr indent="0" marL="0">
              <a:buNone/>
            </a:pPr>
            <a:r>
              <a:rPr lang="en-US" sz="1900" dirty="0">
                <a:solidFill>
                  <a:schemeClr val="bg1"/>
                </a:solidFill>
                <a:latin typeface="Calibri" pitchFamily="34" charset="0"/>
                <a:ea typeface="Calibri" pitchFamily="34" charset="-122"/>
                <a:cs typeface="Calibri" pitchFamily="34" charset="-120"/>
              </a:rPr>
              <a:t>Ordinal prioritisation only. Matrix levels are labels, not quantities. Risks without entered numbers sit at a labelled literature tier (Assumption), never at a made-up probability.</a:t>
            </a:r>
            <a:endParaRPr lang="en-US" sz="19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The evidence behind the ranking</a:t>
            </a:r>
            <a:endParaRPr lang="en-US" sz="3400" dirty="0"/>
          </a:p>
        </p:txBody>
      </p:sp>
      <p:sp>
        <p:nvSpPr>
          <p:cNvPr id="3" name="ev-card-1"/>
          <p:cNvSpPr/>
          <p:nvPr/>
        </p:nvSpPr>
        <p:spPr>
          <a:xfrm>
            <a:off x="548640" y="1463040"/>
            <a:ext cx="3337560" cy="1783080"/>
          </a:xfrm>
          <a:prstGeom prst="rect">
            <a:avLst/>
          </a:prstGeom>
          <a:solidFill>
            <a:schemeClr val="bg2"/>
          </a:solidFill>
          <a:ln w="12700">
            <a:solidFill>
              <a:schemeClr val="bg2"/>
            </a:solidFill>
            <a:prstDash val="solid"/>
          </a:ln>
        </p:spPr>
      </p:sp>
      <p:sp>
        <p:nvSpPr>
          <p:cNvPr id="4" name="Text 2"/>
          <p:cNvSpPr txBox="1"/>
          <p:nvPr/>
        </p:nvSpPr>
        <p:spPr>
          <a:xfrm>
            <a:off x="777240" y="1645920"/>
            <a:ext cx="292608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11</a:t>
            </a:r>
            <a:endParaRPr lang="en-US" sz="4000" dirty="0"/>
          </a:p>
        </p:txBody>
      </p:sp>
      <p:sp>
        <p:nvSpPr>
          <p:cNvPr id="5" name="Text 3"/>
          <p:cNvSpPr txBox="1"/>
          <p:nvPr/>
        </p:nvSpPr>
        <p:spPr>
          <a:xfrm>
            <a:off x="777240" y="2468880"/>
            <a:ext cx="2926080" cy="6858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published surveys; 5 serve as the seed</a:t>
            </a:r>
            <a:endParaRPr lang="en-US" sz="1600" dirty="0"/>
          </a:p>
        </p:txBody>
      </p:sp>
      <p:sp>
        <p:nvSpPr>
          <p:cNvPr id="6" name="ev-card-2"/>
          <p:cNvSpPr/>
          <p:nvPr/>
        </p:nvSpPr>
        <p:spPr>
          <a:xfrm>
            <a:off x="4114800" y="1463040"/>
            <a:ext cx="3337560" cy="1783080"/>
          </a:xfrm>
          <a:prstGeom prst="rect">
            <a:avLst/>
          </a:prstGeom>
          <a:solidFill>
            <a:schemeClr val="bg2"/>
          </a:solidFill>
          <a:ln w="12700">
            <a:solidFill>
              <a:schemeClr val="bg2"/>
            </a:solidFill>
            <a:prstDash val="solid"/>
          </a:ln>
        </p:spPr>
      </p:sp>
      <p:sp>
        <p:nvSpPr>
          <p:cNvPr id="7" name="Text 5"/>
          <p:cNvSpPr txBox="1"/>
          <p:nvPr/>
        </p:nvSpPr>
        <p:spPr>
          <a:xfrm>
            <a:off x="4343400" y="1645920"/>
            <a:ext cx="292608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30 of 46</a:t>
            </a:r>
            <a:endParaRPr lang="en-US" sz="4000" dirty="0"/>
          </a:p>
        </p:txBody>
      </p:sp>
      <p:sp>
        <p:nvSpPr>
          <p:cNvPr id="8" name="Text 6"/>
          <p:cNvSpPr txBox="1"/>
          <p:nvPr/>
        </p:nvSpPr>
        <p:spPr>
          <a:xfrm>
            <a:off x="4343400" y="2468880"/>
            <a:ext cx="2926080" cy="6858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risks get a starting tier from survey rankings</a:t>
            </a:r>
            <a:endParaRPr lang="en-US" sz="1600" dirty="0"/>
          </a:p>
        </p:txBody>
      </p:sp>
      <p:sp>
        <p:nvSpPr>
          <p:cNvPr id="9" name="ev-card-3"/>
          <p:cNvSpPr/>
          <p:nvPr/>
        </p:nvSpPr>
        <p:spPr>
          <a:xfrm>
            <a:off x="548640" y="3474720"/>
            <a:ext cx="3337560" cy="1783080"/>
          </a:xfrm>
          <a:prstGeom prst="rect">
            <a:avLst/>
          </a:prstGeom>
          <a:solidFill>
            <a:schemeClr val="bg2"/>
          </a:solidFill>
          <a:ln w="12700">
            <a:solidFill>
              <a:schemeClr val="bg2"/>
            </a:solidFill>
            <a:prstDash val="solid"/>
          </a:ln>
        </p:spPr>
      </p:sp>
      <p:sp>
        <p:nvSpPr>
          <p:cNvPr id="10" name="Text 8"/>
          <p:cNvSpPr txBox="1"/>
          <p:nvPr/>
        </p:nvSpPr>
        <p:spPr>
          <a:xfrm>
            <a:off x="777240" y="3657600"/>
            <a:ext cx="292608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16</a:t>
            </a:r>
            <a:endParaRPr lang="en-US" sz="4000" dirty="0"/>
          </a:p>
        </p:txBody>
      </p:sp>
      <p:sp>
        <p:nvSpPr>
          <p:cNvPr id="11" name="Text 9"/>
          <p:cNvSpPr txBox="1"/>
          <p:nvPr/>
        </p:nvSpPr>
        <p:spPr>
          <a:xfrm>
            <a:off x="777240" y="4480560"/>
            <a:ext cx="2926080" cy="6858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risks have no survey value and need your numbers</a:t>
            </a:r>
            <a:endParaRPr lang="en-US" sz="1600" dirty="0"/>
          </a:p>
        </p:txBody>
      </p:sp>
      <p:sp>
        <p:nvSpPr>
          <p:cNvPr id="12" name="ev-card-4"/>
          <p:cNvSpPr/>
          <p:nvPr/>
        </p:nvSpPr>
        <p:spPr>
          <a:xfrm>
            <a:off x="4114800" y="3474720"/>
            <a:ext cx="3337560" cy="1783080"/>
          </a:xfrm>
          <a:prstGeom prst="rect">
            <a:avLst/>
          </a:prstGeom>
          <a:solidFill>
            <a:schemeClr val="bg2"/>
          </a:solidFill>
          <a:ln w="12700">
            <a:solidFill>
              <a:schemeClr val="bg2"/>
            </a:solidFill>
            <a:prstDash val="solid"/>
          </a:ln>
        </p:spPr>
      </p:sp>
      <p:sp>
        <p:nvSpPr>
          <p:cNvPr id="13" name="Text 11"/>
          <p:cNvSpPr txBox="1"/>
          <p:nvPr/>
        </p:nvSpPr>
        <p:spPr>
          <a:xfrm>
            <a:off x="4343400" y="3657600"/>
            <a:ext cx="292608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14 of 30</a:t>
            </a:r>
            <a:endParaRPr lang="en-US" sz="4000" dirty="0"/>
          </a:p>
        </p:txBody>
      </p:sp>
      <p:sp>
        <p:nvSpPr>
          <p:cNvPr id="14" name="Text 12"/>
          <p:cNvSpPr txBox="1"/>
          <p:nvPr/>
        </p:nvSpPr>
        <p:spPr>
          <a:xfrm>
            <a:off x="4343400" y="4480560"/>
            <a:ext cx="2926080" cy="6858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seeded risks rest on a single study</a:t>
            </a:r>
            <a:endParaRPr lang="en-US" sz="1600" dirty="0"/>
          </a:p>
        </p:txBody>
      </p:sp>
      <p:sp>
        <p:nvSpPr>
          <p:cNvPr id="15" name="Text 13"/>
          <p:cNvSpPr txBox="1"/>
          <p:nvPr/>
        </p:nvSpPr>
        <p:spPr>
          <a:xfrm>
            <a:off x="7818120" y="1463040"/>
            <a:ext cx="3794760" cy="411480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How to read it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 relative importance index measures how important respondents rated a factor, not how likely it is or how many days it costs.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Ranks 12 and 13 differ by 0.0008 RII, so neighbouring ranks are not reliably ordered.</a:t>
            </a:r>
            <a:endParaRPr lang="en-US" sz="1600" dirty="0"/>
          </a:p>
          <a:p>
            <a:pPr marL="342900" indent="-342900">
              <a:buSzPct val="100000"/>
              <a:buChar char="•"/>
            </a:pPr>
            <a:r>
              <a:rPr lang="en-US" sz="1600" dirty="0">
                <a:solidFill>
                  <a:schemeClr val="tx1"/>
                </a:solidFill>
                <a:latin typeface="Calibri" pitchFamily="34" charset="0"/>
                <a:ea typeface="Calibri" pitchFamily="34" charset="-122"/>
                <a:cs typeface="Calibri" pitchFamily="34" charset="-120"/>
              </a:rPr>
              <a:t>Agreement with held-out surveys is weak: none of three tests survives correction for multiple testing.</a:t>
            </a:r>
            <a:endParaRPr lang="en-US" sz="1600" dirty="0"/>
          </a:p>
        </p:txBody>
      </p:sp>
      <p:sp>
        <p:nvSpPr>
          <p:cNvPr id="16" name="Text 14"/>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Source: data/literature_seed.json; docs/refine_round_1/lead_D.md; Handoff section 8</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Independent audit: 140 findings</a:t>
            </a:r>
            <a:endParaRPr lang="en-US" sz="3400" dirty="0"/>
          </a:p>
        </p:txBody>
      </p:sp>
      <p:graphicFrame>
        <p:nvGraphicFramePr>
          <p:cNvPr id="3" name="Chart 0" descr=""/>
          <p:cNvGraphicFramePr/>
          <p:nvPr/>
        </p:nvGraphicFramePr>
        <p:xfrm>
          <a:off x="548640" y="137160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463040"/>
            <a:ext cx="4114800" cy="420624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Every finding was triaged</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Fix now, with a test or command</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Owner decision (scope, deleting, seed values)</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Needs local data (database, PDFs)</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Rejected, with the reason</a:t>
            </a:r>
            <a:endParaRPr lang="en-US" sz="1600" dirty="0"/>
          </a:p>
          <a:p>
            <a:pPr indent="0" marL="0">
              <a:buNone/>
            </a:pPr>
            <a:r>
              <a:rPr lang="en-US" sz="1600" i="1" dirty="0">
                <a:solidFill>
                  <a:schemeClr val="tx1"/>
                </a:solidFill>
                <a:latin typeface="Calibri" pitchFamily="34" charset="0"/>
                <a:ea typeface="Calibri" pitchFamily="34" charset="-122"/>
                <a:cs typeface="Calibri" pitchFamily="34" charset="-120"/>
              </a:rPr>
              <a:t>Agent output counted as a claim until a command or a file confirmed it.</a:t>
            </a:r>
            <a:endParaRPr lang="en-US" sz="1600" dirty="0"/>
          </a:p>
        </p:txBody>
      </p:sp>
      <p:sp>
        <p:nvSpPr>
          <p:cNvPr id="5"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Source: docs/refine_round_1/ (lead_A, A2_error_path, lead_B, lead_C, lead_D, triage)</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What we fixed</a:t>
            </a:r>
            <a:endParaRPr lang="en-US" sz="3400" dirty="0"/>
          </a:p>
        </p:txBody>
      </p:sp>
      <p:sp>
        <p:nvSpPr>
          <p:cNvPr id="3" name="fix-card-1"/>
          <p:cNvSpPr/>
          <p:nvPr/>
        </p:nvSpPr>
        <p:spPr>
          <a:xfrm>
            <a:off x="548640" y="1463040"/>
            <a:ext cx="5440680" cy="2011680"/>
          </a:xfrm>
          <a:prstGeom prst="rect">
            <a:avLst/>
          </a:prstGeom>
          <a:solidFill>
            <a:schemeClr val="bg2"/>
          </a:solidFill>
          <a:ln w="12700">
            <a:solidFill>
              <a:schemeClr val="bg2"/>
            </a:solidFill>
            <a:prstDash val="solid"/>
          </a:ln>
        </p:spPr>
      </p:sp>
      <p:sp>
        <p:nvSpPr>
          <p:cNvPr id="4" name="Text 2"/>
          <p:cNvSpPr txBox="1"/>
          <p:nvPr/>
        </p:nvSpPr>
        <p:spPr>
          <a:xfrm>
            <a:off x="822960" y="1691640"/>
            <a:ext cx="48463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Engine guards</a:t>
            </a:r>
            <a:endParaRPr lang="en-US" sz="2200" dirty="0"/>
          </a:p>
        </p:txBody>
      </p:sp>
      <p:sp>
        <p:nvSpPr>
          <p:cNvPr id="5" name="Text 3"/>
          <p:cNvSpPr txBox="1"/>
          <p:nvPr/>
        </p:nvSpPr>
        <p:spPr>
          <a:xfrm>
            <a:off x="822960" y="2286000"/>
            <a:ext cx="4846320" cy="10972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Matrix rejects true/false, NaN, unsorted edges and negative delay instead of returning a class.</a:t>
            </a:r>
            <a:endParaRPr lang="en-US" sz="1600" dirty="0"/>
          </a:p>
        </p:txBody>
      </p:sp>
      <p:sp>
        <p:nvSpPr>
          <p:cNvPr id="6" name="fix-card-2"/>
          <p:cNvSpPr/>
          <p:nvPr/>
        </p:nvSpPr>
        <p:spPr>
          <a:xfrm>
            <a:off x="6172200" y="1463040"/>
            <a:ext cx="5440680" cy="2011680"/>
          </a:xfrm>
          <a:prstGeom prst="rect">
            <a:avLst/>
          </a:prstGeom>
          <a:solidFill>
            <a:schemeClr val="bg2"/>
          </a:solidFill>
          <a:ln w="12700">
            <a:solidFill>
              <a:schemeClr val="bg2"/>
            </a:solidFill>
            <a:prstDash val="solid"/>
          </a:ln>
        </p:spPr>
      </p:sp>
      <p:sp>
        <p:nvSpPr>
          <p:cNvPr id="7" name="Text 5"/>
          <p:cNvSpPr txBox="1"/>
          <p:nvPr/>
        </p:nvSpPr>
        <p:spPr>
          <a:xfrm>
            <a:off x="6446520" y="1691640"/>
            <a:ext cx="48463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Input validation</a:t>
            </a:r>
            <a:endParaRPr lang="en-US" sz="2200" dirty="0"/>
          </a:p>
        </p:txBody>
      </p:sp>
      <p:sp>
        <p:nvSpPr>
          <p:cNvPr id="8" name="Text 6"/>
          <p:cNvSpPr txBox="1"/>
          <p:nvPr/>
        </p:nvSpPr>
        <p:spPr>
          <a:xfrm>
            <a:off x="6446520" y="2286000"/>
            <a:ext cx="4846320" cy="10972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Plain ASCII decimals only; anything above 1e12 or non-finite is rejected with the field name.</a:t>
            </a:r>
            <a:endParaRPr lang="en-US" sz="1600" dirty="0"/>
          </a:p>
        </p:txBody>
      </p:sp>
      <p:sp>
        <p:nvSpPr>
          <p:cNvPr id="9" name="fix-card-3"/>
          <p:cNvSpPr/>
          <p:nvPr/>
        </p:nvSpPr>
        <p:spPr>
          <a:xfrm>
            <a:off x="548640" y="3703320"/>
            <a:ext cx="5440680" cy="2011680"/>
          </a:xfrm>
          <a:prstGeom prst="rect">
            <a:avLst/>
          </a:prstGeom>
          <a:solidFill>
            <a:schemeClr val="bg2"/>
          </a:solidFill>
          <a:ln w="12700">
            <a:solidFill>
              <a:schemeClr val="bg2"/>
            </a:solidFill>
            <a:prstDash val="solid"/>
          </a:ln>
        </p:spPr>
      </p:sp>
      <p:sp>
        <p:nvSpPr>
          <p:cNvPr id="10" name="Text 8"/>
          <p:cNvSpPr txBox="1"/>
          <p:nvPr/>
        </p:nvSpPr>
        <p:spPr>
          <a:xfrm>
            <a:off x="822960" y="3931920"/>
            <a:ext cx="48463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Repeatable output</a:t>
            </a:r>
            <a:endParaRPr lang="en-US" sz="2200" dirty="0"/>
          </a:p>
        </p:txBody>
      </p:sp>
      <p:sp>
        <p:nvSpPr>
          <p:cNvPr id="11" name="Text 9"/>
          <p:cNvSpPr txBox="1"/>
          <p:nvPr/>
        </p:nvSpPr>
        <p:spPr>
          <a:xfrm>
            <a:off x="822960" y="4526280"/>
            <a:ext cx="4846320" cy="10972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Output changed between runs because a set was iterated in hash order. Now identical across seeds.</a:t>
            </a:r>
            <a:endParaRPr lang="en-US" sz="1600" dirty="0"/>
          </a:p>
        </p:txBody>
      </p:sp>
      <p:sp>
        <p:nvSpPr>
          <p:cNvPr id="12" name="fix-card-4"/>
          <p:cNvSpPr/>
          <p:nvPr/>
        </p:nvSpPr>
        <p:spPr>
          <a:xfrm>
            <a:off x="6172200" y="3703320"/>
            <a:ext cx="5440680" cy="2011680"/>
          </a:xfrm>
          <a:prstGeom prst="rect">
            <a:avLst/>
          </a:prstGeom>
          <a:solidFill>
            <a:schemeClr val="bg2"/>
          </a:solidFill>
          <a:ln w="12700">
            <a:solidFill>
              <a:schemeClr val="bg2"/>
            </a:solidFill>
            <a:prstDash val="solid"/>
          </a:ln>
        </p:spPr>
      </p:sp>
      <p:sp>
        <p:nvSpPr>
          <p:cNvPr id="13" name="Text 11"/>
          <p:cNvSpPr txBox="1"/>
          <p:nvPr/>
        </p:nvSpPr>
        <p:spPr>
          <a:xfrm>
            <a:off x="6446520" y="3931920"/>
            <a:ext cx="48463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Usable on a phone</a:t>
            </a:r>
            <a:endParaRPr lang="en-US" sz="2200" dirty="0"/>
          </a:p>
        </p:txBody>
      </p:sp>
      <p:sp>
        <p:nvSpPr>
          <p:cNvPr id="14" name="Text 12"/>
          <p:cNvSpPr txBox="1"/>
          <p:nvPr/>
        </p:nvSpPr>
        <p:spPr>
          <a:xfrm>
            <a:off x="6446520" y="4526280"/>
            <a:ext cx="4846320" cy="10972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Sideways scroll at 375 px fell from 509 px to none; keyboard focus and screen-reader names added.</a:t>
            </a:r>
            <a:endParaRPr lang="en-US" sz="1600" dirty="0"/>
          </a:p>
        </p:txBody>
      </p:sp>
      <p:sp>
        <p:nvSpPr>
          <p:cNvPr id="15" name="Text 13"/>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Source: pull request #1; tests/test_round1_hardening.py (76 tests)</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Clean-up and outlier control</a:t>
            </a:r>
            <a:endParaRPr lang="en-US" sz="3400" dirty="0"/>
          </a:p>
        </p:txBody>
      </p:sp>
      <p:sp>
        <p:nvSpPr>
          <p:cNvPr id="3" name="removed-card"/>
          <p:cNvSpPr/>
          <p:nvPr/>
        </p:nvSpPr>
        <p:spPr>
          <a:xfrm>
            <a:off x="548640" y="1463040"/>
            <a:ext cx="5440680" cy="3840480"/>
          </a:xfrm>
          <a:prstGeom prst="rect">
            <a:avLst/>
          </a:prstGeom>
          <a:solidFill>
            <a:schemeClr val="bg2"/>
          </a:solidFill>
          <a:ln w="12700">
            <a:solidFill>
              <a:schemeClr val="bg2"/>
            </a:solidFill>
            <a:prstDash val="solid"/>
          </a:ln>
        </p:spPr>
      </p:sp>
      <p:sp>
        <p:nvSpPr>
          <p:cNvPr id="4" name="Text 2"/>
          <p:cNvSpPr txBox="1"/>
          <p:nvPr/>
        </p:nvSpPr>
        <p:spPr>
          <a:xfrm>
            <a:off x="822960" y="1691640"/>
            <a:ext cx="4937760" cy="4023360"/>
          </a:xfrm>
          <a:prstGeom prst="rect">
            <a:avLst/>
          </a:prstGeom>
          <a:noFill/>
          <a:ln/>
        </p:spPr>
        <p:txBody>
          <a:bodyPr wrap="square" lIns="0" tIns="0" rIns="0" bIns="0" rtlCol="0" anchor="t"/>
          <a:lstStyle/>
          <a:p>
            <a:pPr indent="0" marL="0">
              <a:spcAft>
                <a:spcPts val="800"/>
              </a:spcAft>
              <a:buNone/>
            </a:pPr>
            <a:r>
              <a:rPr lang="en-US" sz="2000" b="1" dirty="0">
                <a:solidFill>
                  <a:schemeClr val="accent1"/>
                </a:solidFill>
                <a:latin typeface="Calibri" pitchFamily="34" charset="0"/>
                <a:ea typeface="Calibri" pitchFamily="34" charset="-122"/>
                <a:cs typeface="Calibri" pitchFamily="34" charset="-120"/>
              </a:rPr>
              <a:t>Removed (nothing used it)</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6 retired GUI screens</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Unused productivity-prediction package and its tests</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Unused LLM narrative path (a route for invented numbers, with no caller)</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Duplicate scenarios folder, generated output, empty files</a:t>
            </a:r>
            <a:endParaRPr lang="en-US" sz="1600" dirty="0"/>
          </a:p>
          <a:p>
            <a:pPr marL="342900" indent="-342900">
              <a:buSzPct val="100000"/>
              <a:buChar char="•"/>
            </a:pPr>
            <a:r>
              <a:rPr lang="en-US" sz="1600" dirty="0">
                <a:solidFill>
                  <a:schemeClr val="tx1"/>
                </a:solidFill>
                <a:latin typeface="Calibri" pitchFamily="34" charset="0"/>
                <a:ea typeface="Calibri" pitchFamily="34" charset="-122"/>
                <a:cs typeface="Calibri" pitchFamily="34" charset="-120"/>
              </a:rPr>
              <a:t>Kept: decision layer (Monte Carlo, EMV) pending a scope decision</a:t>
            </a:r>
            <a:endParaRPr lang="en-US" sz="1600" dirty="0"/>
          </a:p>
        </p:txBody>
      </p:sp>
      <p:sp>
        <p:nvSpPr>
          <p:cNvPr id="5" name="controls-card"/>
          <p:cNvSpPr/>
          <p:nvPr/>
        </p:nvSpPr>
        <p:spPr>
          <a:xfrm>
            <a:off x="6172200" y="1463040"/>
            <a:ext cx="5440680" cy="3840480"/>
          </a:xfrm>
          <a:prstGeom prst="rect">
            <a:avLst/>
          </a:prstGeom>
          <a:solidFill>
            <a:schemeClr val="bg2"/>
          </a:solidFill>
          <a:ln w="12700">
            <a:solidFill>
              <a:schemeClr val="bg2"/>
            </a:solidFill>
            <a:prstDash val="solid"/>
          </a:ln>
        </p:spPr>
      </p:sp>
      <p:sp>
        <p:nvSpPr>
          <p:cNvPr id="6" name="Text 4"/>
          <p:cNvSpPr txBox="1"/>
          <p:nvPr/>
        </p:nvSpPr>
        <p:spPr>
          <a:xfrm>
            <a:off x="6446520" y="1691640"/>
            <a:ext cx="4937760" cy="4023360"/>
          </a:xfrm>
          <a:prstGeom prst="rect">
            <a:avLst/>
          </a:prstGeom>
          <a:noFill/>
          <a:ln/>
        </p:spPr>
        <p:txBody>
          <a:bodyPr wrap="square" lIns="0" tIns="0" rIns="0" bIns="0" rtlCol="0" anchor="t"/>
          <a:lstStyle/>
          <a:p>
            <a:pPr indent="0" marL="0">
              <a:spcAft>
                <a:spcPts val="800"/>
              </a:spcAft>
              <a:buNone/>
            </a:pPr>
            <a:r>
              <a:rPr lang="en-US" sz="2000" b="1" dirty="0">
                <a:solidFill>
                  <a:schemeClr val="accent1"/>
                </a:solidFill>
                <a:latin typeface="Calibri" pitchFamily="34" charset="0"/>
                <a:ea typeface="Calibri" pitchFamily="34" charset="-122"/>
                <a:cs typeface="Calibri" pitchFamily="34" charset="-120"/>
              </a:rPr>
              <a:t>Controls against bad data</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Data check over 46 risks, 22 rules, 182 seed rows, 13 catalogue entries: no dangling ids, no value outside (0, 1], no rank contradicting its value</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Warning when a delay exceeds 5x the activity duration (hours entered as days)</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AI suggestions: no numbers accepted; empty or uncited quotes flagged</a:t>
            </a:r>
            <a:endParaRPr lang="en-US" sz="1600" dirty="0"/>
          </a:p>
          <a:p>
            <a:pPr marL="342900" indent="-342900">
              <a:buSzPct val="100000"/>
              <a:buChar char="•"/>
            </a:pPr>
            <a:r>
              <a:rPr lang="en-US" sz="1600" dirty="0">
                <a:solidFill>
                  <a:schemeClr val="tx1"/>
                </a:solidFill>
                <a:latin typeface="Calibri" pitchFamily="34" charset="0"/>
                <a:ea typeface="Calibri" pitchFamily="34" charset="-122"/>
                <a:cs typeface="Calibri" pitchFamily="34" charset="-120"/>
              </a:rPr>
              <a:t>No seed value was edited</a:t>
            </a:r>
            <a:endParaRPr lang="en-US" sz="1600" dirty="0"/>
          </a:p>
        </p:txBody>
      </p:sp>
      <p:sp>
        <p:nvSpPr>
          <p:cNvPr id="7" name="Text 5"/>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Source: docs/Project_Audit_2026-10-13.md; scripts/check_data.py</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Quality, measured</a:t>
            </a:r>
            <a:endParaRPr lang="en-US" sz="3400" dirty="0"/>
          </a:p>
        </p:txBody>
      </p:sp>
      <p:sp>
        <p:nvSpPr>
          <p:cNvPr id="3" name="q-card-1"/>
          <p:cNvSpPr/>
          <p:nvPr/>
        </p:nvSpPr>
        <p:spPr>
          <a:xfrm>
            <a:off x="548640" y="1554480"/>
            <a:ext cx="3474720" cy="2651760"/>
          </a:xfrm>
          <a:prstGeom prst="rect">
            <a:avLst/>
          </a:prstGeom>
          <a:solidFill>
            <a:schemeClr val="bg2"/>
          </a:solidFill>
          <a:ln w="12700">
            <a:solidFill>
              <a:schemeClr val="bg2"/>
            </a:solidFill>
            <a:prstDash val="solid"/>
          </a:ln>
        </p:spPr>
      </p:sp>
      <p:sp>
        <p:nvSpPr>
          <p:cNvPr id="4" name="Text 2"/>
          <p:cNvSpPr txBox="1"/>
          <p:nvPr/>
        </p:nvSpPr>
        <p:spPr>
          <a:xfrm>
            <a:off x="822960" y="1828800"/>
            <a:ext cx="3017520" cy="9144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553 &gt; 600</a:t>
            </a:r>
            <a:endParaRPr lang="en-US" sz="4000" dirty="0"/>
          </a:p>
        </p:txBody>
      </p:sp>
      <p:sp>
        <p:nvSpPr>
          <p:cNvPr id="5" name="Text 3"/>
          <p:cNvSpPr txBox="1"/>
          <p:nvPr/>
        </p:nvSpPr>
        <p:spPr>
          <a:xfrm>
            <a:off x="822960" y="292608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tests passing (3 skipped without local data)</a:t>
            </a:r>
            <a:endParaRPr lang="en-US" sz="1800" dirty="0"/>
          </a:p>
        </p:txBody>
      </p:sp>
      <p:sp>
        <p:nvSpPr>
          <p:cNvPr id="6" name="q-card-2"/>
          <p:cNvSpPr/>
          <p:nvPr/>
        </p:nvSpPr>
        <p:spPr>
          <a:xfrm>
            <a:off x="4297680" y="1554480"/>
            <a:ext cx="3474720" cy="2651760"/>
          </a:xfrm>
          <a:prstGeom prst="rect">
            <a:avLst/>
          </a:prstGeom>
          <a:solidFill>
            <a:schemeClr val="bg2"/>
          </a:solidFill>
          <a:ln w="12700">
            <a:solidFill>
              <a:schemeClr val="bg2"/>
            </a:solidFill>
            <a:prstDash val="solid"/>
          </a:ln>
        </p:spPr>
      </p:sp>
      <p:sp>
        <p:nvSpPr>
          <p:cNvPr id="7" name="Text 5"/>
          <p:cNvSpPr txBox="1"/>
          <p:nvPr/>
        </p:nvSpPr>
        <p:spPr>
          <a:xfrm>
            <a:off x="4572000" y="1828800"/>
            <a:ext cx="3017520" cy="9144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509 &gt; 0 px</a:t>
            </a:r>
            <a:endParaRPr lang="en-US" sz="4000" dirty="0"/>
          </a:p>
        </p:txBody>
      </p:sp>
      <p:sp>
        <p:nvSpPr>
          <p:cNvPr id="8" name="Text 6"/>
          <p:cNvSpPr txBox="1"/>
          <p:nvPr/>
        </p:nvSpPr>
        <p:spPr>
          <a:xfrm>
            <a:off x="4572000" y="292608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sideways scroll on a phone-width screen</a:t>
            </a:r>
            <a:endParaRPr lang="en-US" sz="1800" dirty="0"/>
          </a:p>
        </p:txBody>
      </p:sp>
      <p:sp>
        <p:nvSpPr>
          <p:cNvPr id="9" name="q-card-3"/>
          <p:cNvSpPr/>
          <p:nvPr/>
        </p:nvSpPr>
        <p:spPr>
          <a:xfrm>
            <a:off x="8046720" y="1554480"/>
            <a:ext cx="3474720" cy="2651760"/>
          </a:xfrm>
          <a:prstGeom prst="rect">
            <a:avLst/>
          </a:prstGeom>
          <a:solidFill>
            <a:schemeClr val="bg2"/>
          </a:solidFill>
          <a:ln w="12700">
            <a:solidFill>
              <a:schemeClr val="bg2"/>
            </a:solidFill>
            <a:prstDash val="solid"/>
          </a:ln>
        </p:spPr>
      </p:sp>
      <p:sp>
        <p:nvSpPr>
          <p:cNvPr id="10" name="Text 8"/>
          <p:cNvSpPr txBox="1"/>
          <p:nvPr/>
        </p:nvSpPr>
        <p:spPr>
          <a:xfrm>
            <a:off x="8321040" y="1828800"/>
            <a:ext cx="3017520" cy="9144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Identical</a:t>
            </a:r>
            <a:endParaRPr lang="en-US" sz="4000" dirty="0"/>
          </a:p>
        </p:txBody>
      </p:sp>
      <p:sp>
        <p:nvSpPr>
          <p:cNvPr id="11" name="Text 9"/>
          <p:cNvSpPr txBox="1"/>
          <p:nvPr/>
        </p:nvSpPr>
        <p:spPr>
          <a:xfrm>
            <a:off x="8321040" y="292608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outputs across three Python hash seeds</a:t>
            </a:r>
            <a:endParaRPr lang="en-US" sz="1800" dirty="0"/>
          </a:p>
        </p:txBody>
      </p:sp>
      <p:sp>
        <p:nvSpPr>
          <p:cNvPr id="12" name="Text 10"/>
          <p:cNvSpPr txBox="1"/>
          <p:nvPr/>
        </p:nvSpPr>
        <p:spPr>
          <a:xfrm>
            <a:off x="548640" y="4572000"/>
            <a:ext cx="1106424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Static checks (flake8) are clean on app, gui and tests apart from one unused import in a legacy test. Each fix has a test or a command that shows it.</a:t>
            </a:r>
            <a:endParaRPr lang="en-US" sz="1800" dirty="0"/>
          </a:p>
        </p:txBody>
      </p:sp>
      <p:sp>
        <p:nvSpPr>
          <p:cNvPr id="13" name="Text 11"/>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Source: pytest, scripts/golden_hash.py, scripts/gui_layout_check.py, run 2026-10-13</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What we cannot claim yet</a:t>
            </a:r>
            <a:endParaRPr lang="en-US" sz="3400" dirty="0"/>
          </a:p>
        </p:txBody>
      </p:sp>
      <p:sp>
        <p:nvSpPr>
          <p:cNvPr id="3" name="limit-row-1"/>
          <p:cNvSpPr/>
          <p:nvPr/>
        </p:nvSpPr>
        <p:spPr>
          <a:xfrm>
            <a:off x="548640" y="1463040"/>
            <a:ext cx="11064240" cy="960120"/>
          </a:xfrm>
          <a:prstGeom prst="rect">
            <a:avLst/>
          </a:prstGeom>
          <a:solidFill>
            <a:schemeClr val="bg2"/>
          </a:solidFill>
          <a:ln w="12700">
            <a:solidFill>
              <a:schemeClr val="bg2"/>
            </a:solidFill>
            <a:prstDash val="solid"/>
          </a:ln>
        </p:spPr>
      </p:sp>
      <p:sp>
        <p:nvSpPr>
          <p:cNvPr id="4" name="Text 2"/>
          <p:cNvSpPr txBox="1"/>
          <p:nvPr/>
        </p:nvSpPr>
        <p:spPr>
          <a:xfrm>
            <a:off x="822960" y="1554480"/>
            <a:ext cx="3291840" cy="7772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No site test yet</a:t>
            </a:r>
            <a:endParaRPr lang="en-US" sz="2000" dirty="0"/>
          </a:p>
        </p:txBody>
      </p:sp>
      <p:sp>
        <p:nvSpPr>
          <p:cNvPr id="5" name="Text 3"/>
          <p:cNvSpPr txBox="1"/>
          <p:nvPr/>
        </p:nvSpPr>
        <p:spPr>
          <a:xfrm>
            <a:off x="4297680" y="1554480"/>
            <a:ext cx="7040880" cy="777240"/>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All outputs rest on literature rankings and entered assumptions.</a:t>
            </a:r>
            <a:endParaRPr lang="en-US" sz="1700" dirty="0"/>
          </a:p>
        </p:txBody>
      </p:sp>
      <p:sp>
        <p:nvSpPr>
          <p:cNvPr id="6" name="limit-row-2"/>
          <p:cNvSpPr/>
          <p:nvPr/>
        </p:nvSpPr>
        <p:spPr>
          <a:xfrm>
            <a:off x="548640" y="2560320"/>
            <a:ext cx="11064240" cy="960120"/>
          </a:xfrm>
          <a:prstGeom prst="rect">
            <a:avLst/>
          </a:prstGeom>
          <a:solidFill>
            <a:schemeClr val="bg2"/>
          </a:solidFill>
          <a:ln w="12700">
            <a:solidFill>
              <a:schemeClr val="bg2"/>
            </a:solidFill>
            <a:prstDash val="solid"/>
          </a:ln>
        </p:spPr>
      </p:sp>
      <p:sp>
        <p:nvSpPr>
          <p:cNvPr id="7" name="Text 5"/>
          <p:cNvSpPr txBox="1"/>
          <p:nvPr/>
        </p:nvSpPr>
        <p:spPr>
          <a:xfrm>
            <a:off x="822960" y="2651760"/>
            <a:ext cx="3291840" cy="7772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Thin literature base</a:t>
            </a:r>
            <a:endParaRPr lang="en-US" sz="2000" dirty="0"/>
          </a:p>
        </p:txBody>
      </p:sp>
      <p:sp>
        <p:nvSpPr>
          <p:cNvPr id="8" name="Text 6"/>
          <p:cNvSpPr txBox="1"/>
          <p:nvPr/>
        </p:nvSpPr>
        <p:spPr>
          <a:xfrm>
            <a:off x="4297680" y="2651760"/>
            <a:ext cx="7040880" cy="777240"/>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14 of 30 seeded risks rest on one study; neighbouring ranks are nearly tied.</a:t>
            </a:r>
            <a:endParaRPr lang="en-US" sz="1700" dirty="0"/>
          </a:p>
        </p:txBody>
      </p:sp>
      <p:sp>
        <p:nvSpPr>
          <p:cNvPr id="9" name="limit-row-3"/>
          <p:cNvSpPr/>
          <p:nvPr/>
        </p:nvSpPr>
        <p:spPr>
          <a:xfrm>
            <a:off x="548640" y="3657600"/>
            <a:ext cx="11064240" cy="960120"/>
          </a:xfrm>
          <a:prstGeom prst="rect">
            <a:avLst/>
          </a:prstGeom>
          <a:solidFill>
            <a:schemeClr val="bg2"/>
          </a:solidFill>
          <a:ln w="12700">
            <a:solidFill>
              <a:schemeClr val="bg2"/>
            </a:solidFill>
            <a:prstDash val="solid"/>
          </a:ln>
        </p:spPr>
      </p:sp>
      <p:sp>
        <p:nvSpPr>
          <p:cNvPr id="10" name="Text 8"/>
          <p:cNvSpPr txBox="1"/>
          <p:nvPr/>
        </p:nvSpPr>
        <p:spPr>
          <a:xfrm>
            <a:off x="822960" y="3749040"/>
            <a:ext cx="3291840" cy="7772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Corpus figures disagree</a:t>
            </a:r>
            <a:endParaRPr lang="en-US" sz="2000" dirty="0"/>
          </a:p>
        </p:txBody>
      </p:sp>
      <p:sp>
        <p:nvSpPr>
          <p:cNvPr id="11" name="Text 9"/>
          <p:cNvSpPr txBox="1"/>
          <p:nvPr/>
        </p:nvSpPr>
        <p:spPr>
          <a:xfrm>
            <a:off x="4297680" y="3749040"/>
            <a:ext cx="7040880" cy="777240"/>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Reports quote different record counts; 761 works await review.</a:t>
            </a:r>
            <a:endParaRPr lang="en-US" sz="1700" dirty="0"/>
          </a:p>
        </p:txBody>
      </p:sp>
      <p:sp>
        <p:nvSpPr>
          <p:cNvPr id="12" name="limit-row-4"/>
          <p:cNvSpPr/>
          <p:nvPr/>
        </p:nvSpPr>
        <p:spPr>
          <a:xfrm>
            <a:off x="548640" y="4754880"/>
            <a:ext cx="11064240" cy="960120"/>
          </a:xfrm>
          <a:prstGeom prst="rect">
            <a:avLst/>
          </a:prstGeom>
          <a:solidFill>
            <a:schemeClr val="bg2"/>
          </a:solidFill>
          <a:ln w="12700">
            <a:solidFill>
              <a:schemeClr val="bg2"/>
            </a:solidFill>
            <a:prstDash val="solid"/>
          </a:ln>
        </p:spPr>
      </p:sp>
      <p:sp>
        <p:nvSpPr>
          <p:cNvPr id="13" name="Text 11"/>
          <p:cNvSpPr txBox="1"/>
          <p:nvPr/>
        </p:nvSpPr>
        <p:spPr>
          <a:xfrm>
            <a:off x="822960" y="4846320"/>
            <a:ext cx="3291840" cy="7772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Survey not run</a:t>
            </a:r>
            <a:endParaRPr lang="en-US" sz="2000" dirty="0"/>
          </a:p>
        </p:txBody>
      </p:sp>
      <p:sp>
        <p:nvSpPr>
          <p:cNvPr id="14" name="Text 12"/>
          <p:cNvSpPr txBox="1"/>
          <p:nvPr/>
        </p:nvSpPr>
        <p:spPr>
          <a:xfrm>
            <a:off x="4297680" y="4846320"/>
            <a:ext cx="7040880" cy="777240"/>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No expert survey yet; factor-to-risk mapping has one coder.</a:t>
            </a:r>
            <a:endParaRPr lang="en-US" sz="1700" dirty="0"/>
          </a:p>
        </p:txBody>
      </p:sp>
      <p:sp>
        <p:nvSpPr>
          <p:cNvPr id="15" name="Text 13"/>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Source: Project_Audit_2026-10-13.md; lead_D.md</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Next: test against site data</a:t>
            </a:r>
            <a:endParaRPr lang="en-US" sz="3400" dirty="0"/>
          </a:p>
        </p:txBody>
      </p:sp>
      <p:sp>
        <p:nvSpPr>
          <p:cNvPr id="3" name="Text 1"/>
          <p:cNvSpPr txBox="1"/>
          <p:nvPr/>
        </p:nvSpPr>
        <p:spPr>
          <a:xfrm>
            <a:off x="548640" y="1371600"/>
            <a:ext cx="11064240" cy="822960"/>
          </a:xfrm>
          <a:prstGeom prst="rect">
            <a:avLst/>
          </a:prstGeom>
          <a:noFill/>
          <a:ln/>
        </p:spPr>
        <p:txBody>
          <a:bodyPr wrap="square" lIns="0" tIns="0" rIns="0" bIns="0" rtlCol="0" anchor="t"/>
          <a:lstStyle/>
          <a:p>
            <a:pPr indent="0" marL="0">
              <a:buNone/>
            </a:pPr>
            <a:r>
              <a:rPr lang="en-US" sz="2200" dirty="0">
                <a:solidFill>
                  <a:schemeClr val="bg2"/>
                </a:solidFill>
                <a:latin typeface="Calibri" pitchFamily="34" charset="0"/>
                <a:ea typeface="Calibri" pitchFamily="34" charset="-122"/>
                <a:cs typeface="Calibri" pitchFamily="34" charset="-120"/>
              </a:rPr>
              <a:t>Planned, not started. The baseline will be a real schedule from one site, exported from MS Project or Primavera.</a:t>
            </a:r>
            <a:endParaRPr lang="en-US" sz="2200" dirty="0"/>
          </a:p>
        </p:txBody>
      </p:sp>
      <p:sp>
        <p:nvSpPr>
          <p:cNvPr id="4" name="next-card-1"/>
          <p:cNvSpPr/>
          <p:nvPr/>
        </p:nvSpPr>
        <p:spPr>
          <a:xfrm>
            <a:off x="548640" y="2651760"/>
            <a:ext cx="2606040" cy="3200400"/>
          </a:xfrm>
          <a:prstGeom prst="rect">
            <a:avLst/>
          </a:prstGeom>
          <a:solidFill>
            <a:schemeClr val="accent1"/>
          </a:solidFill>
          <a:ln w="12700">
            <a:solidFill>
              <a:schemeClr val="accent1"/>
            </a:solidFill>
            <a:prstDash val="solid"/>
          </a:ln>
        </p:spPr>
      </p:sp>
      <p:sp>
        <p:nvSpPr>
          <p:cNvPr id="5" name="Text 3"/>
          <p:cNvSpPr txBox="1"/>
          <p:nvPr/>
        </p:nvSpPr>
        <p:spPr>
          <a:xfrm>
            <a:off x="777240" y="2788920"/>
            <a:ext cx="914400" cy="7315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777240" y="3566160"/>
            <a:ext cx="2194560" cy="457200"/>
          </a:xfrm>
          <a:prstGeom prst="rect">
            <a:avLst/>
          </a:prstGeom>
          <a:noFill/>
          <a:ln/>
        </p:spPr>
        <p:txBody>
          <a:bodyPr wrap="square" lIns="0" tIns="0" rIns="0" bIns="0" rtlCol="0" anchor="t"/>
          <a:lstStyle/>
          <a:p>
            <a:pPr indent="0" marL="0">
              <a:buNone/>
            </a:pPr>
            <a:r>
              <a:rPr lang="en-US" sz="2200" b="1" dirty="0">
                <a:solidFill>
                  <a:schemeClr val="bg1"/>
                </a:solidFill>
                <a:latin typeface="Calibri" pitchFamily="34" charset="0"/>
                <a:ea typeface="Calibri" pitchFamily="34" charset="-122"/>
                <a:cs typeface="Calibri" pitchFamily="34" charset="-120"/>
              </a:rPr>
              <a:t>Obtain</a:t>
            </a:r>
            <a:endParaRPr lang="en-US" sz="2200" dirty="0"/>
          </a:p>
        </p:txBody>
      </p:sp>
      <p:sp>
        <p:nvSpPr>
          <p:cNvPr id="7" name="Text 5"/>
          <p:cNvSpPr txBox="1"/>
          <p:nvPr/>
        </p:nvSpPr>
        <p:spPr>
          <a:xfrm>
            <a:off x="777240" y="4114800"/>
            <a:ext cx="2194560" cy="164592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Planned vs actual dates and the delay log, anonymised, with the site's permission</a:t>
            </a:r>
            <a:endParaRPr lang="en-US" sz="1500" dirty="0"/>
          </a:p>
        </p:txBody>
      </p:sp>
      <p:sp>
        <p:nvSpPr>
          <p:cNvPr id="8" name="next-card-2"/>
          <p:cNvSpPr/>
          <p:nvPr/>
        </p:nvSpPr>
        <p:spPr>
          <a:xfrm>
            <a:off x="3355848" y="2651760"/>
            <a:ext cx="2606040" cy="3200400"/>
          </a:xfrm>
          <a:prstGeom prst="rect">
            <a:avLst/>
          </a:prstGeom>
          <a:solidFill>
            <a:schemeClr val="accent1"/>
          </a:solidFill>
          <a:ln w="12700">
            <a:solidFill>
              <a:schemeClr val="accent1"/>
            </a:solidFill>
            <a:prstDash val="solid"/>
          </a:ln>
        </p:spPr>
      </p:sp>
      <p:sp>
        <p:nvSpPr>
          <p:cNvPr id="9" name="Text 7"/>
          <p:cNvSpPr txBox="1"/>
          <p:nvPr/>
        </p:nvSpPr>
        <p:spPr>
          <a:xfrm>
            <a:off x="3584448" y="2788920"/>
            <a:ext cx="914400" cy="7315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2</a:t>
            </a:r>
            <a:endParaRPr lang="en-US" sz="4000" dirty="0"/>
          </a:p>
        </p:txBody>
      </p:sp>
      <p:sp>
        <p:nvSpPr>
          <p:cNvPr id="10" name="Text 8"/>
          <p:cNvSpPr txBox="1"/>
          <p:nvPr/>
        </p:nvSpPr>
        <p:spPr>
          <a:xfrm>
            <a:off x="3584448" y="3566160"/>
            <a:ext cx="2194560" cy="457200"/>
          </a:xfrm>
          <a:prstGeom prst="rect">
            <a:avLst/>
          </a:prstGeom>
          <a:noFill/>
          <a:ln/>
        </p:spPr>
        <p:txBody>
          <a:bodyPr wrap="square" lIns="0" tIns="0" rIns="0" bIns="0" rtlCol="0" anchor="t"/>
          <a:lstStyle/>
          <a:p>
            <a:pPr indent="0" marL="0">
              <a:buNone/>
            </a:pPr>
            <a:r>
              <a:rPr lang="en-US" sz="2200" b="1" dirty="0">
                <a:solidFill>
                  <a:schemeClr val="bg1"/>
                </a:solidFill>
                <a:latin typeface="Calibri" pitchFamily="34" charset="0"/>
                <a:ea typeface="Calibri" pitchFamily="34" charset="-122"/>
                <a:cs typeface="Calibri" pitchFamily="34" charset="-120"/>
              </a:rPr>
              <a:t>Map</a:t>
            </a:r>
            <a:endParaRPr lang="en-US" sz="2200" dirty="0"/>
          </a:p>
        </p:txBody>
      </p:sp>
      <p:sp>
        <p:nvSpPr>
          <p:cNvPr id="11" name="Text 9"/>
          <p:cNvSpPr txBox="1"/>
          <p:nvPr/>
        </p:nvSpPr>
        <p:spPr>
          <a:xfrm>
            <a:off x="3584448" y="4114800"/>
            <a:ext cx="2194560" cy="164592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Code each logged delay cause to a library risk; two coders, agreement reported</a:t>
            </a:r>
            <a:endParaRPr lang="en-US" sz="1500" dirty="0"/>
          </a:p>
        </p:txBody>
      </p:sp>
      <p:sp>
        <p:nvSpPr>
          <p:cNvPr id="12" name="next-card-3"/>
          <p:cNvSpPr/>
          <p:nvPr/>
        </p:nvSpPr>
        <p:spPr>
          <a:xfrm>
            <a:off x="6163056" y="2651760"/>
            <a:ext cx="2606040" cy="3200400"/>
          </a:xfrm>
          <a:prstGeom prst="rect">
            <a:avLst/>
          </a:prstGeom>
          <a:solidFill>
            <a:schemeClr val="accent1"/>
          </a:solidFill>
          <a:ln w="12700">
            <a:solidFill>
              <a:schemeClr val="accent1"/>
            </a:solidFill>
            <a:prstDash val="solid"/>
          </a:ln>
        </p:spPr>
      </p:sp>
      <p:sp>
        <p:nvSpPr>
          <p:cNvPr id="13" name="Text 11"/>
          <p:cNvSpPr txBox="1"/>
          <p:nvPr/>
        </p:nvSpPr>
        <p:spPr>
          <a:xfrm>
            <a:off x="6391656" y="2788920"/>
            <a:ext cx="914400" cy="7315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3</a:t>
            </a:r>
            <a:endParaRPr lang="en-US" sz="4000" dirty="0"/>
          </a:p>
        </p:txBody>
      </p:sp>
      <p:sp>
        <p:nvSpPr>
          <p:cNvPr id="14" name="Text 12"/>
          <p:cNvSpPr txBox="1"/>
          <p:nvPr/>
        </p:nvSpPr>
        <p:spPr>
          <a:xfrm>
            <a:off x="6391656" y="3566160"/>
            <a:ext cx="2194560" cy="457200"/>
          </a:xfrm>
          <a:prstGeom prst="rect">
            <a:avLst/>
          </a:prstGeom>
          <a:noFill/>
          <a:ln/>
        </p:spPr>
        <p:txBody>
          <a:bodyPr wrap="square" lIns="0" tIns="0" rIns="0" bIns="0" rtlCol="0" anchor="t"/>
          <a:lstStyle/>
          <a:p>
            <a:pPr indent="0" marL="0">
              <a:buNone/>
            </a:pPr>
            <a:r>
              <a:rPr lang="en-US" sz="2200" b="1" dirty="0">
                <a:solidFill>
                  <a:schemeClr val="bg1"/>
                </a:solidFill>
                <a:latin typeface="Calibri" pitchFamily="34" charset="0"/>
                <a:ea typeface="Calibri" pitchFamily="34" charset="-122"/>
                <a:cs typeface="Calibri" pitchFamily="34" charset="-120"/>
              </a:rPr>
              <a:t>Compare</a:t>
            </a:r>
            <a:endParaRPr lang="en-US" sz="2200" dirty="0"/>
          </a:p>
        </p:txBody>
      </p:sp>
      <p:sp>
        <p:nvSpPr>
          <p:cNvPr id="15" name="Text 13"/>
          <p:cNvSpPr txBox="1"/>
          <p:nvPr/>
        </p:nvSpPr>
        <p:spPr>
          <a:xfrm>
            <a:off x="6391656" y="4114800"/>
            <a:ext cx="2194560" cy="164592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Run the tool on the same activity; compare its ranking and flags with what happened</a:t>
            </a:r>
            <a:endParaRPr lang="en-US" sz="1500" dirty="0"/>
          </a:p>
        </p:txBody>
      </p:sp>
      <p:sp>
        <p:nvSpPr>
          <p:cNvPr id="16" name="next-card-4"/>
          <p:cNvSpPr/>
          <p:nvPr/>
        </p:nvSpPr>
        <p:spPr>
          <a:xfrm>
            <a:off x="8970264" y="2651760"/>
            <a:ext cx="2606040" cy="3200400"/>
          </a:xfrm>
          <a:prstGeom prst="rect">
            <a:avLst/>
          </a:prstGeom>
          <a:solidFill>
            <a:schemeClr val="accent1"/>
          </a:solidFill>
          <a:ln w="12700">
            <a:solidFill>
              <a:schemeClr val="accent1"/>
            </a:solidFill>
            <a:prstDash val="solid"/>
          </a:ln>
        </p:spPr>
      </p:sp>
      <p:sp>
        <p:nvSpPr>
          <p:cNvPr id="17" name="Text 15"/>
          <p:cNvSpPr txBox="1"/>
          <p:nvPr/>
        </p:nvSpPr>
        <p:spPr>
          <a:xfrm>
            <a:off x="9198864" y="2788920"/>
            <a:ext cx="914400" cy="7315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4</a:t>
            </a:r>
            <a:endParaRPr lang="en-US" sz="4000" dirty="0"/>
          </a:p>
        </p:txBody>
      </p:sp>
      <p:sp>
        <p:nvSpPr>
          <p:cNvPr id="18" name="Text 16"/>
          <p:cNvSpPr txBox="1"/>
          <p:nvPr/>
        </p:nvSpPr>
        <p:spPr>
          <a:xfrm>
            <a:off x="9198864" y="3566160"/>
            <a:ext cx="2194560" cy="457200"/>
          </a:xfrm>
          <a:prstGeom prst="rect">
            <a:avLst/>
          </a:prstGeom>
          <a:noFill/>
          <a:ln/>
        </p:spPr>
        <p:txBody>
          <a:bodyPr wrap="square" lIns="0" tIns="0" rIns="0" bIns="0" rtlCol="0" anchor="t"/>
          <a:lstStyle/>
          <a:p>
            <a:pPr indent="0" marL="0">
              <a:buNone/>
            </a:pPr>
            <a:r>
              <a:rPr lang="en-US" sz="2200" b="1" dirty="0">
                <a:solidFill>
                  <a:schemeClr val="bg1"/>
                </a:solidFill>
                <a:latin typeface="Calibri" pitchFamily="34" charset="0"/>
                <a:ea typeface="Calibri" pitchFamily="34" charset="-122"/>
                <a:cs typeface="Calibri" pitchFamily="34" charset="-120"/>
              </a:rPr>
              <a:t>Report</a:t>
            </a:r>
            <a:endParaRPr lang="en-US" sz="2200" dirty="0"/>
          </a:p>
        </p:txBody>
      </p:sp>
      <p:sp>
        <p:nvSpPr>
          <p:cNvPr id="19" name="Text 17"/>
          <p:cNvSpPr txBox="1"/>
          <p:nvPr/>
        </p:nvSpPr>
        <p:spPr>
          <a:xfrm>
            <a:off x="9198864" y="4114800"/>
            <a:ext cx="2194560" cy="164592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State agreement with its uncertainty; no claim of validation</a:t>
            </a:r>
            <a:endParaRPr lang="en-US" sz="15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How the comparison will work</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00400"/>
                <a:gridCol w="5120640"/>
                <a:gridCol w="274320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latin typeface="Calibri" charset="0"/>
                        <a:ea typeface="Calibri" charset="0"/>
                        <a:cs typeface="Calibri" charset="0"/>
                      </a:endParaRPr>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8504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Proposed method</a:t>
                      </a:r>
                      <a:endParaRPr lang="en-US" sz="1500" dirty="0">
                        <a:latin typeface="Calibri" charset="0"/>
                        <a:ea typeface="Calibri" charset="0"/>
                        <a:cs typeface="Calibri" charset="0"/>
                      </a:endParaRPr>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8504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Reported as</a:t>
                      </a:r>
                      <a:endParaRPr lang="en-US" sz="1500" dirty="0">
                        <a:latin typeface="Calibri" charset="0"/>
                        <a:ea typeface="Calibri" charset="0"/>
                        <a:cs typeface="Calibri" charset="0"/>
                      </a:endParaRPr>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85042"/>
                    </a:solidFill>
                  </a:tcPr>
                </a:tc>
              </a:tr>
              <a:tr h="1051560">
                <a:tc>
                  <a:txBody>
                    <a:bodyPr/>
                    <a:lstStyle/>
                    <a:p>
                      <a:pPr indent="0" marL="0">
                        <a:buNone/>
                      </a:pPr>
                      <a:r>
                        <a:rPr lang="en-US" sz="1400" b="1" dirty="0">
                          <a:solidFill>
                            <a:srgbClr val="2B2522"/>
                          </a:solidFill>
                          <a:latin typeface="Calibri" pitchFamily="34" charset="0"/>
                          <a:ea typeface="Calibri" pitchFamily="34" charset="-122"/>
                          <a:cs typeface="Calibri" pitchFamily="34" charset="-120"/>
                        </a:rPr>
                        <a:t>Does the tool's risk ranking match what delayed the site?</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c>
                  <a:txBody>
                    <a:bodyPr/>
                    <a:lstStyle/>
                    <a:p>
                      <a:pPr indent="0" marL="0">
                        <a:buNone/>
                      </a:pPr>
                      <a:r>
                        <a:rPr lang="en-US" sz="1400" dirty="0">
                          <a:solidFill>
                            <a:srgbClr val="2B2522"/>
                          </a:solidFill>
                          <a:latin typeface="Calibri" pitchFamily="34" charset="0"/>
                          <a:ea typeface="Calibri" pitchFamily="34" charset="-122"/>
                          <a:cs typeface="Calibri" pitchFamily="34" charset="-120"/>
                        </a:rPr>
                        <a:t>Rank agreement (Spearman) against observed delay days per cause; permutation p-value with correction</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c>
                  <a:txBody>
                    <a:bodyPr/>
                    <a:lstStyle/>
                    <a:p>
                      <a:pPr indent="0" marL="0">
                        <a:buNone/>
                      </a:pPr>
                      <a:r>
                        <a:rPr lang="en-US" sz="1400" dirty="0">
                          <a:solidFill>
                            <a:srgbClr val="2B2522"/>
                          </a:solidFill>
                          <a:latin typeface="Calibri" pitchFamily="34" charset="0"/>
                          <a:ea typeface="Calibri" pitchFamily="34" charset="-122"/>
                          <a:cs typeface="Calibri" pitchFamily="34" charset="-120"/>
                        </a:rPr>
                        <a:t>Agreement with its uncertainty and n</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r>
              <a:tr h="1051560">
                <a:tc>
                  <a:txBody>
                    <a:bodyPr/>
                    <a:lstStyle/>
                    <a:p>
                      <a:pPr indent="0" marL="0">
                        <a:buNone/>
                      </a:pPr>
                      <a:r>
                        <a:rPr lang="en-US" sz="1400" b="1" dirty="0">
                          <a:solidFill>
                            <a:srgbClr val="2B2522"/>
                          </a:solidFill>
                          <a:latin typeface="Calibri" pitchFamily="34" charset="0"/>
                          <a:ea typeface="Calibri" pitchFamily="34" charset="-122"/>
                          <a:cs typeface="Calibri" pitchFamily="34" charset="-120"/>
                        </a:rPr>
                        <a:t>Do the rule flags coincide with real events?</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c>
                  <a:txBody>
                    <a:bodyPr/>
                    <a:lstStyle/>
                    <a:p>
                      <a:pPr indent="0" marL="0">
                        <a:buNone/>
                      </a:pPr>
                      <a:r>
                        <a:rPr lang="en-US" sz="1400" dirty="0">
                          <a:solidFill>
                            <a:srgbClr val="2B2522"/>
                          </a:solidFill>
                          <a:latin typeface="Calibri" pitchFamily="34" charset="0"/>
                          <a:ea typeface="Calibri" pitchFamily="34" charset="-122"/>
                          <a:cs typeface="Calibri" pitchFamily="34" charset="-120"/>
                        </a:rPr>
                        <a:t>Count flagged risks that appear in the delay log, and logged causes the rules missed</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c>
                  <a:txBody>
                    <a:bodyPr/>
                    <a:lstStyle/>
                    <a:p>
                      <a:pPr indent="0" marL="0">
                        <a:buNone/>
                      </a:pPr>
                      <a:r>
                        <a:rPr lang="en-US" sz="1400" dirty="0">
                          <a:solidFill>
                            <a:srgbClr val="2B2522"/>
                          </a:solidFill>
                          <a:latin typeface="Calibri" pitchFamily="34" charset="0"/>
                          <a:ea typeface="Calibri" pitchFamily="34" charset="-122"/>
                          <a:cs typeface="Calibri" pitchFamily="34" charset="-120"/>
                        </a:rPr>
                        <a:t>Hits and misses, listed</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r>
              <a:tr h="1051560">
                <a:tc>
                  <a:txBody>
                    <a:bodyPr/>
                    <a:lstStyle/>
                    <a:p>
                      <a:pPr indent="0" marL="0">
                        <a:buNone/>
                      </a:pPr>
                      <a:r>
                        <a:rPr lang="en-US" sz="1400" b="1" dirty="0">
                          <a:solidFill>
                            <a:srgbClr val="2B2522"/>
                          </a:solidFill>
                          <a:latin typeface="Calibri" pitchFamily="34" charset="0"/>
                          <a:ea typeface="Calibri" pitchFamily="34" charset="-122"/>
                          <a:cs typeface="Calibri" pitchFamily="34" charset="-120"/>
                        </a:rPr>
                        <a:t>Do site numbers give sensible levels?</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c>
                  <a:txBody>
                    <a:bodyPr/>
                    <a:lstStyle/>
                    <a:p>
                      <a:pPr indent="0" marL="0">
                        <a:buNone/>
                      </a:pPr>
                      <a:r>
                        <a:rPr lang="en-US" sz="1400" dirty="0">
                          <a:solidFill>
                            <a:srgbClr val="2B2522"/>
                          </a:solidFill>
                          <a:latin typeface="Calibri" pitchFamily="34" charset="0"/>
                          <a:ea typeface="Calibri" pitchFamily="34" charset="-122"/>
                          <a:cs typeface="Calibri" pitchFamily="34" charset="-120"/>
                        </a:rPr>
                        <a:t>Re-run with p and delay taken from the schedule; compare matrix levels with the actual slip</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c>
                  <a:txBody>
                    <a:bodyPr/>
                    <a:lstStyle/>
                    <a:p>
                      <a:pPr indent="0" marL="0">
                        <a:buNone/>
                      </a:pPr>
                      <a:r>
                        <a:rPr lang="en-US" sz="1400" dirty="0">
                          <a:solidFill>
                            <a:srgbClr val="2B2522"/>
                          </a:solidFill>
                          <a:latin typeface="Calibri" pitchFamily="34" charset="0"/>
                          <a:ea typeface="Calibri" pitchFamily="34" charset="-122"/>
                          <a:cs typeface="Calibri" pitchFamily="34" charset="-120"/>
                        </a:rPr>
                        <a:t>Before and after matrix</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EEEA"/>
                    </a:solidFill>
                  </a:tcPr>
                </a:tc>
              </a:tr>
            </a:tbl>
          </a:graphicData>
        </a:graphic>
      </p:graphicFrame>
      <p:sp>
        <p:nvSpPr>
          <p:cNvPr id="4" name="Text 1"/>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600" i="1" dirty="0">
                <a:solidFill>
                  <a:schemeClr val="tx2"/>
                </a:solidFill>
                <a:latin typeface="Calibri" pitchFamily="34" charset="0"/>
                <a:ea typeface="Calibri" pitchFamily="34" charset="-122"/>
                <a:cs typeface="Calibri" pitchFamily="34" charset="-120"/>
              </a:rPr>
              <a:t>Proposed protocol; the statistical method is an open decision for the supervisor. Needs: the schedule file, permission, and a second coder.</a:t>
            </a:r>
            <a:endParaRPr lang="en-US" sz="16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Decisions we need</a:t>
            </a:r>
            <a:endParaRPr lang="en-US" sz="3400" dirty="0"/>
          </a:p>
        </p:txBody>
      </p:sp>
      <p:sp>
        <p:nvSpPr>
          <p:cNvPr id="3" name="decision-row-1"/>
          <p:cNvSpPr/>
          <p:nvPr/>
        </p:nvSpPr>
        <p:spPr>
          <a:xfrm>
            <a:off x="548640" y="1463040"/>
            <a:ext cx="11064240" cy="960120"/>
          </a:xfrm>
          <a:prstGeom prst="rect">
            <a:avLst/>
          </a:prstGeom>
          <a:solidFill>
            <a:schemeClr val="bg2"/>
          </a:solidFill>
          <a:ln w="12700">
            <a:solidFill>
              <a:schemeClr val="bg2"/>
            </a:solidFill>
            <a:prstDash val="solid"/>
          </a:ln>
        </p:spPr>
      </p:sp>
      <p:sp>
        <p:nvSpPr>
          <p:cNvPr id="4" name="Text 2"/>
          <p:cNvSpPr txBox="1"/>
          <p:nvPr/>
        </p:nvSpPr>
        <p:spPr>
          <a:xfrm>
            <a:off x="822960" y="1554480"/>
            <a:ext cx="2560320" cy="7772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Scope</a:t>
            </a:r>
            <a:endParaRPr lang="en-US" sz="2000" dirty="0"/>
          </a:p>
        </p:txBody>
      </p:sp>
      <p:sp>
        <p:nvSpPr>
          <p:cNvPr id="5" name="Text 3"/>
          <p:cNvSpPr txBox="1"/>
          <p:nvPr/>
        </p:nvSpPr>
        <p:spPr>
          <a:xfrm>
            <a:off x="3566160" y="1554480"/>
            <a:ext cx="7772400" cy="777240"/>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Keep the cost and decision layer, or limit to identify, register, matrix? The official title describes a larger scope.</a:t>
            </a:r>
            <a:endParaRPr lang="en-US" sz="1700" dirty="0"/>
          </a:p>
        </p:txBody>
      </p:sp>
      <p:sp>
        <p:nvSpPr>
          <p:cNvPr id="6" name="decision-row-2"/>
          <p:cNvSpPr/>
          <p:nvPr/>
        </p:nvSpPr>
        <p:spPr>
          <a:xfrm>
            <a:off x="548640" y="2560320"/>
            <a:ext cx="11064240" cy="960120"/>
          </a:xfrm>
          <a:prstGeom prst="rect">
            <a:avLst/>
          </a:prstGeom>
          <a:solidFill>
            <a:schemeClr val="bg2"/>
          </a:solidFill>
          <a:ln w="12700">
            <a:solidFill>
              <a:schemeClr val="bg2"/>
            </a:solidFill>
            <a:prstDash val="solid"/>
          </a:ln>
        </p:spPr>
      </p:sp>
      <p:sp>
        <p:nvSpPr>
          <p:cNvPr id="7" name="Text 5"/>
          <p:cNvSpPr txBox="1"/>
          <p:nvPr/>
        </p:nvSpPr>
        <p:spPr>
          <a:xfrm>
            <a:off x="822960" y="2651760"/>
            <a:ext cx="2560320" cy="7772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Site data</a:t>
            </a:r>
            <a:endParaRPr lang="en-US" sz="2000" dirty="0"/>
          </a:p>
        </p:txBody>
      </p:sp>
      <p:sp>
        <p:nvSpPr>
          <p:cNvPr id="8" name="Text 6"/>
          <p:cNvSpPr txBox="1"/>
          <p:nvPr/>
        </p:nvSpPr>
        <p:spPr>
          <a:xfrm>
            <a:off x="3566160" y="2651760"/>
            <a:ext cx="7772400" cy="777240"/>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Which site, which schedule export, and permission to use it.</a:t>
            </a:r>
            <a:endParaRPr lang="en-US" sz="1700" dirty="0"/>
          </a:p>
        </p:txBody>
      </p:sp>
      <p:sp>
        <p:nvSpPr>
          <p:cNvPr id="9" name="decision-row-3"/>
          <p:cNvSpPr/>
          <p:nvPr/>
        </p:nvSpPr>
        <p:spPr>
          <a:xfrm>
            <a:off x="548640" y="3657600"/>
            <a:ext cx="11064240" cy="960120"/>
          </a:xfrm>
          <a:prstGeom prst="rect">
            <a:avLst/>
          </a:prstGeom>
          <a:solidFill>
            <a:schemeClr val="bg2"/>
          </a:solidFill>
          <a:ln w="12700">
            <a:solidFill>
              <a:schemeClr val="bg2"/>
            </a:solidFill>
            <a:prstDash val="solid"/>
          </a:ln>
        </p:spPr>
      </p:sp>
      <p:sp>
        <p:nvSpPr>
          <p:cNvPr id="10" name="Text 8"/>
          <p:cNvSpPr txBox="1"/>
          <p:nvPr/>
        </p:nvSpPr>
        <p:spPr>
          <a:xfrm>
            <a:off x="822960" y="3749040"/>
            <a:ext cx="2560320" cy="7772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Corpus figure</a:t>
            </a:r>
            <a:endParaRPr lang="en-US" sz="2000" dirty="0"/>
          </a:p>
        </p:txBody>
      </p:sp>
      <p:sp>
        <p:nvSpPr>
          <p:cNvPr id="11" name="Text 9"/>
          <p:cNvSpPr txBox="1"/>
          <p:nvPr/>
        </p:nvSpPr>
        <p:spPr>
          <a:xfrm>
            <a:off x="3566160" y="3749040"/>
            <a:ext cx="7772400" cy="777240"/>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One agreed record count for all reports, after the pending review.</a:t>
            </a:r>
            <a:endParaRPr lang="en-US" sz="1700" dirty="0"/>
          </a:p>
        </p:txBody>
      </p:sp>
      <p:sp>
        <p:nvSpPr>
          <p:cNvPr id="12" name="decision-row-4"/>
          <p:cNvSpPr/>
          <p:nvPr/>
        </p:nvSpPr>
        <p:spPr>
          <a:xfrm>
            <a:off x="548640" y="4754880"/>
            <a:ext cx="11064240" cy="960120"/>
          </a:xfrm>
          <a:prstGeom prst="rect">
            <a:avLst/>
          </a:prstGeom>
          <a:solidFill>
            <a:schemeClr val="bg2"/>
          </a:solidFill>
          <a:ln w="12700">
            <a:solidFill>
              <a:schemeClr val="bg2"/>
            </a:solidFill>
            <a:prstDash val="solid"/>
          </a:ln>
        </p:spPr>
      </p:sp>
      <p:sp>
        <p:nvSpPr>
          <p:cNvPr id="13" name="Text 11"/>
          <p:cNvSpPr txBox="1"/>
          <p:nvPr/>
        </p:nvSpPr>
        <p:spPr>
          <a:xfrm>
            <a:off x="822960" y="4846320"/>
            <a:ext cx="2560320" cy="7772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Old documents</a:t>
            </a:r>
            <a:endParaRPr lang="en-US" sz="2000" dirty="0"/>
          </a:p>
        </p:txBody>
      </p:sp>
      <p:sp>
        <p:nvSpPr>
          <p:cNvPr id="14" name="Text 12"/>
          <p:cNvSpPr txBox="1"/>
          <p:nvPr/>
        </p:nvSpPr>
        <p:spPr>
          <a:xfrm>
            <a:off x="3566160" y="4846320"/>
            <a:ext cx="7772400" cy="777240"/>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Regenerate or retire Word files that still carry withdrawn wording.</a:t>
            </a:r>
            <a:endParaRPr lang="en-US" sz="1700" dirty="0"/>
          </a:p>
        </p:txBody>
      </p:sp>
      <p:sp>
        <p:nvSpPr>
          <p:cNvPr id="15" name="Text 13"/>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Full list of open decisions: docs/refine_round_1/lead_D.md</a:t>
            </a:r>
            <a:endParaRPr lang="en-US" sz="1100" dirty="0"/>
          </a:p>
        </p:txBody>
      </p:sp>
      <p:sp>
        <p:nvSpPr>
          <p:cNvPr id="25" name="Slide Number Placeholder 0"/>
          <p:cNvSpPr>
            <a:spLocks noGrp="1"/>
          </p:cNvSpPr>
          <p:nvPr>
            <p:ph type="sldNum" sz="quarter" idx="4294967295"/>
          </p:nvPr>
        </p:nvSpPr>
        <p:spPr>
          <a:xfrm>
            <a:off x="11183112"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rickwork">
  <a:themeElements>
    <a:clrScheme name="Brickwork">
      <a:dk1>
        <a:srgbClr val="2B2522"/>
      </a:dk1>
      <a:lt1>
        <a:srgbClr val="FFFFFF"/>
      </a:lt1>
      <a:dk2>
        <a:srgbClr val="3A322E"/>
      </a:dk2>
      <a:lt2>
        <a:srgbClr val="F3EEEA"/>
      </a:lt2>
      <a:accent1>
        <a:srgbClr val="B85042"/>
      </a:accent1>
      <a:accent2>
        <a:srgbClr val="7A8F85"/>
      </a:accent2>
      <a:accent3>
        <a:srgbClr val="D9A441"/>
      </a:accent3>
      <a:accent4>
        <a:srgbClr val="5B6C8F"/>
      </a:accent4>
      <a:accent5>
        <a:srgbClr val="8C6A5D"/>
      </a:accent5>
      <a:accent6>
        <a:srgbClr val="A7BEAE"/>
      </a:accent6>
      <a:hlink>
        <a:srgbClr val="B85042"/>
      </a:hlink>
      <a:folHlink>
        <a:srgbClr val="8C6A5D"/>
      </a:folHlink>
    </a:clrScheme>
    <a:fontScheme name="Brickwo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Bricks-ly progress report</dc:title>
  <dc:subject>PptxGenJS Presentation</dc:subject>
  <dc:creator>Bricks-ly project team</dc:creator>
  <cp:lastModifiedBy>Bricks-ly project team</cp:lastModifiedBy>
  <cp:revision>1</cp:revision>
  <dcterms:created xsi:type="dcterms:W3CDTF">2026-10-13T10:00:36Z</dcterms:created>
  <dcterms:modified xsi:type="dcterms:W3CDTF">2026-10-13T10:00:36Z</dcterms:modified>
</cp:coreProperties>
</file>